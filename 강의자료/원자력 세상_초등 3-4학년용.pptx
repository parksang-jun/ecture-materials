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(밝게 인사하며)</a:t>
            </a:r>
          </a:p>
          <a:p>
            <a:r>
              <a:t>안녕하세요, 여러분! 만나서 반가워요. 저는 한국원자력연구원에서 온 ○○○라고 해요.</a:t>
            </a:r>
          </a:p>
          <a:p>
            <a:r>
              <a:t>여러분, 혹시 '원자력'이라는 말 들어본 적 있나요? (손 들어보게 하기)</a:t>
            </a:r>
          </a:p>
          <a:p>
            <a:r>
              <a:t>오늘은 세상에서 제일제일 작은 알갱이가 어떻게 우리 집 불도 켜고, TV도 켜고, 게임기도 충전해 주는지! 그 비밀을 함께 찾아 떠날 거예요.</a:t>
            </a:r>
          </a:p>
          <a:p>
            <a:r>
              <a:t>탐험을 떠날 준비 됐나요? 큰 소리로 "네!" 하고 대답해 볼까요? 자, 출발~!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우리가 함께 갈 탐험 코스는 모두 다섯 개예요.</a:t>
            </a:r>
          </a:p>
          <a:p>
            <a:r>
              <a:t>1코스에서는 '에너지'가 뭔지 알아보고, 2코스에서는 세상에서 제일 작은 알갱이 '원자'를 만나요.</a:t>
            </a:r>
          </a:p>
          <a:p>
            <a:r>
              <a:t>3코스에서는 원자력발전소가 어떻게 전기를 만드는지 그 마법을 살펴보고, 4코스에서는 방사선 이야기와 함께 발전소가 얼마나 튼튼한지 알아볼 거예요.</a:t>
            </a:r>
          </a:p>
          <a:p>
            <a:r>
              <a:t>마지막 5코스에서는 인공태양, 우주 배터리 같은 신기한 미래의 원자력을 구경할 거예요.</a:t>
            </a:r>
          </a:p>
          <a:p>
            <a:r>
              <a:t>그리고 중간중간 동물 친구들이 깜짝 퀴즈를 들고 나타나요! 퀴즈를 다 맞히면서 다섯 코스를 통과한 친구들은 오늘부터 '꼬마 원자력 박사'가 되는 거예요. 자, 그럼 1코스로 출발!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자, 첫 번째 코스예요!</a:t>
            </a:r>
          </a:p>
          <a:p>
            <a:r>
              <a:t>여러분, '에너지'라는 말, 어디서 들어봤어요? (대답 듣기)</a:t>
            </a:r>
          </a:p>
          <a:p>
            <a:r>
              <a:t>게임 캐릭터 에너지? 에너지 드링크? 네, 다 좋아요!</a:t>
            </a:r>
          </a:p>
          <a:p>
            <a:r>
              <a:t>그럼 에너지가 정확히 뭘까요? 지금부터 알아볼게요.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여러분, 아침에 밥 먹고 왔어요? 밥을 먹으면 어때요? 힘이 나죠!</a:t>
            </a:r>
          </a:p>
          <a:p>
            <a:r>
              <a:t>그 힘으로 달리기도 하고 줄넘기도 해요. 자동차는 뭘 먹죠? 네, 기름이요! 기름을 먹으면 부릉부릉 달려요.</a:t>
            </a:r>
          </a:p>
          <a:p>
            <a:r>
              <a:t>스마트폰은요? 맞아요, 충전! 배터리가 가득 차야 영상도 보고 게임도 할 수 있어요.</a:t>
            </a:r>
          </a:p>
          <a:p>
            <a:r>
              <a:t>이렇게 무언가를 움직이게 하고 일을 하게 만드는 힘을 '에너지'라고 해요.</a:t>
            </a:r>
          </a:p>
          <a:p>
            <a:r>
              <a:t>우리 다 같이 한번 말해 볼까요? "에너지!" 좋아요, 참 잘했어요!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여러분, 놀이공원에서 롤러코스터 타 본 친구 있어요? (손 들어보게 하기)</a:t>
            </a:r>
          </a:p>
          <a:p>
            <a:r>
              <a:t>롤러코스터는 처음에 전기의 힘으로 천천히 꼭대기까지 올라가요. 위이잉~</a:t>
            </a:r>
          </a:p>
          <a:p>
            <a:r>
              <a:t>꼭대기에 서면 어때요? 두근두근하죠? 사실 그때 롤러코스터는 내려갈 힘을 잔뜩 모으고 있는 거예요.</a:t>
            </a:r>
          </a:p>
          <a:p>
            <a:r>
              <a:t>그리고 슈우웅~! 내려올 때는 모아둔 힘이 달리는 힘으로 변신해요.</a:t>
            </a:r>
          </a:p>
          <a:p>
            <a:r>
              <a:t>이렇게 에너지는 없어지는 게 아니라, 전기 힘 → 모으는 힘 → 달리는 힘으로 계속 모습만 바꿔요.</a:t>
            </a:r>
          </a:p>
          <a:p>
            <a:r>
              <a:t>에너지는 변신의 달인이에요!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자, 첫 번째 깜짝 퀴즈! 토끼가 물어봐요.</a:t>
            </a:r>
          </a:p>
          <a:p>
            <a:r>
              <a:t>롤러코스터가 슝~ 내려갈 때 그 힘은 어디서 왔을까요? 손가락으로 번호! 하나, 둘, 셋!</a:t>
            </a:r>
          </a:p>
          <a:p>
            <a:r>
              <a:t>정답은 ②번! 꼭대기에서 모아둔 힘이 달리는 힘으로 변신한 거예요.</a:t>
            </a:r>
          </a:p>
          <a:p>
            <a:r>
              <a:t>에너지는 변신의 달인이라고 했죠? 맞힌 친구들 모두 박수~ 짝짝짝!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사람들은 옛날부터 여러 에너지를 써 왔어요.</a:t>
            </a:r>
          </a:p>
          <a:p>
            <a:r>
              <a:t>아주아주 먼 옛날, 사람들은 '불'을 발견했어요. 불이 있으니 고기도 구워 먹고 추운 겨울도 따뜻하게 지냈죠.</a:t>
            </a:r>
          </a:p>
          <a:p>
            <a:r>
              <a:t>그다음에는 물레방아처럼 물과 바람의 힘을 썼어요.</a:t>
            </a:r>
          </a:p>
          <a:p>
            <a:r>
              <a:t>200년쯤 전에는 까만 돌, 석탄을 태워서 칙칙폭폭 증기기관차를 움직였고요.</a:t>
            </a:r>
          </a:p>
          <a:p>
            <a:r>
              <a:t>100년쯤 전부터는 석유로 자동차와 공장을 움직였어요.</a:t>
            </a:r>
          </a:p>
          <a:p>
            <a:r>
              <a:t>그리고 지금은! 연기가 나지 않는 깨끗한 에너지, 원자력과 태양광을 쓰고 있답니다.</a:t>
            </a:r>
          </a:p>
          <a:p>
            <a:r>
              <a:t>오늘의 주인공은 바로 이 '원자력'이에요.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 퀴즈는 사자가 물어봐요.</a:t>
            </a:r>
          </a:p>
          <a:p>
            <a:r>
              <a:t>아주아주 먼 옛날, 사람들이 맨 처음 발견한 에너지는? 하나, 둘, 셋!</a:t>
            </a:r>
          </a:p>
          <a:p>
            <a:r>
              <a:t>정답은 ①번, 불! 옛날 옛적에 와이파이는 당연히 없었겠죠? 하하.</a:t>
            </a:r>
          </a:p>
          <a:p>
            <a:r>
              <a:t>불 덕분에 고기도 구워 먹고 따뜻하게 지낼 수 있었어요. 모두 정답! 대단해요~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 코스에 온 걸 환영해요!</a:t>
            </a:r>
          </a:p>
          <a:p>
            <a:r>
              <a:t>여기서는 세상에서 제일제일 작은 알갱이를 찾아볼 거예요.</a:t>
            </a:r>
          </a:p>
          <a:p>
            <a:r>
              <a:t>여러분, 이 세상 모든 것들은 무엇으로 만들어졌을까요? 한번 생각해 볼까요?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여러분, 레고 블록 좋아하죠?</a:t>
            </a:r>
          </a:p>
          <a:p>
            <a:r>
              <a:t>작은 레고 블록을 차곡차곡 모으면 뭘 만들 수 있어요? 집! 자동차! 공룡! 뭐든지 만들 수 있어요.</a:t>
            </a:r>
          </a:p>
          <a:p>
            <a:r>
              <a:t>그런데 놀라운 사실! 이 세상 모든 것도 레고처럼 아주아주 작은 블록으로 만들어져 있어요.</a:t>
            </a:r>
          </a:p>
          <a:p>
            <a:r>
              <a:t>여러분이 읽는 책도, 맛있는 사과도, 시원한 물도, 귀여운 강아지도, 그리고 우리 몸도요!</a:t>
            </a:r>
          </a:p>
          <a:p>
            <a:r>
              <a:t>과학자들은 이 작은 블록에 이름을 붙였어요. 바로 '원자'예요. 다 같이 말해 볼까요? "원-자!"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그럼 원자는 얼마나 작을까요? 퀴즈! 원자 1억 개를 한 줄로 쭉 세우면 얼마나 될까요?</a:t>
            </a:r>
          </a:p>
          <a:p>
            <a:r>
              <a:t>운동장 한 바퀴? 우리 교실 끝까지? 정답은... 겨우 1센티미터! 새끼손톱 너비 정도예요.</a:t>
            </a:r>
          </a:p>
          <a:p>
            <a:r>
              <a:t>1억이 얼마나 큰 숫자냐면, 우리나라 사람 모두(약 5천만 명)를 두 번 세어야 하는 숫자예요. 그런 원자가 1억 개 모여야 1센티미터라니, 정말 작죠?</a:t>
            </a:r>
          </a:p>
          <a:p>
            <a:r>
              <a:t>이번엔 반대로 원자를 축구장만큼 뻥~ 튀겨볼게요. 그러면 원자 가운데 있는 '원자핵'은 축구장 한가운데 놓인 축구공만 하고, 주위를 빙빙 도는 '전자'는 관중석을 돌아다니는 개미만 해요.</a:t>
            </a:r>
          </a:p>
          <a:p>
            <a:r>
              <a:t>그러니까 원자 속은 사실 거의 텅~ 비어 있는 거예요. 신기하죠?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 퀴즈! 곰돌이가 물어봐요.</a:t>
            </a:r>
          </a:p>
          <a:p>
            <a:r>
              <a:t>세상 모든 것을 쪼개고 쪼개면 마지막에 남는 작은 블록은? 하나, 둘, 셋!</a:t>
            </a:r>
          </a:p>
          <a:p>
            <a:r>
              <a:t>정답은 ②번, 원자! 딩동댕~</a:t>
            </a:r>
          </a:p>
          <a:p>
            <a:r>
              <a:t>보너스 질문! 원자 1억 개를 한 줄로 세우면 얼마였죠? 맞아요, 겨우 1센티미터!</a:t>
            </a:r>
          </a:p>
          <a:p>
            <a:r>
              <a:t>원자가 얼마나 작은지 다들 기억하고 있네요. 박수~ 짝짝짝!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자, 이제 돋보기로 원자 속을 들여다볼게요. (그림 가리키며)</a:t>
            </a:r>
          </a:p>
          <a:p>
            <a:r>
              <a:t>원자 한가운데에는 '원자핵'이 있어요. 원자의 심장 같은 거예요.</a:t>
            </a:r>
          </a:p>
          <a:p>
            <a:r>
              <a:t>원자핵은 빨간 알갱이 '양성자'와 파란 알갱이 '중성자'가 꼭 껴안고 뭉쳐 있어요.</a:t>
            </a:r>
          </a:p>
          <a:p>
            <a:r>
              <a:t>그리고 그 주위를 노란 꼬마 알갱이 '전자'가 쌩쌩~ 돌아다니고 있죠. 마치 태양 주위를 도는 행성들 같아요.</a:t>
            </a:r>
          </a:p>
          <a:p>
            <a:r>
              <a:t>그런데 여기서 오늘의 가장 중요한 비밀! 이 가운데 있는 원자핵이 변신할 때, 어마어마하게 큰 힘이 나와요.</a:t>
            </a:r>
          </a:p>
          <a:p>
            <a:r>
              <a:t>그 힘의 이름이 바로... '원자력'이에요! 원자에서 나오는 힘이라서 원자력!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그럼 원자핵에서 어떻게 힘이 나올까요? (그림 순서대로 가리키며)</a:t>
            </a:r>
          </a:p>
          <a:p>
            <a:r>
              <a:t>'우라늄'이라는 아주 무거운 원자가 있어요. 여기에 작은 알갱이 '중성자'가 콩! 하고 부딪히면...</a:t>
            </a:r>
          </a:p>
          <a:p>
            <a:r>
              <a:t>우라늄 원자핵이 쫙! 하고 두 조각으로 쪼개져요. 이걸 '핵분열'이라고 해요. 핵이 나뉜다는 뜻이죠.</a:t>
            </a:r>
          </a:p>
          <a:p>
            <a:r>
              <a:t>쪼개질 때 뜨거운 열이 팡! 하고 나오고요, 중성자 친구들 세 개가 튀어나와요.</a:t>
            </a:r>
          </a:p>
          <a:p>
            <a:r>
              <a:t>그 중성자들이 옆에 있는 다른 우라늄을 또 콩! 쪼개고, 거기서 나온 중성자가 또 쪼개고...</a:t>
            </a:r>
          </a:p>
          <a:p>
            <a:r>
              <a:t>마치 도미노처럼 쓰러지듯 계속 이어져요! 그래서 아주아주 큰 에너지가 계속 나오는 거예요.</a:t>
            </a:r>
          </a:p>
          <a:p>
            <a:r>
              <a:t>손톱만 한 우라늄 조각 하나에서 나오는 힘이, 커다란 트럭 가득 실은 석탄에서 나오는 힘과 맞먹어요!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번째 퀴즈는 펭귄이 물어봐요.</a:t>
            </a:r>
          </a:p>
          <a:p>
            <a:r>
              <a:t>우라늄 원자핵이 쫙! 쪼개질 때 나오는 것은? 하나, 둘, 셋!</a:t>
            </a:r>
          </a:p>
          <a:p>
            <a:r>
              <a:t>정답은 ②번, 아주 큰 열 에너지! 무지개나 솜사탕이 나오면 참 좋겠지만요, 하하.</a:t>
            </a:r>
          </a:p>
          <a:p>
            <a:r>
              <a:t>그리고 중성자 친구들도 톡톡 튀어나와서 도미노처럼 계속 이어진다고 했죠?</a:t>
            </a:r>
          </a:p>
          <a:p>
            <a:r>
              <a:t>다들 최고예요! 박수~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(영상 시청 시간, 3~4분)</a:t>
            </a:r>
          </a:p>
          <a:p>
            <a:r>
              <a:t>말로만 들으니 조금 어렵죠? 이제 재미있는 영상으로 원자를 직접 만나 볼 거예요.</a:t>
            </a:r>
          </a:p>
          <a:p>
            <a:r>
              <a:t>왼쪽 카드를 누르면 한국원자력연구원의 공식 유튜브 '과학하는 원연이' 채널로 가요. 귀여운 캐릭터가 원자력 이야기를 들려줘요.</a:t>
            </a:r>
          </a:p>
          <a:p>
            <a:r>
              <a:t>오른쪽 카드를 누르면 어린이 눈높이의 4분 이내 짧은 영상만 골라서 보여줘요.</a:t>
            </a:r>
          </a:p>
          <a:p>
            <a:r>
              <a:t>(수업 전에 미리 영상을 하나 골라 두세요. 3~4분짜리 영상 하나면 충분해요.)</a:t>
            </a:r>
          </a:p>
          <a:p>
            <a:r>
              <a:t>영상 다 봤나요? 그럼 다음 코스로 출발해 볼까요?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 코스예요! 이제 진짜 마법을 보여줄게요.</a:t>
            </a:r>
          </a:p>
          <a:p>
            <a:r>
              <a:t>아까 배운 원자핵 쪼개기(핵분열)로 어떻게 우리 집 전기를 만드는 걸까요?</a:t>
            </a:r>
          </a:p>
          <a:p>
            <a:r>
              <a:t>힌트를 하나 줄게요. 원자력발전소는 사실... 어마어마하게 큰 '물 끓이기 대장'이랍니다!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원자력발전소가 전기를 만드는 방법, 사실 아주 간단해요. 커다란 주전자를 생각하면 돼요!</a:t>
            </a:r>
          </a:p>
          <a:p>
            <a:r>
              <a:t>첫째, 아까 배운 핵분열! 원자핵이 쪼개지면서 아주아주 뜨거운 열이 나와요.</a:t>
            </a:r>
          </a:p>
          <a:p>
            <a:r>
              <a:t>둘째, 그 열로 물을 펄펄 끓여요. 그러면 뭐가 생기죠? 네, 수증기!</a:t>
            </a:r>
          </a:p>
          <a:p>
            <a:r>
              <a:t>집에서 주전자 물이 끓으면 뚜껑이 달그락달그락 들썩이는 거 본 적 있죠? 수증기는 힘이 세거든요.</a:t>
            </a:r>
          </a:p>
          <a:p>
            <a:r>
              <a:t>셋째, 그 수증기가 커다란 바람개비(어른들은 '터빈'이라고 불러요)를 빙글빙글~ 돌려요.</a:t>
            </a:r>
          </a:p>
          <a:p>
            <a:r>
              <a:t>넷째, 바람개비에 붙어 있는 발전기가 돌면서 전기가 반짝! 만들어져요.</a:t>
            </a:r>
          </a:p>
          <a:p>
            <a:r>
              <a:t>이 전기가 전선을 타고 우리 집까지 와서 불도 켜고 TV도 켜는 거랍니다.</a:t>
            </a:r>
          </a:p>
          <a:p>
            <a:r>
              <a:t>석탄 발전소는 석탄을 태워 물을 끓이지만, 원자력발전소는 핵분열의 열로 끓여요. 연기가 안 나서 하늘이 깨끗해요!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(영상 시청 시간, 3~4분)</a:t>
            </a:r>
          </a:p>
          <a:p>
            <a:r>
              <a:t>방금 배운 '커다란 주전자' 이야기를 영상으로 확인해 볼까요?</a:t>
            </a:r>
          </a:p>
          <a:p>
            <a:r>
              <a:t>왼쪽 카드를 클릭하면 서울특별시교육청 융합과학교육원에서 만든 '원자력 발전의 원리와 발전소의 구조' 영상이 나와요. 교육청 선생님들이 학생들을 위해 만든 공식 영상이에요.</a:t>
            </a:r>
          </a:p>
          <a:p>
            <a:r>
              <a:t>영상을 보면서 아까 배운 네 단계(쪼개지고 → 끓이고 → 돌리고 → 반짝!)를 찾아보세요.</a:t>
            </a:r>
          </a:p>
          <a:p>
            <a:r>
              <a:t>(수업 전에 링크가 잘 열리는지 확인하고, 길면 필요한 부분만 보여줘도 좋아요.)</a:t>
            </a:r>
          </a:p>
          <a:p>
            <a:r>
              <a:t>영상 속에서 바람개비(터빈) 찾은 친구 있나요? 잘했어요!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원자력이 얼마나 대단하냐면요!</a:t>
            </a:r>
          </a:p>
          <a:p>
            <a:r>
              <a:t>첫째, 아주 조금만 있어도 힘이 어마어마해요. 사탕만 한 우라늄 조각 하나가, 코끼리 한 마리 무게만큼의 석탄(3톤)과 같은 힘을 내요!</a:t>
            </a:r>
          </a:p>
          <a:p>
            <a:r>
              <a:t>둘째, 석탄이나 석유처럼 태우는 게 아니라서 지구를 뜨겁게 만드는 연기(이산화탄소)가 거의 안 나와요. 지구가 시원해지면 얼음 위의 북극곰도 좋아하겠죠?</a:t>
            </a:r>
          </a:p>
          <a:p>
            <a:r>
              <a:t>셋째, 밤이나 낮이나, 비가 오나 눈이 오나 쉬지 않고 전기를 듬뿍 만들 수 있어요. 지금 우리나라 전기의 약 3분의 1을 원자력이 만들고 있답니다.</a:t>
            </a:r>
          </a:p>
          <a:p>
            <a:r>
              <a:t>그래서 세계 30개가 넘는 나라들이 원자력발전소를 쓰고 있고요, 우리나라는 원자력발전소를 직접 만들어서 다른 나라에 수출까지 하는 세계 최고 수준의 기술을 가지고 있어요. 어깨가 으쓱해지죠?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다섯 번째 퀴즈! 개구리가 물어봐요.</a:t>
            </a:r>
          </a:p>
          <a:p>
            <a:r>
              <a:t>원자력발전소는 무엇을 펄펄 끓여서 전기를 만들까요? 하나, 둘, 셋!</a:t>
            </a:r>
          </a:p>
          <a:p>
            <a:r>
              <a:t>정답은 ②번, 물! 핵분열의 뜨거운 열로 물을 끓이고,</a:t>
            </a:r>
          </a:p>
          <a:p>
            <a:r>
              <a:t>수증기로 바람개비(터빈)를 빙글빙글 돌려서 전기를 만든다고 했어요.</a:t>
            </a:r>
          </a:p>
          <a:p>
            <a:r>
              <a:t>커다란 주전자, 기억나죠? 참 잘했어요!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번째 코스예요.</a:t>
            </a:r>
          </a:p>
          <a:p>
            <a:r>
              <a:t>여러분, 혹시 '방사선'이라는 말 들어봤어요? 영화에서 봤다고요?</a:t>
            </a:r>
          </a:p>
          <a:p>
            <a:r>
              <a:t>방사선이 뭔지, 우리 생활에 어떤 도움을 주는지, 그리고 원자력발전소는 얼마나 튼튼한지 지금부터 알아볼게요.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방사선 하면 뭐가 떠올라요? 스파이더맨? 헐크?</a:t>
            </a:r>
          </a:p>
          <a:p>
            <a:r>
              <a:t>영화에서는 방사선을 맞으면 거미줄이 나가고 초록 거인이 되지만... 그건 다~ 영화 속 상상이에요!</a:t>
            </a:r>
          </a:p>
          <a:p>
            <a:r>
              <a:t>진짜 방사선은 눈에 보이지 않는 '에너지 빛' 같은 거예요.</a:t>
            </a:r>
          </a:p>
          <a:p>
            <a:r>
              <a:t>놀라운 사실! 방사선은 원래부터 우리 주변 어디에나 조금씩 있어요. 하늘의 햇빛 속에도, 땅과 돌에도, 심지어 우리가 먹는 바나나에도 아주아주 조금 들어 있답니다.</a:t>
            </a:r>
          </a:p>
          <a:p>
            <a:r>
              <a:t>이렇게 조금씩 있는 방사선은 우리 몸에 아무렇지도 않아요. 옛날 사람들도 다 이 정도 방사선 속에서 건강하게 살아왔거든요.</a:t>
            </a:r>
          </a:p>
          <a:p>
            <a:r>
              <a:t>게다가 과학자들이 특별한 기계로 방사선을 늘 재면서 우리를 안전하게 지켜주고 있으니 안심해도 돼요.</a:t>
            </a:r>
          </a:p>
          <a:p>
            <a:r>
              <a:t>햇볕을 적당히 쬐면 몸도 튼튼해지고 기분도 좋아지는 것처럼, 방사선도 잘 알고 쓰면 우리에게 큰 도움이 된답니다. 다음 장에서 확인해 볼까요?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방사선은 사실 우리를 엄청 도와주고 있어요.</a:t>
            </a:r>
          </a:p>
          <a:p>
            <a:r>
              <a:t>병원에서 뼈 사진 찍어본 친구 있어요? 그 '엑스레이'가 바로 방사선이에요. 팔이 부러졌는지 몸속을 사진으로 찰칵 찍어서 보여주죠. 아픈 곳(암)을 치료할 때도 방사선이 활약해요.</a:t>
            </a:r>
          </a:p>
          <a:p>
            <a:r>
              <a:t>공항에서는 가방을 열지 않고도 속에 뭐가 들었는지 검사할 수 있어요.</a:t>
            </a:r>
          </a:p>
          <a:p>
            <a:r>
              <a:t>감자나 양파에 싹이 나지 않게 해서 오래오래 보관하게 도와주기도 하고요.</a:t>
            </a:r>
          </a:p>
          <a:p>
            <a:r>
              <a:t>공장에서는 큰 기계나 다리에 금이 갔는지 부수지 않고 검사할 때도 써요.</a:t>
            </a:r>
          </a:p>
          <a:p>
            <a:r>
              <a:t>칼을 생각해 보세요. 요리사가 조심해서 쓰면 맛있는 요리를 만들지만, 함부로 쓰면 다치겠죠?</a:t>
            </a:r>
          </a:p>
          <a:p>
            <a:r>
              <a:t>방사선도 똑같아요. 잘 알고 조심해서 쓰면 우리를 도와주는 고마운 친구랍니다.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여섯 번째 퀴즈는 호랑이가 물어봐요. 이번엔 OX 퀴즈!</a:t>
            </a:r>
          </a:p>
          <a:p>
            <a:r>
              <a:t>방사선은 바나나에도 아주 조금 들어 있다, 맞을까요 틀릴까요? 팔로 크게! 하나, 둘, 셋!</a:t>
            </a:r>
          </a:p>
          <a:p>
            <a:r>
              <a:t>정답은... 동그라미! 방사선은 햇빛에도, 땅에도, 바나나에도 원래부터 조금씩 있어요.</a:t>
            </a:r>
          </a:p>
          <a:p>
            <a:r>
              <a:t>물론 바나나는 아무리 먹어도 괜찮으니 걱정 말고 맛있게 먹어요!</a:t>
            </a:r>
          </a:p>
          <a:p>
            <a:r>
              <a:t>방사선 박사님들, 박수~ 짝짝짝!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"발전소는 튼튼한가요?" 하고 궁금한 친구가 있을 거예요. 좋은 질문이에요!</a:t>
            </a:r>
          </a:p>
          <a:p>
            <a:r>
              <a:t>원자력발전소는 세상에서 제일 튼튼한 갑옷을 입고 있어요. 그것도 다섯 겹이나!</a:t>
            </a:r>
          </a:p>
          <a:p>
            <a:r>
              <a:t>(그림 가리키며) 첫째, 연료를 사탕처럼 아주 단단한 알갱이로 구워요. 둘째, 그 알갱이를 튼튼한 금속 막대 속에 쏙 넣어요.</a:t>
            </a:r>
          </a:p>
          <a:p>
            <a:r>
              <a:t>셋째, 막대들을 두께 25센티미터나 되는 강철통 안에 넣고요. 넷째, 그 강철통을 강철판 벽이 또 감싸요.</a:t>
            </a:r>
          </a:p>
          <a:p>
            <a:r>
              <a:t>다섯째! 마지막으로 두께가 1미터 20센티미터나 되는 어마어마한 콘크리트 건물이 전체를 감싸요. 우리 교실 벽보다 여섯 배는 두꺼워요!</a:t>
            </a:r>
          </a:p>
          <a:p>
            <a:r>
              <a:t>겨울에 옷을 다섯 겹 껴입으면 찬바람이 못 들어오죠? 발전소도 다섯 겹 갑옷 덕분에 안심할 수 있어요.</a:t>
            </a:r>
          </a:p>
          <a:p>
            <a:r>
              <a:t>그리고 과학자들이 24시간 교대로 발전소를 지키면서, 조금이라도 이상하면 바로 멈추게 되어 있답니다.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일곱 번째 퀴즈! 코알라가 물어봐요.</a:t>
            </a:r>
          </a:p>
          <a:p>
            <a:r>
              <a:t>원자력발전소가 입고 있는 튼튼한 갑옷은 몇 겹? 하나, 둘, 셋!</a:t>
            </a:r>
          </a:p>
          <a:p>
            <a:r>
              <a:t>정답은 ②번, 다섯 겹! 단단한 알갱이부터 1미터 20센티미터 콘크리트 건물까지,</a:t>
            </a:r>
          </a:p>
          <a:p>
            <a:r>
              <a:t>다섯 겹 갑옷이 발전소를 튼튼하게 지켜주고 있어요.</a:t>
            </a:r>
          </a:p>
          <a:p>
            <a:r>
              <a:t>과학자들도 24시간 지키고 있고요. 모두 정답! 최고예요~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드디어 마지막 코스!</a:t>
            </a:r>
          </a:p>
          <a:p>
            <a:r>
              <a:t>지금 과학자들은 더 안전하고 더 신기한 미래의 원자력을 만들고 있어요.</a:t>
            </a:r>
          </a:p>
          <a:p>
            <a:r>
              <a:t>하늘의 태양을 땅 위에 만든다고요? 달나라에서 쓰는 배터리요? 지금부터 구경해 볼까요!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미래의 원자력, 하나씩 구경해 볼까요?</a:t>
            </a:r>
          </a:p>
          <a:p>
            <a:r>
              <a:t>첫째, 인공태양! 하늘의 태양은 원자핵을 쪼개는 게 아니라 '합쳐서' 힘을 내요. 과학자들은 땅 위에 작은 태양을 만들고 있어요. 우리나라의 'KSTAR'라는 인공태양은 1억 도(!)나 되는 뜨거운 불덩이를 만들어서 세계 최고 기록을 세웠답니다.</a:t>
            </a:r>
          </a:p>
          <a:p>
            <a:r>
              <a:t>둘째, 우주 배터리! 달이나 우주는 너무 춥고 어두워서 보통 배터리는 금방 죽어요. 그런데 원자력 전지는 10년 넘게 작동해요. 우리나라가 세계에서 세 번째로 만들었어요!</a:t>
            </a:r>
          </a:p>
          <a:p>
            <a:r>
              <a:t>셋째, 미니 발전소 SMR! 발전소를 작게 만들어서 필요한 곳에 쏙 지을 수 있어요. 작아서 더 안전하고요.</a:t>
            </a:r>
          </a:p>
          <a:p>
            <a:r>
              <a:t>넷째, SMART라는 원자로는 전기도 만들면서 바닷물을 마실 수 있는 물로 바꿔줘요. 물이 부족한 사막 나라에 딱이죠!</a:t>
            </a:r>
          </a:p>
          <a:p>
            <a:r>
              <a:t>이 모든 걸 바로 한국원자력연구원 과학자들이 연구하고 있답니다.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여덟 번째 퀴즈! 강아지가 물어봐요.</a:t>
            </a:r>
          </a:p>
          <a:p>
            <a:r>
              <a:t>우리나라가 만든 인공태양의 이름은? 하나, 둘, 셋!</a:t>
            </a:r>
          </a:p>
          <a:p>
            <a:r>
              <a:t>정답은 ①번, KSTAR(케이스타)! 별사탕 아니에요~ 하하.</a:t>
            </a:r>
          </a:p>
          <a:p>
            <a:r>
              <a:t>1억 도나 되는 불덩이를 만들어서 세계 기록을 세운 우리나라의 자랑이에요.</a:t>
            </a:r>
          </a:p>
          <a:p>
            <a:r>
              <a:t>여덟 문제를 모두 통과한 여러분, 진짜 꼬마 원자력 박사예요! 큰 박수~ 짝짝짝!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(영상 시청 시간, 2~4분)</a:t>
            </a:r>
          </a:p>
          <a:p>
            <a:r>
              <a:t>말로만 들으니 믿기지 않죠? 진짜 인공태양을 영상으로 보여줄게요!</a:t>
            </a:r>
          </a:p>
          <a:p>
            <a:r>
              <a:t>왼쪽은 우리나라 인공태양 KSTAR가 세계 기록을 세웠다는 약 2분짜리 뉴스 영상이고, 오른쪽 카드는 4분 이내의 짧은 KSTAR 영상만 골라서 보여줘요.</a:t>
            </a:r>
          </a:p>
          <a:p>
            <a:r>
              <a:t>1억 도가 얼마나 뜨거운 거냐면, 태양 한가운데보다도 몇 배나 더 뜨거운 거예요! 그걸 우리나라 과학자들이 해냈답니다.</a:t>
            </a:r>
          </a:p>
          <a:p>
            <a:r>
              <a:t>(수업 전에 영상을 미리 골라 두세요. 뉴스 영상은 2분 정도로 짧아서 보여주기 좋아요.)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게 재미있었던 친구들을 위해 영상 선물 꾸러미를 준비했어요!</a:t>
            </a:r>
          </a:p>
          <a:p>
            <a:r>
              <a:t>'과학하는 원연이'는 한국원자력연구원이 직접 만드는 공식 유튜브 채널이에요. 귀여운 캐릭터가 나와요.</a:t>
            </a:r>
          </a:p>
          <a:p>
            <a:r>
              <a:t>'EBS 클립뱅크'는 5분 이내의 짧은 교육 영상만 모아둔 EBS 공식 채널이고, '아꿈선 초등3분과학'은 초등학교 선생님들이 만든 3분짜리 과학 영상 채널이라 우리 친구들 눈높이에 딱 맞아요.</a:t>
            </a:r>
          </a:p>
          <a:p>
            <a:r>
              <a:t>검색 카드에는 모두 '4분 이내 영상만 보기' 필터가 걸려 있어서 짧고 쉬운 영상만 나와요.</a:t>
            </a:r>
          </a:p>
          <a:p>
            <a:r>
              <a:t>집에 가서 부모님과 함께 보면 더 좋아요! (이 슬라이드는 인쇄해서 나눠주거나, 학급 게시판에 공유해도 좋습니다.)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우와, 벌써 다섯 코스를 모두 통과했어요! 깜짝 퀴즈 8개도 전부 풀었고요. 오늘 배운 것들을 같이 외쳐볼까요?</a:t>
            </a:r>
          </a:p>
          <a:p>
            <a:r>
              <a:t>에너지는? (일을 하게 만드는 힘!) 세상 모든 것은? (원자로 만들어졌다!)</a:t>
            </a:r>
          </a:p>
          <a:p>
            <a:r>
              <a:t>원자력발전소는 원자핵이 쪼개질 때 나오는 열로 물을 끓여서 전기를 만들고요,</a:t>
            </a:r>
          </a:p>
          <a:p>
            <a:r>
              <a:t>방사선은 어디에나 조금씩 있지만, 다섯 겹 갑옷과 과학자들이 안전하게 지키고 있어요.</a:t>
            </a:r>
          </a:p>
          <a:p>
            <a:r>
              <a:t>그리고 인공태양, 우주 배터리 같은 미래의 원자력도 쑥쑥 자라고 있답니다.</a:t>
            </a:r>
          </a:p>
          <a:p>
            <a:r>
              <a:t>오늘 여기 있는 친구들 중에서 미래의 원자력 박사님이 꼭 나올 거예요. 그게 바로 여러분이었으면 좋겠어요!</a:t>
            </a:r>
          </a:p>
          <a:p>
            <a:r>
              <a:t>끝까지 잘 들어줘서 고마워요. 우리 다음에 또 만나요. 안녕~! (손 흔들기)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channel/UClh6ZbnWKnDAy50FOdg0SCA" TargetMode="External"/><Relationship Id="rId3" Type="http://schemas.openxmlformats.org/officeDocument/2006/relationships/hyperlink" Target="https://www.youtube.com/results?search_query=%EC%9B%90%EC%9E%90%EB%9E%80%20%EB%AC%B4%EC%97%87%EC%9D%BC%EA%B9%8C%20%EC%96%B4%EB%A6%B0%EC%9D%B4&amp;sp=EgIYAQ%3D%3D" TargetMode="Externa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mI6Tg3nrLyo" TargetMode="External"/><Relationship Id="rId3" Type="http://schemas.openxmlformats.org/officeDocument/2006/relationships/hyperlink" Target="https://www.youtube.com/results?search_query=%EC%A0%84%EA%B8%B0%EB%8A%94%20%EC%96%B4%EB%96%BB%EA%B2%8C%20%EB%A7%8C%EB%93%A4%EC%96%B4%EC%A7%88%EA%B9%8C%20%EC%96%B4%EB%A6%B0%EC%9D%B4&amp;sp=EgIYAQ%3D%3D" TargetMode="Externa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PlO5HHvMtu0" TargetMode="External"/><Relationship Id="rId3" Type="http://schemas.openxmlformats.org/officeDocument/2006/relationships/hyperlink" Target="https://www.youtube.com/results?search_query=%EC%9D%B8%EA%B3%B5%ED%83%9C%EC%96%91%20KSTAR&amp;sp=EgIYAQ%3D%3D" TargetMode="External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channel/UClh6ZbnWKnDAy50FOdg0SCA" TargetMode="External"/><Relationship Id="rId3" Type="http://schemas.openxmlformats.org/officeDocument/2006/relationships/hyperlink" Target="https://www.youtube.com/channel/UCs6Hup0lsGloYm6f3e7aqZw" TargetMode="External"/><Relationship Id="rId4" Type="http://schemas.openxmlformats.org/officeDocument/2006/relationships/hyperlink" Target="https://www.youtube.com/ikhnp" TargetMode="External"/><Relationship Id="rId5" Type="http://schemas.openxmlformats.org/officeDocument/2006/relationships/hyperlink" Target="https://www.youtube.com/c/EBSClipbank" TargetMode="External"/><Relationship Id="rId6" Type="http://schemas.openxmlformats.org/officeDocument/2006/relationships/hyperlink" Target="https://www.youtube.com/channel/UCWwNg2FT5WoHS5RmWageH-w" TargetMode="External"/><Relationship Id="rId7" Type="http://schemas.openxmlformats.org/officeDocument/2006/relationships/hyperlink" Target="https://www.youtube.com/results?search_query=%EC%83%9D%ED%99%9C%20%EC%86%8D%20%EB%B0%A9%EC%82%AC%EC%84%A0%20%EC%96%B4%EB%A6%B0%EC%9D%B4&amp;sp=EgIYAQ%3D%3D" TargetMode="External"/><Relationship Id="rId8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13448" y="2063115"/>
            <a:ext cx="4443984" cy="1543050"/>
          </a:xfrm>
          <a:prstGeom prst="ellipse">
            <a:avLst/>
          </a:prstGeom>
          <a:noFill/>
          <a:ln w="3175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3600000">
            <a:off x="7013448" y="2063115"/>
            <a:ext cx="4443984" cy="1543050"/>
          </a:xfrm>
          <a:prstGeom prst="ellipse">
            <a:avLst/>
          </a:prstGeom>
          <a:noFill/>
          <a:ln w="3175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7200000">
            <a:off x="7013448" y="2063115"/>
            <a:ext cx="4443984" cy="1543050"/>
          </a:xfrm>
          <a:prstGeom prst="ellipse">
            <a:avLst/>
          </a:prstGeom>
          <a:noFill/>
          <a:ln w="3175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697" y="2451963"/>
            <a:ext cx="518464" cy="518464"/>
          </a:xfrm>
          <a:prstGeom prst="ellipse">
            <a:avLst/>
          </a:prstGeom>
          <a:solidFill>
            <a:srgbClr val="F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73717" y="2451963"/>
            <a:ext cx="518464" cy="518464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76207" y="2748229"/>
            <a:ext cx="518464" cy="518464"/>
          </a:xfrm>
          <a:prstGeom prst="ellipse">
            <a:avLst/>
          </a:prstGeom>
          <a:solidFill>
            <a:srgbClr val="F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22058" y="2649474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63655" y="2896362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88552" y="1631061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28800"/>
            <a:ext cx="6949440" cy="3108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000" b="1">
                <a:solidFill>
                  <a:srgbClr val="FFC93C"/>
                </a:solidFill>
                <a:latin typeface="Malgun Gothic"/>
                <a:ea typeface="Malgun Gothic"/>
              </a:rPr>
              <a:t>반짝반짝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6600" b="1">
                <a:solidFill>
                  <a:srgbClr val="FFFFFF"/>
                </a:solidFill>
                <a:latin typeface="Malgun Gothic"/>
                <a:ea typeface="Malgun Gothic"/>
              </a:rPr>
              <a:t>원자력 세상!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D8ECFB"/>
                </a:solidFill>
                <a:latin typeface="Malgun Gothic"/>
                <a:ea typeface="Malgun Gothic"/>
              </a:rPr>
              <a:t>세상에서 제일 작은 알갱이가 만드는 제일 큰 힘 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9AA5D1"/>
                </a:solidFill>
                <a:latin typeface="Malgun Gothic"/>
                <a:ea typeface="Malgun Gothic"/>
              </a:rPr>
              <a:t>한국원자력연구원  |  초등학교 3~4학년 친구들과 함께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21295C"/>
                </a:solidFill>
                <a:latin typeface="Malgun Gothic"/>
                <a:ea typeface="Malgun Gothic"/>
              </a:rPr>
              <a:t>오늘의 탐험 지도 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1431" y="1828800"/>
            <a:ext cx="2084831" cy="3017520"/>
          </a:xfrm>
          <a:prstGeom prst="roundRect">
            <a:avLst>
              <a:gd name="adj" fmla="val 10000"/>
            </a:avLst>
          </a:prstGeom>
          <a:solidFill>
            <a:srgbClr val="D8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C7ED6"/>
                </a:solidFill>
                <a:latin typeface="Malgun Gothic"/>
                <a:ea typeface="Malgun Gothic"/>
              </a:rPr>
              <a:t>1코스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4800" b="0">
                <a:solidFill>
                  <a:srgbClr val="1C7ED6"/>
                </a:solidFill>
                <a:latin typeface="Malgun Gothic"/>
                <a:ea typeface="Malgun Gothic"/>
              </a:rPr>
              <a:t>⚡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21295C"/>
                </a:solidFill>
                <a:latin typeface="Malgun Gothic"/>
                <a:ea typeface="Malgun Gothic"/>
              </a:rPr>
              <a:t>에너지가 뭐야?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67431" y="1828800"/>
            <a:ext cx="2084831" cy="3017520"/>
          </a:xfrm>
          <a:prstGeom prst="roundRect">
            <a:avLst>
              <a:gd name="adj" fmla="val 10000"/>
            </a:avLst>
          </a:prstGeom>
          <a:solidFill>
            <a:srgbClr val="FFF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B88600"/>
                </a:solidFill>
                <a:latin typeface="Malgun Gothic"/>
                <a:ea typeface="Malgun Gothic"/>
              </a:rPr>
              <a:t>2코스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4800" b="0">
                <a:solidFill>
                  <a:srgbClr val="B88600"/>
                </a:solidFill>
                <a:latin typeface="Malgun Gothic"/>
                <a:ea typeface="Malgun Gothic"/>
              </a:rPr>
              <a:t>🔎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21295C"/>
                </a:solidFill>
                <a:latin typeface="Malgun Gothic"/>
                <a:ea typeface="Malgun Gothic"/>
              </a:rPr>
              <a:t>쪼개고 쪼개면? 원자!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53431" y="1828800"/>
            <a:ext cx="2084831" cy="3017520"/>
          </a:xfrm>
          <a:prstGeom prst="roundRect">
            <a:avLst>
              <a:gd name="adj" fmla="val 10000"/>
            </a:avLst>
          </a:prstGeom>
          <a:solidFill>
            <a:srgbClr val="FFE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7A3D"/>
                </a:solidFill>
                <a:latin typeface="Malgun Gothic"/>
                <a:ea typeface="Malgun Gothic"/>
              </a:rPr>
              <a:t>3코스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4800" b="0">
                <a:solidFill>
                  <a:srgbClr val="FF7A3D"/>
                </a:solidFill>
                <a:latin typeface="Malgun Gothic"/>
                <a:ea typeface="Malgun Gothic"/>
              </a:rPr>
              <a:t>🏭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21295C"/>
                </a:solidFill>
                <a:latin typeface="Malgun Gothic"/>
                <a:ea typeface="Malgun Gothic"/>
              </a:rPr>
              <a:t>전기를 만드는 마법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39431" y="1828800"/>
            <a:ext cx="2084831" cy="3017520"/>
          </a:xfrm>
          <a:prstGeom prst="roundRect">
            <a:avLst>
              <a:gd name="adj" fmla="val 10000"/>
            </a:avLst>
          </a:prstGeom>
          <a:solidFill>
            <a:srgbClr val="E1F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F9E44"/>
                </a:solidFill>
                <a:latin typeface="Malgun Gothic"/>
                <a:ea typeface="Malgun Gothic"/>
              </a:rPr>
              <a:t>4코스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4800" b="0">
                <a:solidFill>
                  <a:srgbClr val="2F9E44"/>
                </a:solidFill>
                <a:latin typeface="Malgun Gothic"/>
                <a:ea typeface="Malgun Gothic"/>
              </a:rPr>
              <a:t>🏰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21295C"/>
                </a:solidFill>
                <a:latin typeface="Malgun Gothic"/>
                <a:ea typeface="Malgun Gothic"/>
              </a:rPr>
              <a:t>방사선과 안전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25431" y="1828800"/>
            <a:ext cx="2084831" cy="3017520"/>
          </a:xfrm>
          <a:prstGeom prst="roundRect">
            <a:avLst>
              <a:gd name="adj" fmla="val 10000"/>
            </a:avLst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7A5CD6"/>
                </a:solidFill>
                <a:latin typeface="Malgun Gothic"/>
                <a:ea typeface="Malgun Gothic"/>
              </a:rPr>
              <a:t>5코스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4800" b="0">
                <a:solidFill>
                  <a:srgbClr val="7A5CD6"/>
                </a:solidFill>
                <a:latin typeface="Malgun Gothic"/>
                <a:ea typeface="Malgun Gothic"/>
              </a:rPr>
              <a:t>🚀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21295C"/>
                </a:solidFill>
                <a:latin typeface="Malgun Gothic"/>
                <a:ea typeface="Malgun Gothic"/>
              </a:rPr>
              <a:t>미래의 원자력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9240"/>
            <a:ext cx="11002975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495057"/>
                </a:solidFill>
                <a:latin typeface="Malgun Gothic"/>
                <a:ea typeface="Malgun Gothic"/>
              </a:rPr>
              <a:t>다섯 개의 코스를 모두 통과하면, 여러분도 오늘부터 꼬마 원자력 박사! 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206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7200" b="0">
                <a:solidFill>
                  <a:srgbClr val="FFFFFF"/>
                </a:solidFill>
                <a:latin typeface="Malgun Gothic"/>
                <a:ea typeface="Malgun Gothic"/>
              </a:rPr>
              <a:t>⚡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1코스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</a:rPr>
              <a:t>에너지가 뭐야?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F0F4FF"/>
                </a:solidFill>
                <a:latin typeface="Malgun Gothic"/>
                <a:ea typeface="Malgun Gothic"/>
              </a:rPr>
              <a:t>밥을 먹으면 힘이 나는 것처럼!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21295C"/>
                </a:solidFill>
                <a:latin typeface="Malgun Gothic"/>
                <a:ea typeface="Malgun Gothic"/>
              </a:rPr>
              <a:t>에너지 = 무언가를 움직이게 하는 힘!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6587" y="1600200"/>
            <a:ext cx="3429000" cy="3017520"/>
          </a:xfrm>
          <a:prstGeom prst="roundRect">
            <a:avLst>
              <a:gd name="adj" fmla="val 9000"/>
            </a:avLst>
          </a:prstGeom>
          <a:solidFill>
            <a:srgbClr val="D8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800" b="0">
                <a:solidFill>
                  <a:srgbClr val="21295C"/>
                </a:solidFill>
                <a:latin typeface="Malgun Gothic"/>
                <a:ea typeface="Malgun Gothic"/>
              </a:rPr>
              <a:t>🍚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21295C"/>
                </a:solidFill>
                <a:latin typeface="Malgun Gothic"/>
                <a:ea typeface="Malgun Gothic"/>
              </a:rPr>
              <a:t>밥을 먹으면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495057"/>
                </a:solidFill>
                <a:latin typeface="Malgun Gothic"/>
                <a:ea typeface="Malgun Gothic"/>
              </a:rPr>
              <a:t>우리 몸에 힘이 나서</a:t>
            </a:r>
            <a:br/>
            <a:r>
              <a:rPr sz="1500" b="0">
                <a:solidFill>
                  <a:srgbClr val="495057"/>
                </a:solidFill>
                <a:latin typeface="Malgun Gothic"/>
                <a:ea typeface="Malgun Gothic"/>
              </a:rPr>
              <a:t>신나게 뛰어놀 수 있어요!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1347" y="1600200"/>
            <a:ext cx="3429000" cy="3017520"/>
          </a:xfrm>
          <a:prstGeom prst="roundRect">
            <a:avLst>
              <a:gd name="adj" fmla="val 9000"/>
            </a:avLst>
          </a:prstGeom>
          <a:solidFill>
            <a:srgbClr val="FFF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800" b="0">
                <a:solidFill>
                  <a:srgbClr val="21295C"/>
                </a:solidFill>
                <a:latin typeface="Malgun Gothic"/>
                <a:ea typeface="Malgun Gothic"/>
              </a:rPr>
              <a:t>🚗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21295C"/>
                </a:solidFill>
                <a:latin typeface="Malgun Gothic"/>
                <a:ea typeface="Malgun Gothic"/>
              </a:rPr>
              <a:t>자동차는 기름을 넣으면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495057"/>
                </a:solidFill>
                <a:latin typeface="Malgun Gothic"/>
                <a:ea typeface="Malgun Gothic"/>
              </a:rPr>
              <a:t>부릉부릉!</a:t>
            </a:r>
            <a:br/>
            <a:r>
              <a:rPr sz="1500" b="0">
                <a:solidFill>
                  <a:srgbClr val="495057"/>
                </a:solidFill>
                <a:latin typeface="Malgun Gothic"/>
                <a:ea typeface="Malgun Gothic"/>
              </a:rPr>
              <a:t>씽씽 달릴 수 있어요!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76107" y="1600200"/>
            <a:ext cx="3429000" cy="3017520"/>
          </a:xfrm>
          <a:prstGeom prst="roundRect">
            <a:avLst>
              <a:gd name="adj" fmla="val 9000"/>
            </a:avLst>
          </a:prstGeom>
          <a:solidFill>
            <a:srgbClr val="E1F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800" b="0">
                <a:solidFill>
                  <a:srgbClr val="21295C"/>
                </a:solidFill>
                <a:latin typeface="Malgun Gothic"/>
                <a:ea typeface="Malgun Gothic"/>
              </a:rPr>
              <a:t>📱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21295C"/>
                </a:solidFill>
                <a:latin typeface="Malgun Gothic"/>
                <a:ea typeface="Malgun Gothic"/>
              </a:rPr>
              <a:t>스마트폰은 충전하면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495057"/>
                </a:solidFill>
                <a:latin typeface="Malgun Gothic"/>
                <a:ea typeface="Malgun Gothic"/>
              </a:rPr>
              <a:t>영상도 보고 게임도 하고</a:t>
            </a:r>
            <a:br/>
            <a:r>
              <a:rPr sz="1500" b="0">
                <a:solidFill>
                  <a:srgbClr val="495057"/>
                </a:solidFill>
                <a:latin typeface="Malgun Gothic"/>
                <a:ea typeface="Malgun Gothic"/>
              </a:rPr>
              <a:t>전화도 걸 수 있어요!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5120640"/>
            <a:ext cx="8168335" cy="100584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이렇게 일을 하고, 움직이게 하는 힘을 '에너지'라고 불러요 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21295C"/>
                </a:solidFill>
                <a:latin typeface="Malgun Gothic"/>
                <a:ea typeface="Malgun Gothic"/>
              </a:rPr>
              <a:t>에너지는 변신의 달인! 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8319" y="1645920"/>
            <a:ext cx="3200400" cy="2743200"/>
          </a:xfrm>
          <a:prstGeom prst="roundRect">
            <a:avLst>
              <a:gd name="adj" fmla="val 9000"/>
            </a:avLst>
          </a:prstGeom>
          <a:solidFill>
            <a:srgbClr val="D8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400" b="0">
                <a:solidFill>
                  <a:srgbClr val="21295C"/>
                </a:solidFill>
                <a:latin typeface="Malgun Gothic"/>
                <a:ea typeface="Malgun Gothic"/>
              </a:rPr>
              <a:t>🔌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21295C"/>
                </a:solidFill>
                <a:latin typeface="Malgun Gothic"/>
                <a:ea typeface="Malgun Gothic"/>
              </a:rPr>
              <a:t>① 위이잉~ 올라가요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495057"/>
                </a:solidFill>
                <a:latin typeface="Malgun Gothic"/>
                <a:ea typeface="Malgun Gothic"/>
              </a:rPr>
              <a:t>전기의 힘으로</a:t>
            </a:r>
            <a:br/>
            <a:r>
              <a:rPr sz="1400" b="0">
                <a:solidFill>
                  <a:srgbClr val="495057"/>
                </a:solidFill>
                <a:latin typeface="Malgun Gothic"/>
                <a:ea typeface="Malgun Gothic"/>
              </a:rPr>
              <a:t>꼭대기까지 슝!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020159" y="2788920"/>
            <a:ext cx="384048" cy="457200"/>
          </a:xfrm>
          <a:prstGeom prst="rightArrow">
            <a:avLst/>
          </a:prstGeom>
          <a:solidFill>
            <a:srgbClr val="F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95647" y="1645920"/>
            <a:ext cx="3200400" cy="2743200"/>
          </a:xfrm>
          <a:prstGeom prst="roundRect">
            <a:avLst>
              <a:gd name="adj" fmla="val 9000"/>
            </a:avLst>
          </a:prstGeom>
          <a:solidFill>
            <a:srgbClr val="FFF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400" b="0">
                <a:solidFill>
                  <a:srgbClr val="21295C"/>
                </a:solidFill>
                <a:latin typeface="Malgun Gothic"/>
                <a:ea typeface="Malgun Gothic"/>
              </a:rPr>
              <a:t>🗻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21295C"/>
                </a:solidFill>
                <a:latin typeface="Malgun Gothic"/>
                <a:ea typeface="Malgun Gothic"/>
              </a:rPr>
              <a:t>② 꼭대기에서 두근두근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495057"/>
                </a:solidFill>
                <a:latin typeface="Malgun Gothic"/>
                <a:ea typeface="Malgun Gothic"/>
              </a:rPr>
              <a:t>높은 곳에 있으면</a:t>
            </a:r>
            <a:br/>
            <a:r>
              <a:rPr sz="1400" b="0">
                <a:solidFill>
                  <a:srgbClr val="495057"/>
                </a:solidFill>
                <a:latin typeface="Malgun Gothic"/>
                <a:ea typeface="Malgun Gothic"/>
              </a:rPr>
              <a:t>내려갈 힘을 모아요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787487" y="2788920"/>
            <a:ext cx="384048" cy="457200"/>
          </a:xfrm>
          <a:prstGeom prst="rightArrow">
            <a:avLst/>
          </a:prstGeom>
          <a:solidFill>
            <a:srgbClr val="F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62975" y="1645920"/>
            <a:ext cx="3200400" cy="2743200"/>
          </a:xfrm>
          <a:prstGeom prst="roundRect">
            <a:avLst>
              <a:gd name="adj" fmla="val 9000"/>
            </a:avLst>
          </a:prstGeom>
          <a:solidFill>
            <a:srgbClr val="FFE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400" b="0">
                <a:solidFill>
                  <a:srgbClr val="21295C"/>
                </a:solidFill>
                <a:latin typeface="Malgun Gothic"/>
                <a:ea typeface="Malgun Gothic"/>
              </a:rPr>
              <a:t>🎢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21295C"/>
                </a:solidFill>
                <a:latin typeface="Malgun Gothic"/>
                <a:ea typeface="Malgun Gothic"/>
              </a:rPr>
              <a:t>③ 슈우웅~ 내려가요!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495057"/>
                </a:solidFill>
                <a:latin typeface="Malgun Gothic"/>
                <a:ea typeface="Malgun Gothic"/>
              </a:rPr>
              <a:t>모아둔 힘이</a:t>
            </a:r>
            <a:br/>
            <a:r>
              <a:rPr sz="1400" b="0">
                <a:solidFill>
                  <a:srgbClr val="495057"/>
                </a:solidFill>
                <a:latin typeface="Malgun Gothic"/>
                <a:ea typeface="Malgun Gothic"/>
              </a:rPr>
              <a:t>달리는 힘으로 변신!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5029200"/>
            <a:ext cx="8168335" cy="1097280"/>
          </a:xfrm>
          <a:prstGeom prst="roundRect">
            <a:avLst>
              <a:gd name="adj" fmla="val 45000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에너지는 없어지지 않아요! 모습만 바꾸면서 계속 움직여요 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E03E3E"/>
                </a:solidFill>
                <a:latin typeface="Malgun Gothic"/>
                <a:ea typeface="Malgun Gothic"/>
              </a:rPr>
              <a:t>⭐ 깜짝 퀴즈 1!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2975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000" b="0">
                <a:solidFill>
                  <a:srgbClr val="21295C"/>
                </a:solidFill>
                <a:latin typeface="Malgun Gothic"/>
                <a:ea typeface="Malgun Gothic"/>
              </a:rPr>
              <a:t>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286000"/>
            <a:ext cx="10180015" cy="2697480"/>
          </a:xfrm>
          <a:prstGeom prst="roundRect">
            <a:avLst>
              <a:gd name="adj" fmla="val 8000"/>
            </a:avLst>
          </a:prstGeom>
          <a:solidFill>
            <a:srgbClr val="FB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200" b="1">
                <a:solidFill>
                  <a:srgbClr val="21295C"/>
                </a:solidFill>
                <a:latin typeface="Malgun Gothic"/>
                <a:ea typeface="Malgun Gothic"/>
              </a:rPr>
              <a:t>롤러코스터가 슝~ 내려갈 때,</a:t>
            </a:r>
            <a:br/>
            <a:r>
              <a:rPr sz="2200" b="1">
                <a:solidFill>
                  <a:srgbClr val="21295C"/>
                </a:solidFill>
                <a:latin typeface="Malgun Gothic"/>
                <a:ea typeface="Malgun Gothic"/>
              </a:rPr>
              <a:t>그 힘은 어디에서 왔을까요?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0">
                <a:solidFill>
                  <a:srgbClr val="495057"/>
                </a:solidFill>
                <a:latin typeface="Malgun Gothic"/>
                <a:ea typeface="Malgun Gothic"/>
              </a:rPr>
              <a:t>①  바람이 밀어줘서      ②  꼭대기에서 모아둔 힘이 변신해서      ③  마법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49240"/>
            <a:ext cx="11002975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495057"/>
                </a:solidFill>
                <a:latin typeface="Malgun Gothic"/>
                <a:ea typeface="Malgun Gothic"/>
              </a:rPr>
              <a:t>마음속으로 정했으면, 손가락으로 번호를 들어 보세요! 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21295C"/>
                </a:solidFill>
                <a:latin typeface="Malgun Gothic"/>
                <a:ea typeface="Malgun Gothic"/>
              </a:rPr>
              <a:t>사람들은 어떤 에너지를 써 왔을까? 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7131" y="1783080"/>
            <a:ext cx="2057400" cy="2834640"/>
          </a:xfrm>
          <a:prstGeom prst="roundRect">
            <a:avLst>
              <a:gd name="adj" fmla="val 9000"/>
            </a:avLst>
          </a:prstGeom>
          <a:solidFill>
            <a:srgbClr val="FB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21295C"/>
                </a:solidFill>
                <a:latin typeface="Malgun Gothic"/>
                <a:ea typeface="Malgun Gothic"/>
              </a:rPr>
              <a:t>🔥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1295C"/>
                </a:solidFill>
                <a:latin typeface="Malgun Gothic"/>
                <a:ea typeface="Malgun Gothic"/>
              </a:rPr>
              <a:t>아주 먼 옛날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불을 발견!</a:t>
            </a:r>
            <a:br/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고기도 굽고 따뜻하게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29103" y="2971800"/>
            <a:ext cx="274320" cy="384048"/>
          </a:xfrm>
          <a:prstGeom prst="rightArrow">
            <a:avLst/>
          </a:prstGeom>
          <a:solidFill>
            <a:srgbClr val="ADB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17139" y="1783080"/>
            <a:ext cx="2057400" cy="2834640"/>
          </a:xfrm>
          <a:prstGeom prst="roundRect">
            <a:avLst>
              <a:gd name="adj" fmla="val 9000"/>
            </a:avLst>
          </a:prstGeom>
          <a:solidFill>
            <a:srgbClr val="D8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21295C"/>
                </a:solidFill>
                <a:latin typeface="Malgun Gothic"/>
                <a:ea typeface="Malgun Gothic"/>
              </a:rPr>
              <a:t>💧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1295C"/>
                </a:solidFill>
                <a:latin typeface="Malgun Gothic"/>
                <a:ea typeface="Malgun Gothic"/>
              </a:rPr>
              <a:t>옛날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물레방아, 바람개비로</a:t>
            </a:r>
            <a:br/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물과 바람의 힘을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79111" y="2971800"/>
            <a:ext cx="274320" cy="384048"/>
          </a:xfrm>
          <a:prstGeom prst="rightArrow">
            <a:avLst/>
          </a:prstGeom>
          <a:solidFill>
            <a:srgbClr val="ADB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67147" y="1783080"/>
            <a:ext cx="2057400" cy="2834640"/>
          </a:xfrm>
          <a:prstGeom prst="roundRect">
            <a:avLst>
              <a:gd name="adj" fmla="val 9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21295C"/>
                </a:solidFill>
                <a:latin typeface="Malgun Gothic"/>
                <a:ea typeface="Malgun Gothic"/>
              </a:rPr>
              <a:t>🚂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1295C"/>
                </a:solidFill>
                <a:latin typeface="Malgun Gothic"/>
                <a:ea typeface="Malgun Gothic"/>
              </a:rPr>
              <a:t>200년 전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석탄으로</a:t>
            </a:r>
            <a:br/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칙칙폭폭 기차가!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29119" y="2971800"/>
            <a:ext cx="274320" cy="384048"/>
          </a:xfrm>
          <a:prstGeom prst="rightArrow">
            <a:avLst/>
          </a:prstGeom>
          <a:solidFill>
            <a:srgbClr val="ADB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17155" y="1783080"/>
            <a:ext cx="2057400" cy="2834640"/>
          </a:xfrm>
          <a:prstGeom prst="roundRect">
            <a:avLst>
              <a:gd name="adj" fmla="val 9000"/>
            </a:avLst>
          </a:prstGeom>
          <a:solidFill>
            <a:srgbClr val="FFF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21295C"/>
                </a:solidFill>
                <a:latin typeface="Malgun Gothic"/>
                <a:ea typeface="Malgun Gothic"/>
              </a:rPr>
              <a:t>⛽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1295C"/>
                </a:solidFill>
                <a:latin typeface="Malgun Gothic"/>
                <a:ea typeface="Malgun Gothic"/>
              </a:rPr>
              <a:t>100년 전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석유로 자동차와</a:t>
            </a:r>
            <a:br/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공장이 씽씽!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79127" y="2971800"/>
            <a:ext cx="274320" cy="384048"/>
          </a:xfrm>
          <a:prstGeom prst="rightArrow">
            <a:avLst/>
          </a:prstGeom>
          <a:solidFill>
            <a:srgbClr val="ADB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67163" y="1783080"/>
            <a:ext cx="2057400" cy="2834640"/>
          </a:xfrm>
          <a:prstGeom prst="roundRect">
            <a:avLst>
              <a:gd name="adj" fmla="val 9000"/>
            </a:avLst>
          </a:prstGeom>
          <a:solidFill>
            <a:srgbClr val="E1F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21295C"/>
                </a:solidFill>
                <a:latin typeface="Malgun Gothic"/>
                <a:ea typeface="Malgun Gothic"/>
              </a:rPr>
              <a:t>🌟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1295C"/>
                </a:solidFill>
                <a:latin typeface="Malgun Gothic"/>
                <a:ea typeface="Malgun Gothic"/>
              </a:rPr>
              <a:t>지금은!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원자력과 태양광으로</a:t>
            </a:r>
            <a:br/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깨끗한 전기를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120640"/>
            <a:ext cx="11002975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21295C"/>
                </a:solidFill>
                <a:latin typeface="Malgun Gothic"/>
                <a:ea typeface="Malgun Gothic"/>
              </a:rPr>
              <a:t>그리고 오늘의 주인공은 바로... 원자력이에요! 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E03E3E"/>
                </a:solidFill>
                <a:latin typeface="Malgun Gothic"/>
                <a:ea typeface="Malgun Gothic"/>
              </a:rPr>
              <a:t>⭐ 깜짝 퀴즈 2!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2975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000" b="0">
                <a:solidFill>
                  <a:srgbClr val="21295C"/>
                </a:solidFill>
                <a:latin typeface="Malgun Gothic"/>
                <a:ea typeface="Malgun Gothic"/>
              </a:rPr>
              <a:t>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286000"/>
            <a:ext cx="10180015" cy="2697480"/>
          </a:xfrm>
          <a:prstGeom prst="roundRect">
            <a:avLst>
              <a:gd name="adj" fmla="val 8000"/>
            </a:avLst>
          </a:prstGeom>
          <a:solidFill>
            <a:srgbClr val="D8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200" b="1">
                <a:solidFill>
                  <a:srgbClr val="21295C"/>
                </a:solidFill>
                <a:latin typeface="Malgun Gothic"/>
                <a:ea typeface="Malgun Gothic"/>
              </a:rPr>
              <a:t>아주아주 먼 옛날, 사람들이</a:t>
            </a:r>
            <a:br/>
            <a:r>
              <a:rPr sz="2200" b="1">
                <a:solidFill>
                  <a:srgbClr val="21295C"/>
                </a:solidFill>
                <a:latin typeface="Malgun Gothic"/>
                <a:ea typeface="Malgun Gothic"/>
              </a:rPr>
              <a:t>맨 처음 발견한 에너지는 무엇일까요?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0">
                <a:solidFill>
                  <a:srgbClr val="495057"/>
                </a:solidFill>
                <a:latin typeface="Malgun Gothic"/>
                <a:ea typeface="Malgun Gothic"/>
              </a:rPr>
              <a:t>①  불      ②  전기      ③  와이파이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49240"/>
            <a:ext cx="11002975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495057"/>
                </a:solidFill>
                <a:latin typeface="Malgun Gothic"/>
                <a:ea typeface="Malgun Gothic"/>
              </a:rPr>
              <a:t>마음속으로 정했으면, 손가락으로 번호를 들어 보세요! 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206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7200" b="0">
                <a:solidFill>
                  <a:srgbClr val="FFFFFF"/>
                </a:solidFill>
                <a:latin typeface="Malgun Gothic"/>
                <a:ea typeface="Malgun Gothic"/>
              </a:rPr>
              <a:t>🔎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2코스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</a:rPr>
              <a:t>쪼개고 쪼개면? 원자!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F0F4FF"/>
                </a:solidFill>
                <a:latin typeface="Malgun Gothic"/>
                <a:ea typeface="Malgun Gothic"/>
              </a:rPr>
              <a:t>세상에서 제일 작은 알갱이를 찾아라!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21295C"/>
                </a:solidFill>
                <a:latin typeface="Malgun Gothic"/>
                <a:ea typeface="Malgun Gothic"/>
              </a:rPr>
              <a:t>세상 모든 것은 '원자 블록'으로 만들어졌어요 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207" y="1554480"/>
            <a:ext cx="1828800" cy="1737360"/>
          </a:xfrm>
          <a:prstGeom prst="roundRect">
            <a:avLst>
              <a:gd name="adj" fmla="val 9000"/>
            </a:avLst>
          </a:prstGeom>
          <a:solidFill>
            <a:srgbClr val="D8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800" b="0">
                <a:solidFill>
                  <a:srgbClr val="21295C"/>
                </a:solidFill>
                <a:latin typeface="Malgun Gothic"/>
                <a:ea typeface="Malgun Gothic"/>
              </a:rPr>
              <a:t>📖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1295C"/>
                </a:solidFill>
                <a:latin typeface="Malgun Gothic"/>
                <a:ea typeface="Malgun Gothic"/>
              </a:rPr>
              <a:t>책도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78327" y="1554480"/>
            <a:ext cx="1828800" cy="1737360"/>
          </a:xfrm>
          <a:prstGeom prst="roundRect">
            <a:avLst>
              <a:gd name="adj" fmla="val 9000"/>
            </a:avLst>
          </a:prstGeom>
          <a:solidFill>
            <a:srgbClr val="D8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800" b="0">
                <a:solidFill>
                  <a:srgbClr val="21295C"/>
                </a:solidFill>
                <a:latin typeface="Malgun Gothic"/>
                <a:ea typeface="Malgun Gothic"/>
              </a:rPr>
              <a:t>🍎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1295C"/>
                </a:solidFill>
                <a:latin typeface="Malgun Gothic"/>
                <a:ea typeface="Malgun Gothic"/>
              </a:rPr>
              <a:t>사과도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81447" y="1554480"/>
            <a:ext cx="1828800" cy="1737360"/>
          </a:xfrm>
          <a:prstGeom prst="roundRect">
            <a:avLst>
              <a:gd name="adj" fmla="val 9000"/>
            </a:avLst>
          </a:prstGeom>
          <a:solidFill>
            <a:srgbClr val="D8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800" b="0">
                <a:solidFill>
                  <a:srgbClr val="21295C"/>
                </a:solidFill>
                <a:latin typeface="Malgun Gothic"/>
                <a:ea typeface="Malgun Gothic"/>
              </a:rPr>
              <a:t>💧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1295C"/>
                </a:solidFill>
                <a:latin typeface="Malgun Gothic"/>
                <a:ea typeface="Malgun Gothic"/>
              </a:rPr>
              <a:t>물도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84567" y="1554480"/>
            <a:ext cx="1828800" cy="1737360"/>
          </a:xfrm>
          <a:prstGeom prst="roundRect">
            <a:avLst>
              <a:gd name="adj" fmla="val 9000"/>
            </a:avLst>
          </a:prstGeom>
          <a:solidFill>
            <a:srgbClr val="D8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800" b="0">
                <a:solidFill>
                  <a:srgbClr val="21295C"/>
                </a:solidFill>
                <a:latin typeface="Malgun Gothic"/>
                <a:ea typeface="Malgun Gothic"/>
              </a:rPr>
              <a:t>🐶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1295C"/>
                </a:solidFill>
                <a:latin typeface="Malgun Gothic"/>
                <a:ea typeface="Malgun Gothic"/>
              </a:rPr>
              <a:t>강아지도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87687" y="1554480"/>
            <a:ext cx="1828800" cy="1737360"/>
          </a:xfrm>
          <a:prstGeom prst="roundRect">
            <a:avLst>
              <a:gd name="adj" fmla="val 9000"/>
            </a:avLst>
          </a:prstGeom>
          <a:solidFill>
            <a:srgbClr val="D8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800" b="0">
                <a:solidFill>
                  <a:srgbClr val="21295C"/>
                </a:solidFill>
                <a:latin typeface="Malgun Gothic"/>
                <a:ea typeface="Malgun Gothic"/>
              </a:rPr>
              <a:t>🙋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1295C"/>
                </a:solidFill>
                <a:latin typeface="Malgun Gothic"/>
                <a:ea typeface="Malgun Gothic"/>
              </a:rPr>
              <a:t>우리 몸도!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657600"/>
            <a:ext cx="9448495" cy="2286000"/>
          </a:xfrm>
          <a:prstGeom prst="roundRect">
            <a:avLst>
              <a:gd name="adj" fmla="val 8000"/>
            </a:avLst>
          </a:prstGeom>
          <a:solidFill>
            <a:srgbClr val="FFF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21295C"/>
                </a:solidFill>
                <a:latin typeface="Malgun Gothic"/>
                <a:ea typeface="Malgun Gothic"/>
              </a:rPr>
              <a:t>레고를 생각해 보세요! 🎲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495057"/>
                </a:solidFill>
                <a:latin typeface="Malgun Gothic"/>
                <a:ea typeface="Malgun Gothic"/>
              </a:rPr>
              <a:t>작은 블록을 모으면 → 집도, 자동차도, 공룡도 만들 수 있죠?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495057"/>
                </a:solidFill>
                <a:latin typeface="Malgun Gothic"/>
                <a:ea typeface="Malgun Gothic"/>
              </a:rPr>
              <a:t>세상 모든 것도 아주아주 작은 블록으로 만들어졌어요.</a:t>
            </a:r>
            <a:br/>
            <a:r>
              <a:rPr sz="1700" b="0">
                <a:solidFill>
                  <a:srgbClr val="495057"/>
                </a:solidFill>
                <a:latin typeface="Malgun Gothic"/>
                <a:ea typeface="Malgun Gothic"/>
              </a:rPr>
              <a:t>그 블록의 이름이 바로 '원자'예요!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21295C"/>
                </a:solidFill>
                <a:latin typeface="Malgun Gothic"/>
                <a:ea typeface="Malgun Gothic"/>
              </a:rPr>
              <a:t>원자는 얼마나 작을까? 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206240"/>
          </a:xfrm>
          <a:prstGeom prst="roundRect">
            <a:avLst>
              <a:gd name="adj" fmla="val 6000"/>
            </a:avLst>
          </a:prstGeom>
          <a:solidFill>
            <a:srgbClr val="D8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4400" b="0">
                <a:solidFill>
                  <a:srgbClr val="1C7ED6"/>
                </a:solidFill>
                <a:latin typeface="Malgun Gothic"/>
                <a:ea typeface="Malgun Gothic"/>
              </a:rPr>
              <a:t>🔬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1295C"/>
                </a:solidFill>
                <a:latin typeface="Malgun Gothic"/>
                <a:ea typeface="Malgun Gothic"/>
              </a:rPr>
              <a:t>원자 1억 개를</a:t>
            </a:r>
            <a:br/>
            <a:r>
              <a:rPr sz="2200" b="1">
                <a:solidFill>
                  <a:srgbClr val="21295C"/>
                </a:solidFill>
                <a:latin typeface="Malgun Gothic"/>
                <a:ea typeface="Malgun Gothic"/>
              </a:rPr>
              <a:t>한 줄로 세우면?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3400" b="1">
                <a:solidFill>
                  <a:srgbClr val="1C7ED6"/>
                </a:solidFill>
                <a:latin typeface="Malgun Gothic"/>
                <a:ea typeface="Malgun Gothic"/>
              </a:rPr>
              <a:t>겨우 1cm!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495057"/>
                </a:solidFill>
                <a:latin typeface="Malgun Gothic"/>
                <a:ea typeface="Malgun Gothic"/>
              </a:rPr>
              <a:t>새끼손톱 너비만큼도 안 돼요.</a:t>
            </a:r>
            <a:br/>
            <a:r>
              <a:rPr sz="1500" b="0">
                <a:solidFill>
                  <a:srgbClr val="495057"/>
                </a:solidFill>
                <a:latin typeface="Malgun Gothic"/>
                <a:ea typeface="Malgun Gothic"/>
              </a:rPr>
              <a:t>눈으로도, 돋보기로도 절대 볼 수 없어요!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212080" cy="4206240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4400" b="0">
                <a:solidFill>
                  <a:srgbClr val="FF7A3D"/>
                </a:solidFill>
                <a:latin typeface="Malgun Gothic"/>
                <a:ea typeface="Malgun Gothic"/>
              </a:rPr>
              <a:t>⚽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1295C"/>
                </a:solidFill>
                <a:latin typeface="Malgun Gothic"/>
                <a:ea typeface="Malgun Gothic"/>
              </a:rPr>
              <a:t>원자가 축구장만큼</a:t>
            </a:r>
            <a:br/>
            <a:r>
              <a:rPr sz="2200" b="1">
                <a:solidFill>
                  <a:srgbClr val="21295C"/>
                </a:solidFill>
                <a:latin typeface="Malgun Gothic"/>
                <a:ea typeface="Malgun Gothic"/>
              </a:rPr>
              <a:t>커진다면?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495057"/>
                </a:solidFill>
                <a:latin typeface="Malgun Gothic"/>
                <a:ea typeface="Malgun Gothic"/>
              </a:rPr>
              <a:t>가운데 있는 원자핵은 축구공,</a:t>
            </a:r>
            <a:br/>
            <a:r>
              <a:rPr sz="1700" b="0">
                <a:solidFill>
                  <a:srgbClr val="495057"/>
                </a:solidFill>
                <a:latin typeface="Malgun Gothic"/>
                <a:ea typeface="Malgun Gothic"/>
              </a:rPr>
              <a:t>주위를 도는 전자는 개미 크기!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495057"/>
                </a:solidFill>
                <a:latin typeface="Malgun Gothic"/>
                <a:ea typeface="Malgun Gothic"/>
              </a:rPr>
              <a:t>원자 속은 거의 텅 비어 있대요. 신기하죠?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E03E3E"/>
                </a:solidFill>
                <a:latin typeface="Malgun Gothic"/>
                <a:ea typeface="Malgun Gothic"/>
              </a:rPr>
              <a:t>⭐ 깜짝 퀴즈 3!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2975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000" b="0">
                <a:solidFill>
                  <a:srgbClr val="21295C"/>
                </a:solidFill>
                <a:latin typeface="Malgun Gothic"/>
                <a:ea typeface="Malgun Gothic"/>
              </a:rPr>
              <a:t>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286000"/>
            <a:ext cx="10180015" cy="2697480"/>
          </a:xfrm>
          <a:prstGeom prst="roundRect">
            <a:avLst>
              <a:gd name="adj" fmla="val 8000"/>
            </a:avLst>
          </a:prstGeom>
          <a:solidFill>
            <a:srgbClr val="FFF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200" b="1">
                <a:solidFill>
                  <a:srgbClr val="21295C"/>
                </a:solidFill>
                <a:latin typeface="Malgun Gothic"/>
                <a:ea typeface="Malgun Gothic"/>
              </a:rPr>
              <a:t>세상 모든 것을 쪼개고 쪼개고 또 쪼개면,</a:t>
            </a:r>
            <a:br/>
            <a:r>
              <a:rPr sz="2200" b="1">
                <a:solidFill>
                  <a:srgbClr val="21295C"/>
                </a:solidFill>
                <a:latin typeface="Malgun Gothic"/>
                <a:ea typeface="Malgun Gothic"/>
              </a:rPr>
              <a:t>마지막에 남는 작은 블록은 무엇일까요?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0">
                <a:solidFill>
                  <a:srgbClr val="495057"/>
                </a:solidFill>
                <a:latin typeface="Malgun Gothic"/>
                <a:ea typeface="Malgun Gothic"/>
              </a:rPr>
              <a:t>①  먼지      ②  원자      ③  설탕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49240"/>
            <a:ext cx="11002975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495057"/>
                </a:solidFill>
                <a:latin typeface="Malgun Gothic"/>
                <a:ea typeface="Malgun Gothic"/>
              </a:rPr>
              <a:t>마음속으로 정했으면, 손가락으로 번호를 들어 보세요! 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21295C"/>
                </a:solidFill>
                <a:latin typeface="Malgun Gothic"/>
                <a:ea typeface="Malgun Gothic"/>
              </a:rPr>
              <a:t>원자 속을 들여다보면? 👀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1691640"/>
            <a:ext cx="4206240" cy="4206240"/>
          </a:xfrm>
          <a:prstGeom prst="ellipse">
            <a:avLst/>
          </a:prstGeom>
          <a:solidFill>
            <a:srgbClr val="EDF6FD"/>
          </a:solidFill>
          <a:ln w="25400">
            <a:solidFill>
              <a:srgbClr val="1C7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3108960"/>
            <a:ext cx="3657600" cy="1371600"/>
          </a:xfrm>
          <a:prstGeom prst="ellipse">
            <a:avLst/>
          </a:prstGeom>
          <a:noFill/>
          <a:ln w="19050">
            <a:solidFill>
              <a:srgbClr val="9E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5400000">
            <a:off x="1463040" y="3108960"/>
            <a:ext cx="3657600" cy="1371600"/>
          </a:xfrm>
          <a:prstGeom prst="ellipse">
            <a:avLst/>
          </a:prstGeom>
          <a:noFill/>
          <a:ln w="19050">
            <a:solidFill>
              <a:srgbClr val="9E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80360" y="3447288"/>
            <a:ext cx="457200" cy="457200"/>
          </a:xfrm>
          <a:prstGeom prst="ellipse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46120" y="3447288"/>
            <a:ext cx="457200" cy="457200"/>
          </a:xfrm>
          <a:prstGeom prst="ellipse">
            <a:avLst/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63240" y="3730752"/>
            <a:ext cx="457200" cy="457200"/>
          </a:xfrm>
          <a:prstGeom prst="ellipse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44952" y="3218688"/>
            <a:ext cx="457200" cy="457200"/>
          </a:xfrm>
          <a:prstGeom prst="ellipse">
            <a:avLst/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54480" y="3675888"/>
            <a:ext cx="237744" cy="237744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00600" y="3675888"/>
            <a:ext cx="237744" cy="237744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72968" y="2039112"/>
            <a:ext cx="237744" cy="237744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72968" y="5303520"/>
            <a:ext cx="237744" cy="237744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0" y="1600200"/>
            <a:ext cx="5486400" cy="1371600"/>
          </a:xfrm>
          <a:prstGeom prst="roundRect">
            <a:avLst>
              <a:gd name="adj" fmla="val 12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 b="1">
                <a:solidFill>
                  <a:srgbClr val="E03E3E"/>
                </a:solidFill>
                <a:latin typeface="Malgun Gothic"/>
                <a:ea typeface="Malgun Gothic"/>
              </a:rPr>
              <a:t>🔴🔵  원자핵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원자의 한가운데! 빨간 양성자와 파란 중성자가</a:t>
            </a:r>
            <a:br/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꼭 붙어 있는 단단한 심장이에요.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136391"/>
            <a:ext cx="5486400" cy="1371600"/>
          </a:xfrm>
          <a:prstGeom prst="roundRect">
            <a:avLst>
              <a:gd name="adj" fmla="val 12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 b="1">
                <a:solidFill>
                  <a:srgbClr val="B88600"/>
                </a:solidFill>
                <a:latin typeface="Malgun Gothic"/>
                <a:ea typeface="Malgun Gothic"/>
              </a:rPr>
              <a:t>●  전자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원자핵 주위를 쌩쌩 돌아다니는</a:t>
            </a:r>
            <a:br/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아주 가벼운 꼬마 알갱이예요.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4672583"/>
            <a:ext cx="5486400" cy="1371600"/>
          </a:xfrm>
          <a:prstGeom prst="roundRect">
            <a:avLst>
              <a:gd name="adj" fmla="val 12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 b="1">
                <a:solidFill>
                  <a:srgbClr val="21295C"/>
                </a:solidFill>
                <a:latin typeface="Malgun Gothic"/>
                <a:ea typeface="Malgun Gothic"/>
              </a:rPr>
              <a:t>💥  원자력의 비밀!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이 원자핵이 변할 때 어마어마한 힘이 나와요.</a:t>
            </a:r>
            <a:br/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그 힘이 바로 '원자력'!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21295C"/>
                </a:solidFill>
                <a:latin typeface="Malgun Gothic"/>
                <a:ea typeface="Malgun Gothic"/>
              </a:rPr>
              <a:t>원자핵이 쪼개지면 엄청난 힘이 나와요! 💥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743200"/>
            <a:ext cx="411480" cy="411480"/>
          </a:xfrm>
          <a:prstGeom prst="ellipse">
            <a:avLst/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0"/>
            <a:ext cx="1280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95057"/>
                </a:solidFill>
                <a:latin typeface="Malgun Gothic"/>
                <a:ea typeface="Malgun Gothic"/>
              </a:rPr>
              <a:t>중성자 콩!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508760" y="2788920"/>
            <a:ext cx="457200" cy="347472"/>
          </a:xfrm>
          <a:prstGeom prst="rightArrow">
            <a:avLst/>
          </a:prstGeom>
          <a:solidFill>
            <a:srgbClr val="ADB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48840" y="2148840"/>
            <a:ext cx="1645920" cy="1645920"/>
          </a:xfrm>
          <a:prstGeom prst="ellipse">
            <a:avLst/>
          </a:prstGeom>
          <a:solidFill>
            <a:srgbClr val="FFC93C"/>
          </a:solidFill>
          <a:ln w="25400">
            <a:solidFill>
              <a:srgbClr val="E8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1295C"/>
                </a:solidFill>
                <a:latin typeface="Malgun Gothic"/>
                <a:ea typeface="Malgun Gothic"/>
              </a:rPr>
              <a:t>우라늄</a:t>
            </a:r>
            <a:br/>
            <a:r>
              <a:rPr sz="1500" b="1">
                <a:solidFill>
                  <a:srgbClr val="21295C"/>
                </a:solidFill>
                <a:latin typeface="Malgun Gothic"/>
                <a:ea typeface="Malgun Gothic"/>
              </a:rPr>
              <a:t>원자핵</a:t>
            </a:r>
          </a:p>
        </p:txBody>
      </p:sp>
      <p:sp>
        <p:nvSpPr>
          <p:cNvPr id="8" name="Explosion 7"/>
          <p:cNvSpPr/>
          <p:nvPr/>
        </p:nvSpPr>
        <p:spPr>
          <a:xfrm>
            <a:off x="4114800" y="2194560"/>
            <a:ext cx="1554480" cy="1554480"/>
          </a:xfrm>
          <a:prstGeom prst="irregularSeal1">
            <a:avLst/>
          </a:prstGeom>
          <a:solidFill>
            <a:srgbClr val="F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쫙!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06440" y="2788920"/>
            <a:ext cx="457200" cy="347472"/>
          </a:xfrm>
          <a:prstGeom prst="rightArrow">
            <a:avLst/>
          </a:prstGeom>
          <a:solidFill>
            <a:srgbClr val="ADB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2011680"/>
            <a:ext cx="1005840" cy="1005840"/>
          </a:xfrm>
          <a:prstGeom prst="ellipse">
            <a:avLst/>
          </a:prstGeom>
          <a:solidFill>
            <a:srgbClr val="FFD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92240" y="3154680"/>
            <a:ext cx="1005840" cy="1005840"/>
          </a:xfrm>
          <a:prstGeom prst="ellipse">
            <a:avLst/>
          </a:prstGeom>
          <a:solidFill>
            <a:srgbClr val="FFD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148840"/>
            <a:ext cx="365760" cy="365760"/>
          </a:xfrm>
          <a:prstGeom prst="ellipse">
            <a:avLst/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0" y="2834640"/>
            <a:ext cx="365760" cy="365760"/>
          </a:xfrm>
          <a:prstGeom prst="ellipse">
            <a:avLst/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0" y="3520440"/>
            <a:ext cx="365760" cy="365760"/>
          </a:xfrm>
          <a:prstGeom prst="ellipse">
            <a:avLst/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8595360" y="2240280"/>
            <a:ext cx="1737360" cy="17373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04A00"/>
                </a:solidFill>
                <a:latin typeface="Malgun Gothic"/>
                <a:ea typeface="Malgun Gothic"/>
              </a:rPr>
              <a:t>에너지!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29768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두 조각으로 쪼개지며 열이 팡! 중성자도 톡톡!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92040"/>
            <a:ext cx="10728655" cy="1325880"/>
          </a:xfrm>
          <a:prstGeom prst="roundRect">
            <a:avLst>
              <a:gd name="adj" fmla="val 14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C93C"/>
                </a:solidFill>
                <a:latin typeface="Malgun Gothic"/>
                <a:ea typeface="Malgun Gothic"/>
              </a:rPr>
              <a:t>도미노처럼 계속돼요! 💥💥💥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</a:rPr>
              <a:t>튀어나온 중성자가 옆의 원자핵을 또 쪼개고, 또 쪼개고... 그래서 큰 에너지가 계속 나와요!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E03E3E"/>
                </a:solidFill>
                <a:latin typeface="Malgun Gothic"/>
                <a:ea typeface="Malgun Gothic"/>
              </a:rPr>
              <a:t>⭐ 깜짝 퀴즈 4!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2975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000" b="0">
                <a:solidFill>
                  <a:srgbClr val="21295C"/>
                </a:solidFill>
                <a:latin typeface="Malgun Gothic"/>
                <a:ea typeface="Malgun Gothic"/>
              </a:rPr>
              <a:t>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286000"/>
            <a:ext cx="10180015" cy="2697480"/>
          </a:xfrm>
          <a:prstGeom prst="roundRect">
            <a:avLst>
              <a:gd name="adj" fmla="val 8000"/>
            </a:avLst>
          </a:prstGeom>
          <a:solidFill>
            <a:srgbClr val="E1F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200" b="1">
                <a:solidFill>
                  <a:srgbClr val="21295C"/>
                </a:solidFill>
                <a:latin typeface="Malgun Gothic"/>
                <a:ea typeface="Malgun Gothic"/>
              </a:rPr>
              <a:t>우라늄 원자핵이 쫙! 하고 쪼개질 때</a:t>
            </a:r>
            <a:br/>
            <a:r>
              <a:rPr sz="2200" b="1">
                <a:solidFill>
                  <a:srgbClr val="21295C"/>
                </a:solidFill>
                <a:latin typeface="Malgun Gothic"/>
                <a:ea typeface="Malgun Gothic"/>
              </a:rPr>
              <a:t>나오는 것은 무엇일까요?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0">
                <a:solidFill>
                  <a:srgbClr val="495057"/>
                </a:solidFill>
                <a:latin typeface="Malgun Gothic"/>
                <a:ea typeface="Malgun Gothic"/>
              </a:rPr>
              <a:t>①  무지개      ②  아주 큰 열 에너지      ③  솜사탕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49240"/>
            <a:ext cx="11002975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495057"/>
                </a:solidFill>
                <a:latin typeface="Malgun Gothic"/>
                <a:ea typeface="Malgun Gothic"/>
              </a:rPr>
              <a:t>마음속으로 정했으면, 손가락으로 번호를 들어 보세요! 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</a:rPr>
              <a:t>🎬 영상으로 만나요!  &lt;원자 이야기&gt;</a:t>
            </a:r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822960" y="1645920"/>
            <a:ext cx="5120640" cy="3657600"/>
          </a:xfrm>
          <a:prstGeom prst="roundRect">
            <a:avLst>
              <a:gd name="adj" fmla="val 7000"/>
            </a:avLst>
          </a:prstGeom>
          <a:solidFill>
            <a:srgbClr val="2B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E03E3E"/>
                </a:solidFill>
                <a:latin typeface="Malgun Gothic"/>
                <a:ea typeface="Malgun Gothic"/>
              </a:rPr>
              <a:t>▶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C93C"/>
                </a:solidFill>
                <a:latin typeface="Malgun Gothic"/>
                <a:ea typeface="Malgun Gothic"/>
              </a:rPr>
              <a:t>한국원자력연구원 공식 유튜브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과학하는 원연이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귀여운 캐릭터 '원연이'가 나오는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짧고 쉬운 원자력 영상 채널이에요</a:t>
            </a:r>
          </a:p>
        </p:txBody>
      </p:sp>
      <p:sp>
        <p:nvSpPr>
          <p:cNvPr id="5" name="Rounded Rectangle 4">
            <a:hlinkClick r:id="rId3"/>
          </p:cNvPr>
          <p:cNvSpPr/>
          <p:nvPr/>
        </p:nvSpPr>
        <p:spPr>
          <a:xfrm>
            <a:off x="6263640" y="1645920"/>
            <a:ext cx="5120640" cy="3657600"/>
          </a:xfrm>
          <a:prstGeom prst="roundRect">
            <a:avLst>
              <a:gd name="adj" fmla="val 7000"/>
            </a:avLst>
          </a:prstGeom>
          <a:solidFill>
            <a:srgbClr val="2B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E03E3E"/>
                </a:solidFill>
                <a:latin typeface="Malgun Gothic"/>
                <a:ea typeface="Malgun Gothic"/>
              </a:rPr>
              <a:t>▶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C93C"/>
                </a:solidFill>
                <a:latin typeface="Malgun Gothic"/>
                <a:ea typeface="Malgun Gothic"/>
              </a:rPr>
              <a:t>4분 이내 짧은 영상만 모았어요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"원자란 무엇일까?"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클릭하면 어린이 눈높이의 짧은 영상만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골라서 보여줘요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77840"/>
            <a:ext cx="1054577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9AA5D1"/>
                </a:solidFill>
                <a:latin typeface="Malgun Gothic"/>
                <a:ea typeface="Malgun Gothic"/>
              </a:rPr>
              <a:t>카드를 클릭하면 유튜브로 이동해요 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206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7200" b="0">
                <a:solidFill>
                  <a:srgbClr val="FFFFFF"/>
                </a:solidFill>
                <a:latin typeface="Malgun Gothic"/>
                <a:ea typeface="Malgun Gothic"/>
              </a:rPr>
              <a:t>🏭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3코스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</a:rPr>
              <a:t>전기를 만드는 마법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F0F4FF"/>
                </a:solidFill>
                <a:latin typeface="Malgun Gothic"/>
                <a:ea typeface="Malgun Gothic"/>
              </a:rPr>
              <a:t>원자력발전소는 커다란 물 끓이기 대장!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21295C"/>
                </a:solidFill>
                <a:latin typeface="Malgun Gothic"/>
                <a:ea typeface="Malgun Gothic"/>
              </a:rPr>
              <a:t>원자력발전소 = 아주 커다란 주전자! 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867" y="1691640"/>
            <a:ext cx="2468880" cy="2743200"/>
          </a:xfrm>
          <a:prstGeom prst="roundRect">
            <a:avLst>
              <a:gd name="adj" fmla="val 9000"/>
            </a:avLst>
          </a:prstGeom>
          <a:solidFill>
            <a:srgbClr val="FB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21295C"/>
                </a:solidFill>
                <a:latin typeface="Malgun Gothic"/>
                <a:ea typeface="Malgun Gothic"/>
              </a:rPr>
              <a:t>💥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50" b="1">
                <a:solidFill>
                  <a:srgbClr val="21295C"/>
                </a:solidFill>
                <a:latin typeface="Malgun Gothic"/>
                <a:ea typeface="Malgun Gothic"/>
              </a:rPr>
              <a:t>원자핵이 쪼개져요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핵분열로 아주</a:t>
            </a:r>
            <a:br/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뜨거운 열이 나와요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37179" y="2862072"/>
            <a:ext cx="384048" cy="457200"/>
          </a:xfrm>
          <a:prstGeom prst="rightArrow">
            <a:avLst/>
          </a:prstGeom>
          <a:solidFill>
            <a:srgbClr val="F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1227" y="1691640"/>
            <a:ext cx="2468880" cy="2743200"/>
          </a:xfrm>
          <a:prstGeom prst="roundRect">
            <a:avLst>
              <a:gd name="adj" fmla="val 9000"/>
            </a:avLst>
          </a:prstGeom>
          <a:solidFill>
            <a:srgbClr val="D8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21295C"/>
                </a:solidFill>
                <a:latin typeface="Malgun Gothic"/>
                <a:ea typeface="Malgun Gothic"/>
              </a:rPr>
              <a:t>💨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50" b="1">
                <a:solidFill>
                  <a:srgbClr val="21295C"/>
                </a:solidFill>
                <a:latin typeface="Malgun Gothic"/>
                <a:ea typeface="Malgun Gothic"/>
              </a:rPr>
              <a:t>물을 끓여요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열로 물을 펄펄!</a:t>
            </a:r>
            <a:br/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수증기가 칙칙~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17539" y="2862072"/>
            <a:ext cx="384048" cy="457200"/>
          </a:xfrm>
          <a:prstGeom prst="rightArrow">
            <a:avLst/>
          </a:prstGeom>
          <a:solidFill>
            <a:srgbClr val="F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1587" y="1691640"/>
            <a:ext cx="2468880" cy="2743200"/>
          </a:xfrm>
          <a:prstGeom prst="roundRect">
            <a:avLst>
              <a:gd name="adj" fmla="val 9000"/>
            </a:avLst>
          </a:prstGeom>
          <a:solidFill>
            <a:srgbClr val="E1F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21295C"/>
                </a:solidFill>
                <a:latin typeface="Malgun Gothic"/>
                <a:ea typeface="Malgun Gothic"/>
              </a:rPr>
              <a:t>🌀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50" b="1">
                <a:solidFill>
                  <a:srgbClr val="21295C"/>
                </a:solidFill>
                <a:latin typeface="Malgun Gothic"/>
                <a:ea typeface="Malgun Gothic"/>
              </a:rPr>
              <a:t>바람개비가 돌아요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수증기가 커다란 바람개비</a:t>
            </a:r>
            <a:br/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(터빈)를 빙글빙글!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7899" y="2862072"/>
            <a:ext cx="384048" cy="457200"/>
          </a:xfrm>
          <a:prstGeom prst="rightArrow">
            <a:avLst/>
          </a:prstGeom>
          <a:solidFill>
            <a:srgbClr val="F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81947" y="1691640"/>
            <a:ext cx="2468880" cy="2743200"/>
          </a:xfrm>
          <a:prstGeom prst="roundRect">
            <a:avLst>
              <a:gd name="adj" fmla="val 9000"/>
            </a:avLst>
          </a:prstGeom>
          <a:solidFill>
            <a:srgbClr val="FFF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21295C"/>
                </a:solidFill>
                <a:latin typeface="Malgun Gothic"/>
                <a:ea typeface="Malgun Gothic"/>
              </a:rPr>
              <a:t>💡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50" b="1">
                <a:solidFill>
                  <a:srgbClr val="21295C"/>
                </a:solidFill>
                <a:latin typeface="Malgun Gothic"/>
                <a:ea typeface="Malgun Gothic"/>
              </a:rPr>
              <a:t>전기가 반짝!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발전기가 돌면서</a:t>
            </a:r>
            <a:br/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전기가 만들어져요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4937760"/>
            <a:ext cx="9265615" cy="1188720"/>
          </a:xfrm>
          <a:prstGeom prst="roundRect">
            <a:avLst>
              <a:gd name="adj" fmla="val 30000"/>
            </a:avLst>
          </a:prstGeom>
          <a:solidFill>
            <a:srgbClr val="FFE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500" b="0">
                <a:solidFill>
                  <a:srgbClr val="495057"/>
                </a:solidFill>
                <a:latin typeface="Malgun Gothic"/>
                <a:ea typeface="Malgun Gothic"/>
              </a:rPr>
              <a:t>주전자 물이 끓으면 뚜껑이 달그락달그락 움직이죠?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21295C"/>
                </a:solidFill>
                <a:latin typeface="Malgun Gothic"/>
                <a:ea typeface="Malgun Gothic"/>
              </a:rPr>
              <a:t>그 수증기의 힘으로 바람개비를 돌려서 전기를 만드는 거예요!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</a:rPr>
              <a:t>🎬 영상으로 만나요!  &lt;원자력발전소&gt;</a:t>
            </a:r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822960" y="1645920"/>
            <a:ext cx="5120640" cy="3657600"/>
          </a:xfrm>
          <a:prstGeom prst="roundRect">
            <a:avLst>
              <a:gd name="adj" fmla="val 7000"/>
            </a:avLst>
          </a:prstGeom>
          <a:solidFill>
            <a:srgbClr val="2B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E03E3E"/>
                </a:solidFill>
                <a:latin typeface="Malgun Gothic"/>
                <a:ea typeface="Malgun Gothic"/>
              </a:rPr>
              <a:t>▶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C93C"/>
                </a:solidFill>
                <a:latin typeface="Malgun Gothic"/>
                <a:ea typeface="Malgun Gothic"/>
              </a:rPr>
              <a:t>서울특별시교육청 융합과학교육원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원자력 발전의 원리와</a:t>
            </a:r>
            <a:br/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발전소의 구조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교육청 선생님들이 만든 공식 영상!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발전소 속을 차근차근 보여줘요</a:t>
            </a:r>
          </a:p>
        </p:txBody>
      </p:sp>
      <p:sp>
        <p:nvSpPr>
          <p:cNvPr id="5" name="Rounded Rectangle 4">
            <a:hlinkClick r:id="rId3"/>
          </p:cNvPr>
          <p:cNvSpPr/>
          <p:nvPr/>
        </p:nvSpPr>
        <p:spPr>
          <a:xfrm>
            <a:off x="6263640" y="1645920"/>
            <a:ext cx="5120640" cy="3657600"/>
          </a:xfrm>
          <a:prstGeom prst="roundRect">
            <a:avLst>
              <a:gd name="adj" fmla="val 7000"/>
            </a:avLst>
          </a:prstGeom>
          <a:solidFill>
            <a:srgbClr val="2B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E03E3E"/>
                </a:solidFill>
                <a:latin typeface="Malgun Gothic"/>
                <a:ea typeface="Malgun Gothic"/>
              </a:rPr>
              <a:t>▶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C93C"/>
                </a:solidFill>
                <a:latin typeface="Malgun Gothic"/>
                <a:ea typeface="Malgun Gothic"/>
              </a:rPr>
              <a:t>4분 이내 짧은 영상만 모았어요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전기는 어떻게</a:t>
            </a:r>
            <a:br/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만들어질까?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바람개비(터빈)가 전기를 만드는 모습을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짧은 영상으로 볼 수 있어요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77840"/>
            <a:ext cx="1054577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9AA5D1"/>
                </a:solidFill>
                <a:latin typeface="Malgun Gothic"/>
                <a:ea typeface="Malgun Gothic"/>
              </a:rPr>
              <a:t>카드를 클릭하면 유튜브로 이동해요 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21295C"/>
                </a:solidFill>
                <a:latin typeface="Malgun Gothic"/>
                <a:ea typeface="Malgun Gothic"/>
              </a:rPr>
              <a:t>원자력의 힘은 얼마나 셀까? 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6587" y="1600200"/>
            <a:ext cx="3429000" cy="3108960"/>
          </a:xfrm>
          <a:prstGeom prst="roundRect">
            <a:avLst>
              <a:gd name="adj" fmla="val 9000"/>
            </a:avLst>
          </a:prstGeom>
          <a:solidFill>
            <a:srgbClr val="D8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600" b="0">
                <a:solidFill>
                  <a:srgbClr val="21295C"/>
                </a:solidFill>
                <a:latin typeface="Malgun Gothic"/>
                <a:ea typeface="Malgun Gothic"/>
              </a:rPr>
              <a:t>🍬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21295C"/>
                </a:solidFill>
                <a:latin typeface="Malgun Gothic"/>
                <a:ea typeface="Malgun Gothic"/>
              </a:rPr>
              <a:t>조금만 있어도 힘이 세요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495057"/>
                </a:solidFill>
                <a:latin typeface="Malgun Gothic"/>
                <a:ea typeface="Malgun Gothic"/>
              </a:rPr>
              <a:t>사탕만 한 우라늄 조각 하나</a:t>
            </a:r>
            <a:br/>
            <a:r>
              <a:rPr sz="1400" b="0">
                <a:solidFill>
                  <a:srgbClr val="495057"/>
                </a:solidFill>
                <a:latin typeface="Malgun Gothic"/>
                <a:ea typeface="Malgun Gothic"/>
              </a:rPr>
              <a:t>= 코끼리 무게만큼의 석탄(3톤)!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1347" y="1600200"/>
            <a:ext cx="3429000" cy="3108960"/>
          </a:xfrm>
          <a:prstGeom prst="roundRect">
            <a:avLst>
              <a:gd name="adj" fmla="val 9000"/>
            </a:avLst>
          </a:prstGeom>
          <a:solidFill>
            <a:srgbClr val="E1F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600" b="0">
                <a:solidFill>
                  <a:srgbClr val="21295C"/>
                </a:solidFill>
                <a:latin typeface="Malgun Gothic"/>
                <a:ea typeface="Malgun Gothic"/>
              </a:rPr>
              <a:t>🌍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21295C"/>
                </a:solidFill>
                <a:latin typeface="Malgun Gothic"/>
                <a:ea typeface="Malgun Gothic"/>
              </a:rPr>
              <a:t>연기가 안 나요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495057"/>
                </a:solidFill>
                <a:latin typeface="Malgun Gothic"/>
                <a:ea typeface="Malgun Gothic"/>
              </a:rPr>
              <a:t>지구를 뜨겁게 만드는 연기가 거의 없어서</a:t>
            </a:r>
            <a:br/>
            <a:r>
              <a:rPr sz="1400" b="0">
                <a:solidFill>
                  <a:srgbClr val="495057"/>
                </a:solidFill>
                <a:latin typeface="Malgun Gothic"/>
                <a:ea typeface="Malgun Gothic"/>
              </a:rPr>
              <a:t>북극곰도 좋아해요!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76107" y="1600200"/>
            <a:ext cx="3429000" cy="3108960"/>
          </a:xfrm>
          <a:prstGeom prst="roundRect">
            <a:avLst>
              <a:gd name="adj" fmla="val 9000"/>
            </a:avLst>
          </a:prstGeom>
          <a:solidFill>
            <a:srgbClr val="FFF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600" b="0">
                <a:solidFill>
                  <a:srgbClr val="21295C"/>
                </a:solidFill>
                <a:latin typeface="Malgun Gothic"/>
                <a:ea typeface="Malgun Gothic"/>
              </a:rPr>
              <a:t>💡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21295C"/>
                </a:solidFill>
                <a:latin typeface="Malgun Gothic"/>
                <a:ea typeface="Malgun Gothic"/>
              </a:rPr>
              <a:t>전기를 값싸게 듬뿍!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495057"/>
                </a:solidFill>
                <a:latin typeface="Malgun Gothic"/>
                <a:ea typeface="Malgun Gothic"/>
              </a:rPr>
              <a:t>밤낮없이 큰 전기를 만들어서</a:t>
            </a:r>
            <a:br/>
            <a:r>
              <a:rPr sz="1400" b="0">
                <a:solidFill>
                  <a:srgbClr val="495057"/>
                </a:solidFill>
                <a:latin typeface="Malgun Gothic"/>
                <a:ea typeface="Malgun Gothic"/>
              </a:rPr>
              <a:t>우리나라 전기의 약 1/3을 맡고 있어요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120640"/>
            <a:ext cx="11002975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21295C"/>
                </a:solidFill>
                <a:latin typeface="Malgun Gothic"/>
                <a:ea typeface="Malgun Gothic"/>
              </a:rPr>
              <a:t>그래서 세계 30개가 넘는 나라들이 원자력발전소를 쓰고 있어요. 우리나라 기술은 세계 최고 수준! 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E03E3E"/>
                </a:solidFill>
                <a:latin typeface="Malgun Gothic"/>
                <a:ea typeface="Malgun Gothic"/>
              </a:rPr>
              <a:t>⭐ 깜짝 퀴즈 5!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2975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000" b="0">
                <a:solidFill>
                  <a:srgbClr val="21295C"/>
                </a:solidFill>
                <a:latin typeface="Malgun Gothic"/>
                <a:ea typeface="Malgun Gothic"/>
              </a:rPr>
              <a:t>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286000"/>
            <a:ext cx="10180015" cy="2697480"/>
          </a:xfrm>
          <a:prstGeom prst="roundRect">
            <a:avLst>
              <a:gd name="adj" fmla="val 8000"/>
            </a:avLst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200" b="1">
                <a:solidFill>
                  <a:srgbClr val="21295C"/>
                </a:solidFill>
                <a:latin typeface="Malgun Gothic"/>
                <a:ea typeface="Malgun Gothic"/>
              </a:rPr>
              <a:t>원자력발전소는 무엇을 펄펄 끓여서</a:t>
            </a:r>
            <a:br/>
            <a:r>
              <a:rPr sz="2200" b="1">
                <a:solidFill>
                  <a:srgbClr val="21295C"/>
                </a:solidFill>
                <a:latin typeface="Malgun Gothic"/>
                <a:ea typeface="Malgun Gothic"/>
              </a:rPr>
              <a:t>전기를 만들까요?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0">
                <a:solidFill>
                  <a:srgbClr val="495057"/>
                </a:solidFill>
                <a:latin typeface="Malgun Gothic"/>
                <a:ea typeface="Malgun Gothic"/>
              </a:rPr>
              <a:t>①  우유      ②  물      ③  주스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49240"/>
            <a:ext cx="11002975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495057"/>
                </a:solidFill>
                <a:latin typeface="Malgun Gothic"/>
                <a:ea typeface="Malgun Gothic"/>
              </a:rPr>
              <a:t>마음속으로 정했으면, 손가락으로 번호를 들어 보세요! 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206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7200" b="0">
                <a:solidFill>
                  <a:srgbClr val="FFFFFF"/>
                </a:solidFill>
                <a:latin typeface="Malgun Gothic"/>
                <a:ea typeface="Malgun Gothic"/>
              </a:rPr>
              <a:t>🏰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4코스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</a:rPr>
              <a:t>방사선과 안전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F0F4FF"/>
                </a:solidFill>
                <a:latin typeface="Malgun Gothic"/>
                <a:ea typeface="Malgun Gothic"/>
              </a:rPr>
              <a:t>알고 보면 고마운 친구!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21295C"/>
                </a:solidFill>
                <a:latin typeface="Malgun Gothic"/>
                <a:ea typeface="Malgun Gothic"/>
              </a:rPr>
              <a:t>방사선? 알고 보면 고마운 친구예요 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3931920"/>
          </a:xfrm>
          <a:prstGeom prst="roundRect">
            <a:avLst>
              <a:gd name="adj" fmla="val 7000"/>
            </a:avLst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4000" b="0">
                <a:solidFill>
                  <a:srgbClr val="7A5CD6"/>
                </a:solidFill>
                <a:latin typeface="Malgun Gothic"/>
                <a:ea typeface="Malgun Gothic"/>
              </a:rPr>
              <a:t>🎬 💚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21295C"/>
                </a:solidFill>
                <a:latin typeface="Malgun Gothic"/>
                <a:ea typeface="Malgun Gothic"/>
              </a:rPr>
              <a:t>영화 속 방사선은?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495057"/>
                </a:solidFill>
                <a:latin typeface="Malgun Gothic"/>
                <a:ea typeface="Malgun Gothic"/>
              </a:rPr>
              <a:t>거미에 물려 스파이더맨이 되고,</a:t>
            </a:r>
            <a:br/>
            <a:r>
              <a:rPr sz="1600" b="0">
                <a:solidFill>
                  <a:srgbClr val="495057"/>
                </a:solidFill>
                <a:latin typeface="Malgun Gothic"/>
                <a:ea typeface="Malgun Gothic"/>
              </a:rPr>
              <a:t>헐크처럼 초록 거인이 되고...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7A5CD6"/>
                </a:solidFill>
                <a:latin typeface="Malgun Gothic"/>
                <a:ea typeface="Malgun Gothic"/>
              </a:rPr>
              <a:t>그건 모두 영화 속 상상이에요! 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212080" cy="3931920"/>
          </a:xfrm>
          <a:prstGeom prst="roundRect">
            <a:avLst>
              <a:gd name="adj" fmla="val 7000"/>
            </a:avLst>
          </a:prstGeom>
          <a:solidFill>
            <a:srgbClr val="E1F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4000" b="0">
                <a:solidFill>
                  <a:srgbClr val="2F9E44"/>
                </a:solidFill>
                <a:latin typeface="Malgun Gothic"/>
                <a:ea typeface="Malgun Gothic"/>
              </a:rPr>
              <a:t>☀️ 🍌 🗻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21295C"/>
                </a:solidFill>
                <a:latin typeface="Malgun Gothic"/>
                <a:ea typeface="Malgun Gothic"/>
              </a:rPr>
              <a:t>진짜 방사선은?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495057"/>
                </a:solidFill>
                <a:latin typeface="Malgun Gothic"/>
                <a:ea typeface="Malgun Gothic"/>
              </a:rPr>
              <a:t>햇빛에도, 바나나에도, 땅과 돌에도</a:t>
            </a:r>
            <a:br/>
            <a:r>
              <a:rPr sz="1600" b="0">
                <a:solidFill>
                  <a:srgbClr val="495057"/>
                </a:solidFill>
                <a:latin typeface="Malgun Gothic"/>
                <a:ea typeface="Malgun Gothic"/>
              </a:rPr>
              <a:t>원래부터 아주 조금씩 들어 있어요.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2F9E44"/>
                </a:solidFill>
                <a:latin typeface="Malgun Gothic"/>
                <a:ea typeface="Malgun Gothic"/>
              </a:rPr>
              <a:t>눈에 안 보이는 에너지 빛이에요!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15000"/>
            <a:ext cx="10728655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495057"/>
                </a:solidFill>
                <a:latin typeface="Malgun Gothic"/>
                <a:ea typeface="Malgun Gothic"/>
              </a:rPr>
              <a:t>과학자들이 특별한 기계로 방사선을 늘 재면서 우리를 안전하게 지켜주고 있어요. 안심! 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21295C"/>
                </a:solidFill>
                <a:latin typeface="Malgun Gothic"/>
                <a:ea typeface="Malgun Gothic"/>
              </a:rPr>
              <a:t>방사선은 이런 데 쓰여요! 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3707" y="1645920"/>
            <a:ext cx="2606040" cy="3017520"/>
          </a:xfrm>
          <a:prstGeom prst="roundRect">
            <a:avLst>
              <a:gd name="adj" fmla="val 9000"/>
            </a:avLst>
          </a:prstGeom>
          <a:solidFill>
            <a:srgbClr val="D8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200" b="0">
                <a:solidFill>
                  <a:srgbClr val="21295C"/>
                </a:solidFill>
                <a:latin typeface="Malgun Gothic"/>
                <a:ea typeface="Malgun Gothic"/>
              </a:rPr>
              <a:t>🏥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21295C"/>
                </a:solidFill>
                <a:latin typeface="Malgun Gothic"/>
                <a:ea typeface="Malgun Gothic"/>
              </a:rPr>
              <a:t>병원에서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엑스레이로 뼈 사진을 찰칵!</a:t>
            </a:r>
            <a:br/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아픈 곳도 치료해요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29787" y="1645920"/>
            <a:ext cx="2606040" cy="3017520"/>
          </a:xfrm>
          <a:prstGeom prst="roundRect">
            <a:avLst>
              <a:gd name="adj" fmla="val 9000"/>
            </a:avLst>
          </a:prstGeom>
          <a:solidFill>
            <a:srgbClr val="FFF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200" b="0">
                <a:solidFill>
                  <a:srgbClr val="21295C"/>
                </a:solidFill>
                <a:latin typeface="Malgun Gothic"/>
                <a:ea typeface="Malgun Gothic"/>
              </a:rPr>
              <a:t>✈️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21295C"/>
                </a:solidFill>
                <a:latin typeface="Malgun Gothic"/>
                <a:ea typeface="Malgun Gothic"/>
              </a:rPr>
              <a:t>공항에서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가방을 열지 않고도</a:t>
            </a:r>
            <a:br/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속을 들여다봐요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5867" y="1645920"/>
            <a:ext cx="2606040" cy="3017520"/>
          </a:xfrm>
          <a:prstGeom prst="roundRect">
            <a:avLst>
              <a:gd name="adj" fmla="val 9000"/>
            </a:avLst>
          </a:prstGeom>
          <a:solidFill>
            <a:srgbClr val="E1F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200" b="0">
                <a:solidFill>
                  <a:srgbClr val="21295C"/>
                </a:solidFill>
                <a:latin typeface="Malgun Gothic"/>
                <a:ea typeface="Malgun Gothic"/>
              </a:rPr>
              <a:t>🌱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21295C"/>
                </a:solidFill>
                <a:latin typeface="Malgun Gothic"/>
                <a:ea typeface="Malgun Gothic"/>
              </a:rPr>
              <a:t>농사에서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감자 · 양파에 싹이 나지 않게</a:t>
            </a:r>
            <a:br/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오래 보관하게 도와줘요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1947" y="1645920"/>
            <a:ext cx="2606040" cy="3017520"/>
          </a:xfrm>
          <a:prstGeom prst="roundRect">
            <a:avLst>
              <a:gd name="adj" fmla="val 9000"/>
            </a:avLst>
          </a:prstGeom>
          <a:solidFill>
            <a:srgbClr val="FFE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200" b="0">
                <a:solidFill>
                  <a:srgbClr val="21295C"/>
                </a:solidFill>
                <a:latin typeface="Malgun Gothic"/>
                <a:ea typeface="Malgun Gothic"/>
              </a:rPr>
              <a:t>🔧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21295C"/>
                </a:solidFill>
                <a:latin typeface="Malgun Gothic"/>
                <a:ea typeface="Malgun Gothic"/>
              </a:rPr>
              <a:t>공장에서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기계 속에 금이 갔는지</a:t>
            </a:r>
            <a:br/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부수지 않고 검사해요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74920"/>
            <a:ext cx="11002975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21295C"/>
                </a:solidFill>
                <a:latin typeface="Malgun Gothic"/>
                <a:ea typeface="Malgun Gothic"/>
              </a:rPr>
              <a:t>잘 알고 조심해서 쓰면, 방사선은 우리를 도와주는 고마운 친구예요!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E03E3E"/>
                </a:solidFill>
                <a:latin typeface="Malgun Gothic"/>
                <a:ea typeface="Malgun Gothic"/>
              </a:rPr>
              <a:t>⭐ 깜짝 퀴즈 6!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2975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000" b="0">
                <a:solidFill>
                  <a:srgbClr val="21295C"/>
                </a:solidFill>
                <a:latin typeface="Malgun Gothic"/>
                <a:ea typeface="Malgun Gothic"/>
              </a:rPr>
              <a:t>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286000"/>
            <a:ext cx="10180015" cy="2697480"/>
          </a:xfrm>
          <a:prstGeom prst="roundRect">
            <a:avLst>
              <a:gd name="adj" fmla="val 8000"/>
            </a:avLst>
          </a:prstGeom>
          <a:solidFill>
            <a:srgbClr val="FFE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200" b="1">
                <a:solidFill>
                  <a:srgbClr val="21295C"/>
                </a:solidFill>
                <a:latin typeface="Malgun Gothic"/>
                <a:ea typeface="Malgun Gothic"/>
              </a:rPr>
              <a:t>OX 퀴즈! 방사선은 바나나에도</a:t>
            </a:r>
            <a:br/>
            <a:r>
              <a:rPr sz="2200" b="1">
                <a:solidFill>
                  <a:srgbClr val="21295C"/>
                </a:solidFill>
                <a:latin typeface="Malgun Gothic"/>
                <a:ea typeface="Malgun Gothic"/>
              </a:rPr>
              <a:t>아주 조금 들어 있다?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0">
                <a:solidFill>
                  <a:srgbClr val="495057"/>
                </a:solidFill>
                <a:latin typeface="Malgun Gothic"/>
                <a:ea typeface="Malgun Gothic"/>
              </a:rPr>
              <a:t>⭕  맞다!      ❌  아니다!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49240"/>
            <a:ext cx="11002975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495057"/>
                </a:solidFill>
                <a:latin typeface="Malgun Gothic"/>
                <a:ea typeface="Malgun Gothic"/>
              </a:rPr>
              <a:t>팔로 크게 ⭕ 나 ❌ 를 만들어 보세요! 💪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21295C"/>
                </a:solidFill>
                <a:latin typeface="Malgun Gothic"/>
                <a:ea typeface="Malgun Gothic"/>
              </a:rPr>
              <a:t>다섯 겹 갑옷을 입은 발전소 🏰</a:t>
            </a:r>
          </a:p>
        </p:txBody>
      </p:sp>
      <p:sp>
        <p:nvSpPr>
          <p:cNvPr id="4" name="Oval 3"/>
          <p:cNvSpPr/>
          <p:nvPr/>
        </p:nvSpPr>
        <p:spPr>
          <a:xfrm>
            <a:off x="1005840" y="1737360"/>
            <a:ext cx="4206240" cy="4206240"/>
          </a:xfrm>
          <a:prstGeom prst="ellipse">
            <a:avLst/>
          </a:prstGeom>
          <a:solidFill>
            <a:srgbClr val="C6D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17319" y="2148840"/>
            <a:ext cx="3383280" cy="3383280"/>
          </a:xfrm>
          <a:prstGeom prst="ellipse">
            <a:avLst/>
          </a:prstGeom>
          <a:solidFill>
            <a:srgbClr val="ADC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0" y="2560320"/>
            <a:ext cx="2560320" cy="2560320"/>
          </a:xfrm>
          <a:prstGeom prst="ellipse">
            <a:avLst/>
          </a:prstGeom>
          <a:solidFill>
            <a:srgbClr val="8E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40280" y="2971800"/>
            <a:ext cx="1737360" cy="1737360"/>
          </a:xfrm>
          <a:prstGeom prst="ellipse">
            <a:avLst/>
          </a:prstGeom>
          <a:solidFill>
            <a:srgbClr val="6C9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51760" y="3383280"/>
            <a:ext cx="914400" cy="914400"/>
          </a:xfrm>
          <a:prstGeom prst="ellipse">
            <a:avLst/>
          </a:prstGeom>
          <a:solidFill>
            <a:srgbClr val="F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356616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연료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508760"/>
            <a:ext cx="5669280" cy="841248"/>
          </a:xfrm>
          <a:prstGeom prst="roundRect">
            <a:avLst>
              <a:gd name="adj" fmla="val 28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37160"/>
          <a:lstStyle/>
          <a:p>
            <a:pPr algn="l"/>
            <a:r>
              <a:rPr sz="1600" b="1">
                <a:solidFill>
                  <a:srgbClr val="21295C"/>
                </a:solidFill>
                <a:latin typeface="Malgun Gothic"/>
                <a:ea typeface="Malgun Gothic"/>
              </a:rPr>
              <a:t>① 단단한 알갱이   </a:t>
            </a: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연료를 사탕처럼 단단하게 구워요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2468880"/>
            <a:ext cx="5669280" cy="841248"/>
          </a:xfrm>
          <a:prstGeom prst="roundRect">
            <a:avLst>
              <a:gd name="adj" fmla="val 28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37160"/>
          <a:lstStyle/>
          <a:p>
            <a:pPr algn="l"/>
            <a:r>
              <a:rPr sz="1600" b="1">
                <a:solidFill>
                  <a:srgbClr val="21295C"/>
                </a:solidFill>
                <a:latin typeface="Malgun Gothic"/>
                <a:ea typeface="Malgun Gothic"/>
              </a:rPr>
              <a:t>② 튼튼한 금속 막대   </a:t>
            </a: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알갱이를 금속 막대 속에 쏙!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3429000"/>
            <a:ext cx="5669280" cy="841248"/>
          </a:xfrm>
          <a:prstGeom prst="roundRect">
            <a:avLst>
              <a:gd name="adj" fmla="val 28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37160"/>
          <a:lstStyle/>
          <a:p>
            <a:pPr algn="l"/>
            <a:r>
              <a:rPr sz="1600" b="1">
                <a:solidFill>
                  <a:srgbClr val="21295C"/>
                </a:solidFill>
                <a:latin typeface="Malgun Gothic"/>
                <a:ea typeface="Malgun Gothic"/>
              </a:rPr>
              <a:t>③ 두꺼운 강철통   </a:t>
            </a: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막대들을 25cm 강철통 안에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4389120"/>
            <a:ext cx="5669280" cy="841248"/>
          </a:xfrm>
          <a:prstGeom prst="roundRect">
            <a:avLst>
              <a:gd name="adj" fmla="val 28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37160"/>
          <a:lstStyle/>
          <a:p>
            <a:pPr algn="l"/>
            <a:r>
              <a:rPr sz="1600" b="1">
                <a:solidFill>
                  <a:srgbClr val="21295C"/>
                </a:solidFill>
                <a:latin typeface="Malgun Gothic"/>
                <a:ea typeface="Malgun Gothic"/>
              </a:rPr>
              <a:t>④ 강철판 벽   </a:t>
            </a: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강철통을 강철판이 또 감싸요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5349240"/>
            <a:ext cx="5669280" cy="841248"/>
          </a:xfrm>
          <a:prstGeom prst="roundRect">
            <a:avLst>
              <a:gd name="adj" fmla="val 28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37160"/>
          <a:lstStyle/>
          <a:p>
            <a:pPr algn="l"/>
            <a:r>
              <a:rPr sz="1600" b="1">
                <a:solidFill>
                  <a:srgbClr val="21295C"/>
                </a:solidFill>
                <a:latin typeface="Malgun Gothic"/>
                <a:ea typeface="Malgun Gothic"/>
              </a:rPr>
              <a:t>⑤ 초대형 콘크리트 건물   </a:t>
            </a: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1m 20cm 두께! 교실 벽의 6배!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263640"/>
            <a:ext cx="110029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495057"/>
                </a:solidFill>
                <a:latin typeface="Malgun Gothic"/>
                <a:ea typeface="Malgun Gothic"/>
              </a:rPr>
              <a:t>언제나 안심할 수 있도록 다섯 겹으로 튼튼하게! 과학자들이 24시간 지키고 있어요!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E03E3E"/>
                </a:solidFill>
                <a:latin typeface="Malgun Gothic"/>
                <a:ea typeface="Malgun Gothic"/>
              </a:rPr>
              <a:t>⭐ 깜짝 퀴즈 7!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2975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000" b="0">
                <a:solidFill>
                  <a:srgbClr val="21295C"/>
                </a:solidFill>
                <a:latin typeface="Malgun Gothic"/>
                <a:ea typeface="Malgun Gothic"/>
              </a:rPr>
              <a:t>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286000"/>
            <a:ext cx="10180015" cy="2697480"/>
          </a:xfrm>
          <a:prstGeom prst="roundRect">
            <a:avLst>
              <a:gd name="adj" fmla="val 8000"/>
            </a:avLst>
          </a:prstGeom>
          <a:solidFill>
            <a:srgbClr val="FB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200" b="1">
                <a:solidFill>
                  <a:srgbClr val="21295C"/>
                </a:solidFill>
                <a:latin typeface="Malgun Gothic"/>
                <a:ea typeface="Malgun Gothic"/>
              </a:rPr>
              <a:t>원자력발전소가 입고 있는</a:t>
            </a:r>
            <a:br/>
            <a:r>
              <a:rPr sz="2200" b="1">
                <a:solidFill>
                  <a:srgbClr val="21295C"/>
                </a:solidFill>
                <a:latin typeface="Malgun Gothic"/>
                <a:ea typeface="Malgun Gothic"/>
              </a:rPr>
              <a:t>튼튼한 갑옷은 모두 몇 겹일까요?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0">
                <a:solidFill>
                  <a:srgbClr val="495057"/>
                </a:solidFill>
                <a:latin typeface="Malgun Gothic"/>
                <a:ea typeface="Malgun Gothic"/>
              </a:rPr>
              <a:t>①  두 겹      ②  다섯 겹      ③  백 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49240"/>
            <a:ext cx="11002975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495057"/>
                </a:solidFill>
                <a:latin typeface="Malgun Gothic"/>
                <a:ea typeface="Malgun Gothic"/>
              </a:rPr>
              <a:t>마음속으로 정했으면, 손가락으로 번호를 들어 보세요! 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206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7200" b="0">
                <a:solidFill>
                  <a:srgbClr val="FFFFFF"/>
                </a:solidFill>
                <a:latin typeface="Malgun Gothic"/>
                <a:ea typeface="Malgun Gothic"/>
              </a:rPr>
              <a:t>🚀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5코스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</a:rPr>
              <a:t>미래의 원자력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F0F4FF"/>
                </a:solidFill>
                <a:latin typeface="Malgun Gothic"/>
                <a:ea typeface="Malgun Gothic"/>
              </a:rPr>
              <a:t>인공태양부터 우주 배터리까지!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21295C"/>
                </a:solidFill>
                <a:latin typeface="Malgun Gothic"/>
                <a:ea typeface="Malgun Gothic"/>
              </a:rPr>
              <a:t>미래의 원자력, 미리 구경해요! 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3707" y="1600200"/>
            <a:ext cx="2606040" cy="3383280"/>
          </a:xfrm>
          <a:prstGeom prst="roundRect">
            <a:avLst>
              <a:gd name="adj" fmla="val 9000"/>
            </a:avLst>
          </a:prstGeom>
          <a:solidFill>
            <a:srgbClr val="FB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200" b="0">
                <a:solidFill>
                  <a:srgbClr val="21295C"/>
                </a:solidFill>
                <a:latin typeface="Malgun Gothic"/>
                <a:ea typeface="Malgun Gothic"/>
              </a:rPr>
              <a:t>🌞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50" b="1">
                <a:solidFill>
                  <a:srgbClr val="21295C"/>
                </a:solidFill>
                <a:latin typeface="Malgun Gothic"/>
                <a:ea typeface="Malgun Gothic"/>
              </a:rPr>
              <a:t>인공태양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태양처럼 원자핵을 합쳐서</a:t>
            </a:r>
            <a:br/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힘을 얻어요. 1억 도!</a:t>
            </a:r>
            <a:br/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(한국 'KSTAR'가 세계 최고 기록!)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29787" y="1600200"/>
            <a:ext cx="2606040" cy="3383280"/>
          </a:xfrm>
          <a:prstGeom prst="roundRect">
            <a:avLst>
              <a:gd name="adj" fmla="val 9000"/>
            </a:avLst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200" b="0">
                <a:solidFill>
                  <a:srgbClr val="21295C"/>
                </a:solidFill>
                <a:latin typeface="Malgun Gothic"/>
                <a:ea typeface="Malgun Gothic"/>
              </a:rPr>
              <a:t>🔋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50" b="1">
                <a:solidFill>
                  <a:srgbClr val="21295C"/>
                </a:solidFill>
                <a:latin typeface="Malgun Gothic"/>
                <a:ea typeface="Malgun Gothic"/>
              </a:rPr>
              <a:t>우주 배터리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달나라, 우주에서 10년 넘게</a:t>
            </a:r>
            <a:br/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작동하는 원자력 전지!</a:t>
            </a:r>
            <a:br/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우리나라도 만들었어요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5867" y="1600200"/>
            <a:ext cx="2606040" cy="3383280"/>
          </a:xfrm>
          <a:prstGeom prst="roundRect">
            <a:avLst>
              <a:gd name="adj" fmla="val 9000"/>
            </a:avLst>
          </a:prstGeom>
          <a:solidFill>
            <a:srgbClr val="D8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200" b="0">
                <a:solidFill>
                  <a:srgbClr val="21295C"/>
                </a:solidFill>
                <a:latin typeface="Malgun Gothic"/>
                <a:ea typeface="Malgun Gothic"/>
              </a:rPr>
              <a:t>📦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50" b="1">
                <a:solidFill>
                  <a:srgbClr val="21295C"/>
                </a:solidFill>
                <a:latin typeface="Malgun Gothic"/>
                <a:ea typeface="Malgun Gothic"/>
              </a:rPr>
              <a:t>미니 발전소 SMR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작지만 야무진 발전소!</a:t>
            </a:r>
            <a:br/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필요한 곳에 쏙 지을 수 있고</a:t>
            </a:r>
            <a:br/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더 안전해요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1947" y="1600200"/>
            <a:ext cx="2606040" cy="3383280"/>
          </a:xfrm>
          <a:prstGeom prst="roundRect">
            <a:avLst>
              <a:gd name="adj" fmla="val 9000"/>
            </a:avLst>
          </a:prstGeom>
          <a:solidFill>
            <a:srgbClr val="E1F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200" b="0">
                <a:solidFill>
                  <a:srgbClr val="21295C"/>
                </a:solidFill>
                <a:latin typeface="Malgun Gothic"/>
                <a:ea typeface="Malgun Gothic"/>
              </a:rPr>
              <a:t>🚰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50" b="1">
                <a:solidFill>
                  <a:srgbClr val="21295C"/>
                </a:solidFill>
                <a:latin typeface="Malgun Gothic"/>
                <a:ea typeface="Malgun Gothic"/>
              </a:rPr>
              <a:t>바닷물이 마실 물로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'SMART' 원자로는 전기도 만들고</a:t>
            </a:r>
            <a:br/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바닷물을 마실 물로</a:t>
            </a:r>
            <a:br/>
            <a:r>
              <a:rPr sz="1300" b="0">
                <a:solidFill>
                  <a:srgbClr val="495057"/>
                </a:solidFill>
                <a:latin typeface="Malgun Gothic"/>
                <a:ea typeface="Malgun Gothic"/>
              </a:rPr>
              <a:t>바꿔줄 수도 있어요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49240"/>
            <a:ext cx="11002975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21295C"/>
                </a:solidFill>
                <a:latin typeface="Malgun Gothic"/>
                <a:ea typeface="Malgun Gothic"/>
              </a:rPr>
              <a:t>이 모든 걸 한국원자력연구원의 과학자들이 열심히 연구하고 있어요! ✨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E03E3E"/>
                </a:solidFill>
                <a:latin typeface="Malgun Gothic"/>
                <a:ea typeface="Malgun Gothic"/>
              </a:rPr>
              <a:t>⭐ 깜짝 퀴즈 8!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2975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000" b="0">
                <a:solidFill>
                  <a:srgbClr val="21295C"/>
                </a:solidFill>
                <a:latin typeface="Malgun Gothic"/>
                <a:ea typeface="Malgun Gothic"/>
              </a:rPr>
              <a:t>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286000"/>
            <a:ext cx="10180015" cy="2697480"/>
          </a:xfrm>
          <a:prstGeom prst="roundRect">
            <a:avLst>
              <a:gd name="adj" fmla="val 8000"/>
            </a:avLst>
          </a:prstGeom>
          <a:solidFill>
            <a:srgbClr val="D8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200" b="1">
                <a:solidFill>
                  <a:srgbClr val="21295C"/>
                </a:solidFill>
                <a:latin typeface="Malgun Gothic"/>
                <a:ea typeface="Malgun Gothic"/>
              </a:rPr>
              <a:t>우리나라가 만든 인공태양의</a:t>
            </a:r>
            <a:br/>
            <a:r>
              <a:rPr sz="2200" b="1">
                <a:solidFill>
                  <a:srgbClr val="21295C"/>
                </a:solidFill>
                <a:latin typeface="Malgun Gothic"/>
                <a:ea typeface="Malgun Gothic"/>
              </a:rPr>
              <a:t>이름은 무엇일까요?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0">
                <a:solidFill>
                  <a:srgbClr val="495057"/>
                </a:solidFill>
                <a:latin typeface="Malgun Gothic"/>
                <a:ea typeface="Malgun Gothic"/>
              </a:rPr>
              <a:t>①  KSTAR      ②  별사탕      ③  해님이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49240"/>
            <a:ext cx="11002975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495057"/>
                </a:solidFill>
                <a:latin typeface="Malgun Gothic"/>
                <a:ea typeface="Malgun Gothic"/>
              </a:rPr>
              <a:t>마음속으로 정했으면, 손가락으로 번호를 들어 보세요! 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</a:rPr>
              <a:t>🎬 영상으로 만나요!  &lt;한국의 인공태양&gt;</a:t>
            </a:r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822960" y="1645920"/>
            <a:ext cx="5120640" cy="3657600"/>
          </a:xfrm>
          <a:prstGeom prst="roundRect">
            <a:avLst>
              <a:gd name="adj" fmla="val 7000"/>
            </a:avLst>
          </a:prstGeom>
          <a:solidFill>
            <a:srgbClr val="2B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E03E3E"/>
                </a:solidFill>
                <a:latin typeface="Malgun Gothic"/>
                <a:ea typeface="Malgun Gothic"/>
              </a:rPr>
              <a:t>▶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C93C"/>
                </a:solidFill>
                <a:latin typeface="Malgun Gothic"/>
                <a:ea typeface="Malgun Gothic"/>
              </a:rPr>
              <a:t>YTN 뉴스 (약 2분)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한국이 만든 인공태양</a:t>
            </a:r>
            <a:br/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'KSTAR' 세계 기록!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우리나라 인공태양이 세운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세계 최초 기록, 2분 뉴스 영상</a:t>
            </a:r>
          </a:p>
        </p:txBody>
      </p:sp>
      <p:sp>
        <p:nvSpPr>
          <p:cNvPr id="5" name="Rounded Rectangle 4">
            <a:hlinkClick r:id="rId3"/>
          </p:cNvPr>
          <p:cNvSpPr/>
          <p:nvPr/>
        </p:nvSpPr>
        <p:spPr>
          <a:xfrm>
            <a:off x="6263640" y="1645920"/>
            <a:ext cx="5120640" cy="3657600"/>
          </a:xfrm>
          <a:prstGeom prst="roundRect">
            <a:avLst>
              <a:gd name="adj" fmla="val 7000"/>
            </a:avLst>
          </a:prstGeom>
          <a:solidFill>
            <a:srgbClr val="2B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E03E3E"/>
                </a:solidFill>
                <a:latin typeface="Malgun Gothic"/>
                <a:ea typeface="Malgun Gothic"/>
              </a:rPr>
              <a:t>▶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C93C"/>
                </a:solidFill>
                <a:latin typeface="Malgun Gothic"/>
                <a:ea typeface="Malgun Gothic"/>
              </a:rPr>
              <a:t>4분 이내 짧은 영상만 모았어요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"인공태양 KSTAR"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진짜 인공태양의 모습을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짧은 영상으로 골라 볼 수 있어요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77840"/>
            <a:ext cx="1054577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9AA5D1"/>
                </a:solidFill>
                <a:latin typeface="Malgun Gothic"/>
                <a:ea typeface="Malgun Gothic"/>
              </a:rPr>
              <a:t>카드를 클릭하면 유튜브로 이동해요 👆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21295C"/>
                </a:solidFill>
                <a:latin typeface="Malgun Gothic"/>
                <a:ea typeface="Malgun Gothic"/>
              </a:rPr>
              <a:t>더 보고 싶은 친구들을 위한 영상 꾸러미 🎁</a:t>
            </a:r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495147" y="1508760"/>
            <a:ext cx="3520440" cy="1965960"/>
          </a:xfrm>
          <a:prstGeom prst="roundRect">
            <a:avLst>
              <a:gd name="adj" fmla="val 9000"/>
            </a:avLst>
          </a:prstGeom>
          <a:solidFill>
            <a:srgbClr val="D8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0">
                <a:solidFill>
                  <a:srgbClr val="21295C"/>
                </a:solidFill>
                <a:latin typeface="Malgun Gothic"/>
                <a:ea typeface="Malgun Gothic"/>
              </a:rPr>
              <a:t>🔬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21295C"/>
                </a:solidFill>
                <a:latin typeface="Malgun Gothic"/>
                <a:ea typeface="Malgun Gothic"/>
              </a:rPr>
              <a:t>과학하는 원연이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495057"/>
                </a:solidFill>
                <a:latin typeface="Malgun Gothic"/>
                <a:ea typeface="Malgun Gothic"/>
                <a:hlinkClick r:id="rId2"/>
              </a:rPr>
              <a:t>원자력연구원 공식!</a:t>
            </a:r>
            <a:br/>
            <a:r>
              <a:rPr sz="1200" b="0">
                <a:solidFill>
                  <a:srgbClr val="495057"/>
                </a:solidFill>
                <a:latin typeface="Malgun Gothic"/>
                <a:ea typeface="Malgun Gothic"/>
                <a:hlinkClick r:id="rId2"/>
              </a:rPr>
              <a:t>쉽고 재미있는 원자력 이야기</a:t>
            </a:r>
          </a:p>
        </p:txBody>
      </p:sp>
      <p:sp>
        <p:nvSpPr>
          <p:cNvPr id="5" name="Rounded Rectangle 4">
            <a:hlinkClick r:id="rId3"/>
          </p:cNvPr>
          <p:cNvSpPr/>
          <p:nvPr/>
        </p:nvSpPr>
        <p:spPr>
          <a:xfrm>
            <a:off x="4335627" y="1508760"/>
            <a:ext cx="3520440" cy="1965960"/>
          </a:xfrm>
          <a:prstGeom prst="roundRect">
            <a:avLst>
              <a:gd name="adj" fmla="val 9000"/>
            </a:avLst>
          </a:prstGeom>
          <a:solidFill>
            <a:srgbClr val="FFF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0">
                <a:solidFill>
                  <a:srgbClr val="21295C"/>
                </a:solidFill>
                <a:latin typeface="Malgun Gothic"/>
                <a:ea typeface="Malgun Gothic"/>
              </a:rPr>
              <a:t>🏢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21295C"/>
                </a:solidFill>
                <a:latin typeface="Malgun Gothic"/>
                <a:ea typeface="Malgun Gothic"/>
              </a:rPr>
              <a:t>한국원자력연구원 KAERI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495057"/>
                </a:solidFill>
                <a:latin typeface="Malgun Gothic"/>
                <a:ea typeface="Malgun Gothic"/>
                <a:hlinkClick r:id="rId3"/>
              </a:rPr>
              <a:t>진짜 연구소의 신기한</a:t>
            </a:r>
            <a:br/>
            <a:r>
              <a:rPr sz="1200" b="0">
                <a:solidFill>
                  <a:srgbClr val="495057"/>
                </a:solidFill>
                <a:latin typeface="Malgun Gothic"/>
                <a:ea typeface="Malgun Gothic"/>
                <a:hlinkClick r:id="rId3"/>
              </a:rPr>
              <a:t>연구 이야기</a:t>
            </a:r>
          </a:p>
        </p:txBody>
      </p:sp>
      <p:sp>
        <p:nvSpPr>
          <p:cNvPr id="6" name="Rounded Rectangle 5">
            <a:hlinkClick r:id="rId4"/>
          </p:cNvPr>
          <p:cNvSpPr/>
          <p:nvPr/>
        </p:nvSpPr>
        <p:spPr>
          <a:xfrm>
            <a:off x="8176107" y="1508760"/>
            <a:ext cx="3520440" cy="1965960"/>
          </a:xfrm>
          <a:prstGeom prst="roundRect">
            <a:avLst>
              <a:gd name="adj" fmla="val 9000"/>
            </a:avLst>
          </a:prstGeom>
          <a:solidFill>
            <a:srgbClr val="FFE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0">
                <a:solidFill>
                  <a:srgbClr val="21295C"/>
                </a:solidFill>
                <a:latin typeface="Malgun Gothic"/>
                <a:ea typeface="Malgun Gothic"/>
              </a:rPr>
              <a:t>⚡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21295C"/>
                </a:solidFill>
                <a:latin typeface="Malgun Gothic"/>
                <a:ea typeface="Malgun Gothic"/>
              </a:rPr>
              <a:t>한수원 KHNP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495057"/>
                </a:solidFill>
                <a:latin typeface="Malgun Gothic"/>
                <a:ea typeface="Malgun Gothic"/>
                <a:hlinkClick r:id="rId4"/>
              </a:rPr>
              <a:t>원자력발전소를 운영하는</a:t>
            </a:r>
            <a:br/>
            <a:r>
              <a:rPr sz="1200" b="0">
                <a:solidFill>
                  <a:srgbClr val="495057"/>
                </a:solidFill>
                <a:latin typeface="Malgun Gothic"/>
                <a:ea typeface="Malgun Gothic"/>
                <a:hlinkClick r:id="rId4"/>
              </a:rPr>
              <a:t>회사의 이야기</a:t>
            </a:r>
          </a:p>
        </p:txBody>
      </p:sp>
      <p:sp>
        <p:nvSpPr>
          <p:cNvPr id="7" name="Rounded Rectangle 6">
            <a:hlinkClick r:id="rId5"/>
          </p:cNvPr>
          <p:cNvSpPr/>
          <p:nvPr/>
        </p:nvSpPr>
        <p:spPr>
          <a:xfrm>
            <a:off x="495147" y="3749039"/>
            <a:ext cx="3520440" cy="1965960"/>
          </a:xfrm>
          <a:prstGeom prst="roundRect">
            <a:avLst>
              <a:gd name="adj" fmla="val 9000"/>
            </a:avLst>
          </a:prstGeom>
          <a:solidFill>
            <a:srgbClr val="E1F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0">
                <a:solidFill>
                  <a:srgbClr val="21295C"/>
                </a:solidFill>
                <a:latin typeface="Malgun Gothic"/>
                <a:ea typeface="Malgun Gothic"/>
              </a:rPr>
              <a:t>📺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21295C"/>
                </a:solidFill>
                <a:latin typeface="Malgun Gothic"/>
                <a:ea typeface="Malgun Gothic"/>
              </a:rPr>
              <a:t>EBS 클립뱅크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495057"/>
                </a:solidFill>
                <a:latin typeface="Malgun Gothic"/>
                <a:ea typeface="Malgun Gothic"/>
                <a:hlinkClick r:id="rId5"/>
              </a:rPr>
              <a:t>5분 이내 교육 영상 전문!</a:t>
            </a:r>
            <a:br/>
            <a:r>
              <a:rPr sz="1200" b="0">
                <a:solidFill>
                  <a:srgbClr val="495057"/>
                </a:solidFill>
                <a:latin typeface="Malgun Gothic"/>
                <a:ea typeface="Malgun Gothic"/>
                <a:hlinkClick r:id="rId5"/>
              </a:rPr>
              <a:t>'원자력'을 검색해 보세요</a:t>
            </a:r>
          </a:p>
        </p:txBody>
      </p:sp>
      <p:sp>
        <p:nvSpPr>
          <p:cNvPr id="8" name="Rounded Rectangle 7">
            <a:hlinkClick r:id="rId6"/>
          </p:cNvPr>
          <p:cNvSpPr/>
          <p:nvPr/>
        </p:nvSpPr>
        <p:spPr>
          <a:xfrm>
            <a:off x="4335627" y="3749039"/>
            <a:ext cx="3520440" cy="1965960"/>
          </a:xfrm>
          <a:prstGeom prst="roundRect">
            <a:avLst>
              <a:gd name="adj" fmla="val 9000"/>
            </a:avLst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0">
                <a:solidFill>
                  <a:srgbClr val="21295C"/>
                </a:solidFill>
                <a:latin typeface="Malgun Gothic"/>
                <a:ea typeface="Malgun Gothic"/>
              </a:rPr>
              <a:t>📚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21295C"/>
                </a:solidFill>
                <a:latin typeface="Malgun Gothic"/>
                <a:ea typeface="Malgun Gothic"/>
              </a:rPr>
              <a:t>아꿈선 초등3분과학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495057"/>
                </a:solidFill>
                <a:latin typeface="Malgun Gothic"/>
                <a:ea typeface="Malgun Gothic"/>
                <a:hlinkClick r:id="rId6"/>
              </a:rPr>
              <a:t>선생님들이 만든</a:t>
            </a:r>
            <a:br/>
            <a:r>
              <a:rPr sz="1200" b="0">
                <a:solidFill>
                  <a:srgbClr val="495057"/>
                </a:solidFill>
                <a:latin typeface="Malgun Gothic"/>
                <a:ea typeface="Malgun Gothic"/>
                <a:hlinkClick r:id="rId6"/>
              </a:rPr>
              <a:t>3분 초등 과학 영상</a:t>
            </a:r>
          </a:p>
        </p:txBody>
      </p:sp>
      <p:sp>
        <p:nvSpPr>
          <p:cNvPr id="9" name="Rounded Rectangle 8">
            <a:hlinkClick r:id="rId7"/>
          </p:cNvPr>
          <p:cNvSpPr/>
          <p:nvPr/>
        </p:nvSpPr>
        <p:spPr>
          <a:xfrm>
            <a:off x="8176107" y="3749039"/>
            <a:ext cx="3520440" cy="1965960"/>
          </a:xfrm>
          <a:prstGeom prst="roundRect">
            <a:avLst>
              <a:gd name="adj" fmla="val 9000"/>
            </a:avLst>
          </a:prstGeom>
          <a:solidFill>
            <a:srgbClr val="FB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0">
                <a:solidFill>
                  <a:srgbClr val="21295C"/>
                </a:solidFill>
                <a:latin typeface="Malgun Gothic"/>
                <a:ea typeface="Malgun Gothic"/>
              </a:rPr>
              <a:t>🔍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21295C"/>
                </a:solidFill>
                <a:latin typeface="Malgun Gothic"/>
                <a:ea typeface="Malgun Gothic"/>
              </a:rPr>
              <a:t>생활 속 방사선 (짧은 영상)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495057"/>
                </a:solidFill>
                <a:latin typeface="Malgun Gothic"/>
                <a:ea typeface="Malgun Gothic"/>
                <a:hlinkClick r:id="rId7"/>
              </a:rPr>
              <a:t>우리 곁의 고마운 방사선 이야기,</a:t>
            </a:r>
            <a:br/>
            <a:r>
              <a:rPr sz="1200" b="0">
                <a:solidFill>
                  <a:srgbClr val="495057"/>
                </a:solidFill>
                <a:latin typeface="Malgun Gothic"/>
                <a:ea typeface="Malgun Gothic"/>
                <a:hlinkClick r:id="rId7"/>
              </a:rPr>
              <a:t>4분 이내 영상만 골라 봐요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06440"/>
            <a:ext cx="1100297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95057"/>
                </a:solidFill>
                <a:latin typeface="Malgun Gothic"/>
                <a:ea typeface="Malgun Gothic"/>
              </a:rPr>
              <a:t>집에 가서 부모님과 함께 보세요! 카드를 클릭하면 채널로 이동해요 👆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98280" y="1034415"/>
            <a:ext cx="2468880" cy="857250"/>
          </a:xfrm>
          <a:prstGeom prst="ellipse">
            <a:avLst/>
          </a:prstGeom>
          <a:noFill/>
          <a:ln w="3175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3600000">
            <a:off x="9098280" y="1034415"/>
            <a:ext cx="2468880" cy="857250"/>
          </a:xfrm>
          <a:prstGeom prst="ellipse">
            <a:avLst/>
          </a:prstGeom>
          <a:noFill/>
          <a:ln w="3175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7200000">
            <a:off x="9098280" y="1034415"/>
            <a:ext cx="2468880" cy="857250"/>
          </a:xfrm>
          <a:prstGeom prst="ellipse">
            <a:avLst/>
          </a:prstGeom>
          <a:noFill/>
          <a:ln w="3175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78974" y="1250442"/>
            <a:ext cx="288036" cy="288036"/>
          </a:xfrm>
          <a:prstGeom prst="ellipse">
            <a:avLst/>
          </a:prstGeom>
          <a:solidFill>
            <a:srgbClr val="F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98430" y="1250442"/>
            <a:ext cx="288036" cy="288036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88702" y="1415034"/>
            <a:ext cx="288036" cy="288036"/>
          </a:xfrm>
          <a:prstGeom prst="ellipse">
            <a:avLst/>
          </a:prstGeom>
          <a:solidFill>
            <a:srgbClr val="F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69730" y="136017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92840" y="149733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95560" y="794385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"/>
            <a:ext cx="8229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400" b="1">
                <a:solidFill>
                  <a:srgbClr val="FFC93C"/>
                </a:solidFill>
                <a:latin typeface="Malgun Gothic"/>
                <a:ea typeface="Malgun Gothic"/>
              </a:rPr>
              <a:t>오늘의 탐험 완료! 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1600200"/>
            <a:ext cx="7863840" cy="713232"/>
          </a:xfrm>
          <a:prstGeom prst="roundRect">
            <a:avLst>
              <a:gd name="adj" fmla="val 32000"/>
            </a:avLst>
          </a:prstGeom>
          <a:solidFill>
            <a:srgbClr val="2B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0">
                <a:solidFill>
                  <a:srgbClr val="FFC93C"/>
                </a:solidFill>
                <a:latin typeface="Malgun Gothic"/>
                <a:ea typeface="Malgun Gothic"/>
              </a:rPr>
              <a:t>⚡  </a:t>
            </a: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에너지는 일을 하게 만드는 힘!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441448"/>
            <a:ext cx="7863840" cy="713232"/>
          </a:xfrm>
          <a:prstGeom prst="roundRect">
            <a:avLst>
              <a:gd name="adj" fmla="val 32000"/>
            </a:avLst>
          </a:prstGeom>
          <a:solidFill>
            <a:srgbClr val="2B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0">
                <a:solidFill>
                  <a:srgbClr val="FFC93C"/>
                </a:solidFill>
                <a:latin typeface="Malgun Gothic"/>
                <a:ea typeface="Malgun Gothic"/>
              </a:rPr>
              <a:t>🔎  </a:t>
            </a: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세상 모든 것은 아주 작은 '원자'로 만들어졌어요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82696"/>
            <a:ext cx="7863840" cy="713232"/>
          </a:xfrm>
          <a:prstGeom prst="roundRect">
            <a:avLst>
              <a:gd name="adj" fmla="val 32000"/>
            </a:avLst>
          </a:prstGeom>
          <a:solidFill>
            <a:srgbClr val="2B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0">
                <a:solidFill>
                  <a:srgbClr val="FFC93C"/>
                </a:solidFill>
                <a:latin typeface="Malgun Gothic"/>
                <a:ea typeface="Malgun Gothic"/>
              </a:rPr>
              <a:t>🏭  </a:t>
            </a: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원자핵이 쪼개질 때 나오는 열로 물을 끓여 전기를 만들어요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23944"/>
            <a:ext cx="7863840" cy="713232"/>
          </a:xfrm>
          <a:prstGeom prst="roundRect">
            <a:avLst>
              <a:gd name="adj" fmla="val 32000"/>
            </a:avLst>
          </a:prstGeom>
          <a:solidFill>
            <a:srgbClr val="2B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0">
                <a:solidFill>
                  <a:srgbClr val="FFC93C"/>
                </a:solidFill>
                <a:latin typeface="Malgun Gothic"/>
                <a:ea typeface="Malgun Gothic"/>
              </a:rPr>
              <a:t>🏰  </a:t>
            </a: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방사선은 어디에나 조금씩! 다섯 겹 갑옷으로 안전하게 지켜요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965192"/>
            <a:ext cx="7863840" cy="713232"/>
          </a:xfrm>
          <a:prstGeom prst="roundRect">
            <a:avLst>
              <a:gd name="adj" fmla="val 32000"/>
            </a:avLst>
          </a:prstGeom>
          <a:solidFill>
            <a:srgbClr val="2B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0">
                <a:solidFill>
                  <a:srgbClr val="FFC93C"/>
                </a:solidFill>
                <a:latin typeface="Malgun Gothic"/>
                <a:ea typeface="Malgun Gothic"/>
              </a:rPr>
              <a:t>🚀  </a:t>
            </a: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인공태양, 우주 배터리... 미래의 원자력이 자라고 있어요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43600"/>
            <a:ext cx="10545775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FFC93C"/>
                </a:solidFill>
                <a:latin typeface="Malgun Gothic"/>
                <a:ea typeface="Malgun Gothic"/>
              </a:rPr>
              <a:t>미래의 원자력 박사님은 바로 여러분! 고마워요, 안녕!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