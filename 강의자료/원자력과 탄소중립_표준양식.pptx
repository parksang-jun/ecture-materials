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(밝게 인사하며)</a:t>
            </a:r>
          </a:p>
          <a:p>
            <a:r>
              <a:t>안녕하세요, 여러분! 저는 한국원자력연구원에서 온 연구원 ○○○입니다.</a:t>
            </a:r>
          </a:p>
          <a:p>
            <a:r>
              <a:t>오늘의 주제는 '원자력과 탄소중립'이에요. 쉽게 말하면 "뜨거워진 지구를 지키는 깨끗한 에너지 이야기"랍니다.</a:t>
            </a:r>
          </a:p>
          <a:p>
            <a:r>
              <a:t>(파동이 가리키며) 그리고 여기, 우리를 도와줄 친구를 소개할게요. 원자력연구원의 마스코트 '파동이'예요! 오늘 견학 안내를 맡았답니다.</a:t>
            </a:r>
          </a:p>
          <a:p>
            <a:r>
              <a:t>여러분은 오늘 하루 '어린이 연구원'! 준비됐나요? 큰 소리로 "네!" 하고 외쳐 볼까요? 자,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이야기는 다섯 부분으로 되어 있어요.</a:t>
            </a:r>
          </a:p>
          <a:p>
            <a:r>
              <a:t>파트 1, 지구의 SOS! 지구가 왜 뜨거워지는지 그 원리부터 알아봐요.</a:t>
            </a:r>
          </a:p>
          <a:p>
            <a:r>
              <a:t>파트 2, 탄소중립! 세계의 약속과 어떤 에너지를 골라야 하는지 배워요.</a:t>
            </a:r>
          </a:p>
          <a:p>
            <a:r>
              <a:t>파트 3, 그 깨끗한 에너지를 연구하는 곳, 원자력연구원은 어떤 일을 하는지 구경해요.</a:t>
            </a:r>
          </a:p>
          <a:p>
            <a:r>
              <a:t>파트 4, 원자력 기초실! 위대한 과학자들이 어떤 실험으로 원자력을 발견했는지, 발전소는 어떤 원리로 돌아가는지 배워요.</a:t>
            </a:r>
          </a:p>
          <a:p>
            <a:r>
              <a:t>파트 5, 미래의 원자력과 여러분이 할 일까지!</a:t>
            </a:r>
          </a:p>
          <a:p>
            <a:r>
              <a:t>중간중간 깜짝 퀴즈가 나오니까 집중! 다 맞히면 '지구 지킴이 어린이 연구원'으로 수료할 수 있어요.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이야기를 시작할게요.</a:t>
            </a:r>
          </a:p>
          <a:p>
            <a:r>
              <a:t>여러분, 요즘 여름이 정말 덥죠? 뉴스에서 '지구온난화'라는 말 들어봤나요?</a:t>
            </a:r>
          </a:p>
          <a:p>
            <a:r>
              <a:t>지금 지구가 우리에게 SOS, 도와달라는 신호를 보내고 있대요.</a:t>
            </a:r>
          </a:p>
          <a:p>
            <a:r>
              <a:t>왜 그런 걸까요? 먼저 그 원리부터 차근차근 알아봐요!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지구가 왜 뜨거워질까요? 그 원리를 그림으로 보여드릴게요. (그림 가리키며)</a:t>
            </a:r>
          </a:p>
          <a:p>
            <a:r>
              <a:t>① 먼저 햇빛이 들어와서 지구를 따뜻하게 데워요. 여기까지는 좋아요.</a:t>
            </a:r>
          </a:p>
          <a:p>
            <a:r>
              <a:t>② 밤이 되면 지구는 받은 열을 우주로 내보내면서 식어야 해요.</a:t>
            </a:r>
          </a:p>
          <a:p>
            <a:r>
              <a:t>③ 그런데! 석탄과 석유를 태울 때 나온 이산화탄소(CO₂)가 하늘에 모여서 주황색 점처럼 지구를 이불처럼 감싸요.</a:t>
            </a:r>
          </a:p>
          <a:p>
            <a:r>
              <a:t>이 CO₂ 이불이 나가려는 열을 막아버려요. 들어오는 열은 그대로인데 나가는 열이 줄어드니까... 지구가 점점 더워지는 거예요!</a:t>
            </a:r>
          </a:p>
          <a:p>
            <a:r>
              <a:t>이걸 '온실효과'라고 해요. 비닐하우스(온실)가 따뜻한 것과 같은 원리거든요.</a:t>
            </a:r>
          </a:p>
          <a:p>
            <a:r>
              <a:t>이 온실효과 때문에 지난 100년 동안 지구가 약 1도나 더워졌어요. 우리가 열이 나면 1도만 올라도 아프죠? 지구도 지금 아픈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뜨거워진 지구에는 이런 일들이 생기고 있어요.</a:t>
            </a:r>
          </a:p>
          <a:p>
            <a:r>
              <a:t>(첫 번째 사진) 북극의 얼음이 녹아서 북극곰의 얼음 집이 사라지고 있어요. 사냥할 곳이 없어져 힘들어한대요. 아래 버튼을 누르면 북극곰 영상도 볼 수 있어요. (▶ 버튼: 4분 이내 짧은 영상만 나와요)</a:t>
            </a:r>
          </a:p>
          <a:p>
            <a:r>
              <a:t>(두 번째 사진) 어떤 곳은 너무 더워서 땅이 쩍쩍 갈라지는 가뭄이 들어요.</a:t>
            </a:r>
          </a:p>
          <a:p>
            <a:r>
              <a:t>(세 번째 사진) 반대로 어떤 곳은 갑자기 큰비가 쏟아져 홍수가 나요. 날씨가 오락가락 이상해진 거죠.</a:t>
            </a:r>
          </a:p>
          <a:p>
            <a:r>
              <a:t>(아래 그림) 그리고 바닷물이 점점 높아지고 있어요. 왜일까요? 두 가지 이유! 녹은 빙하 물이 바다로 흘러들고, 따뜻해진 바닷물 자체가 부풀어 오르기 때문이에요.</a:t>
            </a:r>
          </a:p>
          <a:p>
            <a:r>
              <a:t>그래서 낮은 섬나라와 바닷가 마을들이 물에 잠길 위험에 놓였답니다. 지구의 SOS, 이제 실감 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이산화탄소는 어디서 얼마나 나올까요? 순위로 알아봐요! (그래프 가리키며)</a:t>
            </a:r>
          </a:p>
          <a:p>
            <a:r>
              <a:t>1위는 바로... 전기와 열 만들기! 전체의 약 40%나 돼요. 석탄과 가스를 태워 전기를 만들 때 나오죠. (사진 가리키며) 이 굴뚝 연기 속에 CO₂가 가득해요.</a:t>
            </a:r>
          </a:p>
          <a:p>
            <a:r>
              <a:t>2위는 공장이에요. 물건을 만들 때 약 25%.</a:t>
            </a:r>
          </a:p>
          <a:p>
            <a:r>
              <a:t>3위는 자동차와 비행기, 약 20%. 기름을 태우니까요.</a:t>
            </a:r>
          </a:p>
          <a:p>
            <a:r>
              <a:t>4위는 집과 건물의 난방·요리 등이에요.</a:t>
            </a:r>
          </a:p>
          <a:p>
            <a:r>
              <a:t>자, 1위가 전기 만들기라는 게 보이죠? 그런데 전기는 안 쓸 수가 없어요. TV, 에어컨, 학교, 병원... 오히려 점점 더 필요하죠.</a:t>
            </a:r>
          </a:p>
          <a:p>
            <a:r>
              <a:t>그래서 오늘의 큰 숙제! "전기는 많이 만들면서, CO₂는 안 나오게!" 이 숙제를 어떻게 풀까요?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지구를 지키기 위한 세계의 약속, '탄소중립'!</a:t>
            </a:r>
          </a:p>
          <a:p>
            <a:r>
              <a:t>두 번째 이야기에서는 탄소중립이 무엇인지, 그리고 탄소중립을 위해</a:t>
            </a:r>
          </a:p>
          <a:p>
            <a:r>
              <a:t>어떤 에너지를 골라야 하는지 알아볼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세계가 큰 약속을 했어요. 이름하여 '탄소중립'! 다 같이 말해 볼까요? "탄소중립!"</a:t>
            </a:r>
          </a:p>
          <a:p>
            <a:r>
              <a:t>말이 어렵지만 저울을 생각하면 쉬워요. (그림 가리키며)</a:t>
            </a:r>
          </a:p>
          <a:p>
            <a:r>
              <a:t>저울 왼쪽은 우리가 내뿜는 이산화탄소예요. (사진) 이렇게 공장과 발전소 굴뚝에서, 자동차에서 나오죠.</a:t>
            </a:r>
          </a:p>
          <a:p>
            <a:r>
              <a:t>저울 오른쪽은 이산화탄소를 없애는 일이에요. (사진) 이런 울창한 숲이 CO₂를 마셔주고요, CO₂가 안 나오는 깨끗한 에너지를 쓰는 것도 여기에 들어가요.</a:t>
            </a:r>
          </a:p>
          <a:p>
            <a:r>
              <a:t>이 양쪽을 딱! 맞춰서 하늘에 더해지는 CO₂를 '0'으로 만드는 게 탄소중립이에요.</a:t>
            </a:r>
          </a:p>
          <a:p>
            <a:r>
              <a:t>중요한 포인트! 하나도 안 만드는 게 아니라, 내뿜는 만큼 없애서 결과를 0으로 만드는 거예요. 그래서 이름이 '중립'!</a:t>
            </a:r>
          </a:p>
          <a:p>
            <a:r>
              <a:t>우리나라를 포함한 세계 여러 나라가 "2050년까지 탄소중립을 이루겠다!"고 약속했답니다.</a:t>
            </a:r>
          </a:p>
          <a:p>
            <a:r>
              <a:t>그런데 파트 1의 숙제, "전기는 많이, CO₂는 없이!" 어떻게 풀까요? 방법을 찾으러 가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자격 시험! 방금 배운 걸 떠올려 보세요.</a:t>
            </a:r>
          </a:p>
          <a:p>
            <a:r>
              <a:t>탄소중립은 이산화탄소를 하나도 안 만드는 것이다, 맞을까요? 팔로 크게! 하나, 둘, 셋!</a:t>
            </a:r>
          </a:p>
          <a:p>
            <a:r>
              <a:t>정답은... 엑스! 조금 어려웠죠?</a:t>
            </a:r>
          </a:p>
          <a:p>
            <a:r>
              <a:t>탄소중립은 내뿜는 CO₂와 없애는 CO₂를 저울처럼 딱 맞춰서 더해지는 양을 '0'으로 만드는 거예요.</a:t>
            </a:r>
          </a:p>
          <a:p>
            <a:r>
              <a:t>그래서 이름이 '중립'이랍니다. 맞힌 친구는 벌써 절반은 지구 지킴이!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숙제를 풀 방법이 있어요! 바로 '태우지 않고' 전기를 만드는 거예요.</a:t>
            </a:r>
          </a:p>
          <a:p>
            <a:r>
              <a:t>태우지 않으면 이산화탄소가 나오지 않으니까요. 그 후보들을 소개합니다!</a:t>
            </a:r>
          </a:p>
          <a:p>
            <a:r>
              <a:t>첫 번째, 태양광 발전! 지붕 위의 검은 판, 본 적 있죠? 햇빛을 받아서 전기를 만들어요.</a:t>
            </a:r>
          </a:p>
          <a:p>
            <a:r>
              <a:t>두 번째, 풍력 발전! 산이나 바다의 커다란 바람개비예요. 바람의 힘으로 전기를 만들죠.</a:t>
            </a:r>
          </a:p>
          <a:p>
            <a:r>
              <a:t>세 번째, 오늘의 주인공 원자력 발전! 아주아주 작은 '원자'의 힘으로 전기를 만들어요. 아직 낯설죠? 파트 4에서 자세히 소개할게요!</a:t>
            </a:r>
          </a:p>
          <a:p>
            <a:r>
              <a:t>셋 다 태우지 않으니까 CO₂ 걱정이 없어요.</a:t>
            </a:r>
          </a:p>
          <a:p>
            <a:r>
              <a:t>그런데 정말 얼마나 깨끗할까요? 다음 장에서 석탄과 직접 비교해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후보들의 실력을 확인해 봅시다. 전기 1을 만들 때 나오는 CO₂의 양이에요. (그래프 가리키며)</a:t>
            </a:r>
          </a:p>
          <a:p>
            <a:r>
              <a:t>석탄은 약 900그램! 콜라 세 캔 무게만큼의 CO₂가 나와요. 석유는 약 450그램.</a:t>
            </a:r>
          </a:p>
          <a:p>
            <a:r>
              <a:t>태양광은 54그램, 풍력은 15그램. 확 줄죠?</a:t>
            </a:r>
          </a:p>
          <a:p>
            <a:r>
              <a:t>그리고 원자력은... 겨우 6그램! 10원짜리 동전보다도 가벼워요!</a:t>
            </a:r>
          </a:p>
          <a:p>
            <a:r>
              <a:t>(화살표 가리키며) 석탄에서 원자력으로 바꾸면 CO₂가 150분의 1로 뚝 떨어지는 거예요.</a:t>
            </a:r>
          </a:p>
          <a:p>
            <a:r>
              <a:t>왜 이렇게 적을까요? 태우지 않으니까요! 그 비밀은 파트 4에서 자세히 밝혀드릴게요.</a:t>
            </a:r>
          </a:p>
          <a:p>
            <a:r>
              <a:t>원자력이 태양광·풍력과 어깨를 나란히 하는 깨끗한 에너지라는 건 세계 과학자들이 인정한 사실이랍니다.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태양광, 풍력, 원자력 중에 뭐가 제일 좋을까요? 정답은... 다 같이 힘을 합치는 것!</a:t>
            </a:r>
          </a:p>
          <a:p>
            <a:r>
              <a:t>(사진 가리키며) 태양광 패널과 바람개비 풍력 발전기예요. 둘 다 아주 깨끗한 에너지죠.</a:t>
            </a:r>
          </a:p>
          <a:p>
            <a:r>
              <a:t>그런데 태양광은 해가 지면 쉬어야 하고, 풍력은 바람이 멈추면 쉬어야 해요.</a:t>
            </a:r>
          </a:p>
          <a:p>
            <a:r>
              <a:t>우리는 밤에도 전기가 필요하잖아요? 냉장고는 24시간 돌아가야 하니까요!</a:t>
            </a:r>
          </a:p>
          <a:p>
            <a:r>
              <a:t>바로 그때 원자력이 활약해요. 밤낮없이, 날씨에 상관없이 24시간 전기를 듬뿍 만들거든요.</a:t>
            </a:r>
          </a:p>
          <a:p>
            <a:r>
              <a:t>해가 쨍쨍한 낮에는 태양광이, 밤과 흐린 날에는 원자력이! 서로 부족한 점을 채워주는 드림팀이에요.</a:t>
            </a:r>
          </a:p>
          <a:p>
            <a:r>
              <a:t>탄소중립은 어느 한 명의 히어로가 아니라, 깨끗한 에너지 팀 전체가 함께 이루는 거랍니다.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(지구 사진 가리키며) 우주에서 본 우리 지구예요. 파랗고 아름답죠? 이 지구를 지키려고 세계가 움직이고 있어요.</a:t>
            </a:r>
          </a:p>
          <a:p>
            <a:r>
              <a:t>지금 세계 30여 개 나라에서 400기가 넘는 원자로가 전기를 만들고 있고요,</a:t>
            </a:r>
          </a:p>
          <a:p>
            <a:r>
              <a:t>2023년에는 우리나라를 포함한 세계 20여 개 나라가 큰 약속을 했어요.</a:t>
            </a:r>
          </a:p>
          <a:p>
            <a:r>
              <a:t>"2050년까지 원자력을 지금의 3배로 늘려서 탄소중립을 이루자!"</a:t>
            </a:r>
          </a:p>
          <a:p>
            <a:r>
              <a:t>그리고 자랑스러운 사실! 우리나라는 사막 나라 아랍에미리트에 원자력발전소를 수출해서,</a:t>
            </a:r>
          </a:p>
          <a:p>
            <a:r>
              <a:t>다른 나라의 탄소중립까지 돕고 있답니다. 어깨가 으쓱하죠?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우리나라는 어떨까요? 정확한 숫자로 봅시다! (그래프 가리키며)</a:t>
            </a:r>
          </a:p>
          <a:p>
            <a:r>
              <a:t>2023년 기준으로 우리나라 전기의 약 31%를 원자력이 만들었어요. 석탄이 30%, 가스가 27%, 태양광 같은 재생에너지가 12% 정도예요.</a:t>
            </a:r>
          </a:p>
          <a:p>
            <a:r>
              <a:t>원자력이 1등! 여러분 집에 전등이 세 개 있다면, 그중 하나는 원자력이 켜고 있는 셈이죠.</a:t>
            </a:r>
          </a:p>
          <a:p>
            <a:r>
              <a:t>(사진 가리키며) 이게 부산 근처의 고리 원자력발전소예요. 이런 발전소들이 밤낮없이 깨끗한 전기를 만들고 있어요.</a:t>
            </a:r>
          </a:p>
          <a:p>
            <a:r>
              <a:t>이 31%를 CO₂ 없이 만들고 있으니, 어마어마한 숲이 할 일을 원자력이 대신하고 있는 거예요.</a:t>
            </a:r>
          </a:p>
          <a:p>
            <a:r>
              <a:t>만약 원자력이 없다면? 그만큼을 석탄이나 가스로 만들어야 해서 CO₂가 훨씬 늘어나겠죠.</a:t>
            </a:r>
          </a:p>
          <a:p>
            <a:r>
              <a:t>그런데 이 원자력, 도대체 누가 연구하고 어떻게 만드는 걸까요? 다음 파트에서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자격 시험! 잘 고민해 보세요.</a:t>
            </a:r>
          </a:p>
          <a:p>
            <a:r>
              <a:t>밤에도, 바람이 없어도 깨끗한 전기를 만들 수 있는 발전은? 하나, 둘, 셋!</a:t>
            </a:r>
          </a:p>
          <a:p>
            <a:r>
              <a:t>정답은 ②번, 원자력 발전! 태양광은 깨끗하지만 해가 지면 쉬어야 하죠.</a:t>
            </a:r>
          </a:p>
          <a:p>
            <a:r>
              <a:t>원자력은 밤낮없이, 날씨에 상관없이 24시간 깨끗한 전기를 만들 수 있어요.</a:t>
            </a:r>
          </a:p>
          <a:p>
            <a:r>
              <a:t>그래서 태양광·풍력과 원자력이 팀을 이루면 최고의 지구 지킴이가 된답니다!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탄소중립의 해결사 원자력! 그럼 이 원자력은 누가 연구할까요?</a:t>
            </a:r>
          </a:p>
          <a:p>
            <a:r>
              <a:t>바로 제가 일하는 곳, 한국원자력연구원이에요.</a:t>
            </a:r>
          </a:p>
          <a:p>
            <a:r>
              <a:t>대전에 있는 우리나라 최대 원자력 연구소인데, 어떤 일을 하는지 구경시켜 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원자력을 만드는 곳, 바로 제가 일하는 한국원자력연구원이에요!</a:t>
            </a:r>
          </a:p>
          <a:p>
            <a:r>
              <a:t>대전에 있는 우리나라에서 제일 큰 원자력 연구소인데, 수천 명의 과학자가 일하고 있어요.</a:t>
            </a:r>
          </a:p>
          <a:p>
            <a:r>
              <a:t>첫째, 미래의 원자력 기술! SMART, SMR처럼 더 안전하고 똑똑한 미래 원자로를 설계하고 연구해요.</a:t>
            </a:r>
          </a:p>
          <a:p>
            <a:r>
              <a:t>둘째, 방사성의약품! 몸속에서 아픈 곳만 콕 찾아가 치료를 돕는 특별한 약이에요. 아픈 어린이들을 위한 약도 만들어요.</a:t>
            </a:r>
          </a:p>
          <a:p>
            <a:r>
              <a:t>셋째, 우리 손으로 만든 연구용 원자로 '하나로'로 신기한 재료를 연구하고,</a:t>
            </a:r>
          </a:p>
          <a:p>
            <a:r>
              <a:t>넷째, 원자력을 언제나 안전하게 쓰는 방법을 연구해요.</a:t>
            </a:r>
          </a:p>
          <a:p>
            <a:r>
              <a:t>한마디로 '원자력으로 사람들을 안전하게 돕는 방법'을 연구하는 곳이랍니다.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우리나라 원자력의 역사, 진짜 사진으로 보여드릴게요!</a:t>
            </a:r>
          </a:p>
          <a:p>
            <a:r>
              <a:t>(첫 번째 그림) 1942년, 세계 최초의 원자로 CP-1이에요. 미국 시카고대학교 운동장 관중석 아래에 몰래 만들어졌어요!</a:t>
            </a:r>
          </a:p>
          <a:p>
            <a:r>
              <a:t>성공하자 과학자들은 암호 전보를 보냈대요. "이탈리아 항해사가 신대륙에 도착했다!" 스파이 영화 같죠?</a:t>
            </a:r>
          </a:p>
          <a:p>
            <a:r>
              <a:t>(두 번째 사진) 1978년, 우리나라 최초의 원자력발전소 고리 1호기! 이때는 외국의 도움을 받아야 했어요.</a:t>
            </a:r>
          </a:p>
          <a:p>
            <a:r>
              <a:t>(세 번째 사진) 그런데 지금은! 아랍에미리트의 바라카 발전소예요. 우리가 만든 원자로를 수출한 거죠!</a:t>
            </a:r>
          </a:p>
          <a:p>
            <a:r>
              <a:t>(네 번째 그림) 그리고 지금 연구원은 미래형 소형 원자로 SMART와 SMR을 개발하고 있어요. 큰 장치들을 한 통 안에 쏙 넣어 더 작고 더 안전한 원자로예요. 세계가 SMR 개발 경주 중인데 우리나라가 앞서 달리고 있답니다!</a:t>
            </a:r>
          </a:p>
          <a:p>
            <a:r>
              <a:t>배우던 나라에서, 수출하는 나라로, 이제는 미래를 이끄는 나라로!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연구원의 보물, 연구용 원자로 '하나로'! 오늘은 진짜 사진으로 보여드릴게요.</a:t>
            </a:r>
          </a:p>
          <a:p>
            <a:r>
              <a:t>(가운데 사진) 이게 대전 원자력연구원에 있는 진짜 하나로 원자로실이에요! 과학자들이 서 있는 모습이 보이죠? 세계 여러 나라 과학자들이 견학을 올 만큼 유명한 원자로랍니다.</a:t>
            </a:r>
          </a:p>
          <a:p>
            <a:r>
              <a:t>하나로는 1995년에 우리 과학자들이 100% 우리 손으로 설계하고 만들었어요.</a:t>
            </a:r>
          </a:p>
          <a:p>
            <a:r>
              <a:t>발전소 원자로와 달리 전기를 만드는 게 아니라, '중성자'로 연구를 해요. 튼튼한 재료도 연구하고, 반도체도 좋게 만들고, 병원 약 재료도 만들죠.</a:t>
            </a:r>
          </a:p>
          <a:p>
            <a:r>
              <a:t>(오른쪽 사진) 그리고 원자로 속에서는 이런 신비한 푸른빛이 나요. '체렌코프 빛'이라고 하는데, 하나로에서도 볼 수 있답니다. SF 영화 같죠?</a:t>
            </a:r>
          </a:p>
          <a:p>
            <a:r>
              <a:t>하나로는 아시아 최초로 국제원자력기구가 뽑은 국제 연구센터가 됐어요. 세계가 인정한 우리 원자로예요!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원자력 기초실로 들어갑니다!</a:t>
            </a:r>
          </a:p>
          <a:p>
            <a:r>
              <a:t>원자력은 어느 날 뚝딱 생긴 게 아니라, 위대한 과학자들의 실험이 릴레이로 이어져 만들어진 거예요.</a:t>
            </a:r>
          </a:p>
          <a:p>
            <a:r>
              <a:t>과학자들이 어떤 실험을 했는지, 그리고 발전소는 어떤 원리로 돌아가는지, 지금부터 하나씩 배워봐요!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원자력을 이해하는 출발점, '원자'부터 만나요. (그림 가리키며)</a:t>
            </a:r>
          </a:p>
          <a:p>
            <a:r>
              <a:t>세상 모든 것은 '원자'라는 아주 작은 블록으로 만들어져 있어요. 책도, 사과도, 우리 몸도요! 원자 1억 개를 한 줄로 세워야 겨우 1센티미터예요.</a:t>
            </a:r>
          </a:p>
          <a:p>
            <a:r>
              <a:t>그림을 보세요. 원자 한가운데에 단단한 심장이 있죠? 이게 '원자핵'이에요.</a:t>
            </a:r>
          </a:p>
          <a:p>
            <a:r>
              <a:t>원자가 축구장만 하다면 원자핵은 축구공 크기밖에 안 되지만, 원자 무게의 거의 전부를 차지하는 진짜 알맹이랍니다.</a:t>
            </a:r>
          </a:p>
          <a:p>
            <a:r>
              <a:t>그리고 오늘의 핵심! 이 원자핵이 쪼개지거나 합쳐질 때, 어마어마한 에너지가 나와요.</a:t>
            </a:r>
          </a:p>
          <a:p>
            <a:r>
              <a:t>원자핵에서 나오는 힘이라서 이름이 '원자력'이에요!</a:t>
            </a:r>
          </a:p>
          <a:p>
            <a:r>
              <a:t>그런데 눈에 보이지도 않는 이 작은 세계를, 과학자들은 어떻게 알아냈을까요? 지금부터 그 위대한 실험들을 만나 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위대한 과학자들이 릴레이로 발견해 온 거예요. 진짜 사진과 함께 소개할게요!</a:t>
            </a:r>
          </a:p>
          <a:p>
            <a:r>
              <a:t>1895년 뢴트겐이 X선을 발견하고, 1898년 퀴리 부인이 라듐을 발견하며 '방사능' 이름을 지었어요.</a:t>
            </a:r>
          </a:p>
          <a:p>
            <a:r>
              <a:t>1905년 아인슈타인은 E=mc², 에너지의 비밀을 밝혔고, 1911년 러더포드가 원자핵을 발견했죠.</a:t>
            </a:r>
          </a:p>
          <a:p>
            <a:r>
              <a:t>1932년 채드윅이 중성자를, 그리고 1938년 한과 마이트너가 드디어 핵분열을 발견했답니다!</a:t>
            </a:r>
          </a:p>
          <a:p>
            <a:r>
              <a:t>이 릴레이가 하나라도 끊겼다면 오늘의 전기도, 병원의 엑스레이도 없었을 거예요.</a:t>
            </a:r>
          </a:p>
          <a:p>
            <a:r>
              <a:t>자, 그럼 지금부터 이분들이 '어떤 실험'을 했는지 한 분씩 자세히 만나 볼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실험 이야기, 뢴트겐 박사님! (사진 가리키며) 멋진 수염의 이분이 진짜 뢴트겐이에요.</a:t>
            </a:r>
          </a:p>
          <a:p>
            <a:r>
              <a:t>1895년 어느 날 밤, 뢴트겐은 유리관으로 실험을 하고 있었어요. 유리관을 검은 종이로 꽁꽁 감쌌는데도,</a:t>
            </a:r>
          </a:p>
          <a:p>
            <a:r>
              <a:t>저 멀리 책상 위의 스크린이 반짝반짝 빛나는 게 아니겠어요? "이 빛은 종이를 뚫고 나왔잖아?!"</a:t>
            </a:r>
          </a:p>
          <a:p>
            <a:r>
              <a:t>실험해 보니 이 빛은 종이도, 나무도, 살도 뚫는데 뼈와 금속은 못 뚫었어요. 이름을 몰라서 수수께끼 'X'를 붙여 'X선'!</a:t>
            </a:r>
          </a:p>
          <a:p>
            <a:r>
              <a:t>그리고 아내의 손을 찍어봤더니... (옆 사진) 짜잔! 뼈와 결혼반지가 그대로! 세계 최초의 엑스레이 사진이에요. 130년 전 사진이랍니다.</a:t>
            </a:r>
          </a:p>
          <a:p>
            <a:r>
              <a:t>이 발견으로 뢴트겐은 1901년, 세계 최초의 노벨 물리학상을 받았어요.</a:t>
            </a:r>
          </a:p>
          <a:p>
            <a:r>
              <a:t>여러분이 병원에서 찍는 엑스레이가 바로 이 실험에서 시작된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실험 이야기, 퀴리 부부! (사진 가리키며) 실험실에서 연구하는 마리와 피에르의 진짜 모습이에요.</a:t>
            </a:r>
          </a:p>
          <a:p>
            <a:r>
              <a:t>퀴리 부인은 "우라늄 말고도 방사선을 내는 게 더 있을 거야!"라고 생각했어요.</a:t>
            </a:r>
          </a:p>
          <a:p>
            <a:r>
              <a:t>그래서 낡은 창고 실험실에서 무려 4년 동안, 8톤이나 되는 돌덩이(광석)를 커다란 솥에 넣고 끓이고 저으며 실험했어요. 8톤이면 코끼리 두 마리가 넘는 무게예요!</a:t>
            </a:r>
          </a:p>
          <a:p>
            <a:r>
              <a:t>그렇게 해서 마침내 새로운 원소를 발견했어요. 밤에 실험실 문을 열면 이 원소가 어둠 속에서 푸르스름하게 반짝였대요. 이름은 '라듐'!</a:t>
            </a:r>
          </a:p>
          <a:p>
            <a:r>
              <a:t>(원소 카드 가리키며) 라듐은 지금도 주기율표 88번에 당당히 올라 있어요.</a:t>
            </a:r>
          </a:p>
          <a:p>
            <a:r>
              <a:t>퀴리 부인은 이런 성질에 '방사능'이라는 이름을 지었고, 노벨상을 두 번이나 받았어요. 여성 최초!</a:t>
            </a:r>
          </a:p>
          <a:p>
            <a:r>
              <a:t>(작은 사진 가리키며) 그리고 딸 이렌 부부도 1935년에 노벨상을 받았어요. 대단한 과학 가족이죠!</a:t>
            </a:r>
          </a:p>
          <a:p>
            <a:r>
              <a:t>"두려워할 것은 없다, 이해해야 할 것만 있을 뿐!" 포기를 모르는 퀴리 부인의 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실험, 러더포드의 금박 실험! 아주 자세히 설명해 드릴게요. (그림 가리키며)</a:t>
            </a:r>
          </a:p>
          <a:p>
            <a:r>
              <a:t>러더포드는 라듐에서 나오는 아주 작은 '알파 알갱이'를 종이보다 1000배나 얇은 금박에 총알처럼 쏘았어요.</a:t>
            </a:r>
          </a:p>
          <a:p>
            <a:r>
              <a:t>알갱이가 어디로 가는지 보려고, 주위에 부딪히면 반짝하고 빛나는 특수 스크린을 둘렀죠.</a:t>
            </a:r>
          </a:p>
          <a:p>
            <a:r>
              <a:t>그리고 조수들과 함께 캄캄한 방에서 몇 달 동안 밤새 반짝임을 하나하나 세었어요! 엄청난 끈기죠?</a:t>
            </a:r>
          </a:p>
          <a:p>
            <a:r>
              <a:t>결과는? (파란 화살표) 알갱이 대부분은 금박을 슝~ 그냥 통과했어요.</a:t>
            </a:r>
          </a:p>
          <a:p>
            <a:r>
              <a:t>그런데! (빨간 화살표) 8000개 중 1개 정도가 텅! 하고 뒤로 튕겨 나왔어요.</a:t>
            </a:r>
          </a:p>
          <a:p>
            <a:r>
              <a:t>러더포드는 깜짝 놀라 말했대요. "휴지에 대포를 쐈는데 대포알이 튕겨 나온 것만큼 놀라운 일이다!"</a:t>
            </a:r>
          </a:p>
          <a:p>
            <a:r>
              <a:t>그리고 멋진 추리! 대부분 통과했으니 원자 속은 거의 텅 비어 있다. 가끔 튕겼으니 한가운데 아주 작고 단단한 것이 있다!</a:t>
            </a:r>
          </a:p>
          <a:p>
            <a:r>
              <a:t>그것이 바로 '원자핵'! 이 실험 하나로 원자의 속 모습이 밝혀진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실험, 채드윅의 중성자 발견! (그림 순서대로 가리키며)</a:t>
            </a:r>
          </a:p>
          <a:p>
            <a:r>
              <a:t>1932년 채드윅은 '베릴륨'이라는 금속에 알갱이를 쏘는 실험을 했어요.</a:t>
            </a:r>
          </a:p>
          <a:p>
            <a:r>
              <a:t>그랬더니 베릴륨에서 무언가가 튀어나왔는데... 어떤 기계로도 보이지 않았어요! 전기를 띠지 않아서 기계에 안 잡혔거든요.</a:t>
            </a:r>
          </a:p>
          <a:p>
            <a:r>
              <a:t>그런데 이 보이지 않는 무언가가 양초 재료(파라핀)에 부딪히자, 그 속의 양성자가 세게 튕겨 나왔어요!</a:t>
            </a:r>
          </a:p>
          <a:p>
            <a:r>
              <a:t>채드윅은 당구공처럼 추리했어요. "보이지 않는 공이 다른 공을 이렇게 세게 튕겨냈다면, 무겁고 단단한 공이 분명히 있다!"</a:t>
            </a:r>
          </a:p>
          <a:p>
            <a:r>
              <a:t>그 정체가 바로 '중성자'예요. 전기가 없는(중성인) 알갱이라서 이름도 중성자!</a:t>
            </a:r>
          </a:p>
          <a:p>
            <a:r>
              <a:t>그리고 이 중성자가 아주 중요해요. 전기가 없으니까 원자핵에 밀려나지 않고 쏙 들어갈 수 있거든요.</a:t>
            </a:r>
          </a:p>
          <a:p>
            <a:r>
              <a:t>곧 배울 핵분열의 문을 여는 열쇠가 바로 이 중성자랍니다!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실험, 핵분열의 발견이에요! (사진 가리키며) 오토 한과 리제 마이트너, 30년 넘게 함께 연구한 단짝 콤비예요.</a:t>
            </a:r>
          </a:p>
          <a:p>
            <a:r>
              <a:t>(아래 사진) 이게 1938년에 쓴 진짜 실험 장치예요. 책상 하나 크기! 지금 독일 박물관에 있어요.</a:t>
            </a:r>
          </a:p>
          <a:p>
            <a:r>
              <a:t>두 사람은 채드윅이 발견한 중성자를 우라늄에 쏘는 실험을 했어요.</a:t>
            </a:r>
          </a:p>
          <a:p>
            <a:r>
              <a:t>그런데 이상한 일이! 우라늄보다 훨씬 가벼운 '바륨'이라는 물질이 나온 거예요. "어? 이게 왜 나오지?"</a:t>
            </a:r>
          </a:p>
          <a:p>
            <a:r>
              <a:t>당시 마이트너는 전쟁 때문에 다른 나라로 피해 있었는데, 한이 보낸 편지를 받고 조카 프리슈와 눈 덮인 길을 걸으며 계산했어요.</a:t>
            </a:r>
          </a:p>
          <a:p>
            <a:r>
              <a:t>그리고 외쳤죠. "원자핵이 두 조각으로 쪼개진 거야!" 이게 바로 '핵분열'의 발견 순간이에요!</a:t>
            </a:r>
          </a:p>
          <a:p>
            <a:r>
              <a:t>더 놀라운 건, 쪼개지고 나니 질량이 아주 조금 사라졌는데, 그만큼이 에너지로 바뀌었다는 거예요. 아인슈타인의 E=mc²가 딱 맞아떨어진 거죠!</a:t>
            </a:r>
          </a:p>
          <a:p>
            <a:r>
              <a:t>마이트너는 여성이라서, 전쟁 때문에 힘든 일이 많았지만 끝까지 포기하지 않았어요. 지금은 109번 원소 '마이트너륨'으로 기념되고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자격 시험! 러더포드 박사님처럼 추리해 보세요.</a:t>
            </a:r>
          </a:p>
          <a:p>
            <a:r>
              <a:t>알갱이 대부분이 금종이를 그냥 통과한 까닭은? 하나, 둘, 셋!</a:t>
            </a:r>
          </a:p>
          <a:p>
            <a:r>
              <a:t>③번을 고른 친구들, 좋은 생각이었지만... 정답은 ①번!</a:t>
            </a:r>
          </a:p>
          <a:p>
            <a:r>
              <a:t>아무리 빨라도 꽉 차 있으면 부딪히겠죠? 원자 속이 거의 텅 비어 있어서 슝슝 지나간 거예요.</a:t>
            </a:r>
          </a:p>
          <a:p>
            <a:r>
              <a:t>가끔 튕겨 나온 알갱이가 바로 한가운데 단단한 심장, 원자핵의 증거였답니다!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한과 마이트너가 발견한 핵분열, 이제 어디서 에너지가 나오는지까지 정확히 알아봐요! (그림 순서대로)</a:t>
            </a:r>
          </a:p>
          <a:p>
            <a:r>
              <a:t>우라늄 원자핵에 채드윅의 중성자가 콩! 부딪히면, 원자핵이 쫙! 두 조각으로 쪼개져요.</a:t>
            </a:r>
          </a:p>
          <a:p>
            <a:r>
              <a:t>(초록 박스 가리키며) 자, 에너지는 어디서 나올까요? 쪼개지고 나면 질량이 아주 조금 사라져요.</a:t>
            </a:r>
          </a:p>
          <a:p>
            <a:r>
              <a:t>그 사라진 질량이 어마어마한 에너지로 변신하는 거예요! 아인슈타인의 E=mc², 기억나죠?</a:t>
            </a:r>
          </a:p>
          <a:p>
            <a:r>
              <a:t>그리고 중성자 3개가 함께 튀어나와서 옆의 우라늄을 또 쪼개고, 또 쪼개고... 도미노처럼 계속돼요!</a:t>
            </a:r>
          </a:p>
          <a:p>
            <a:r>
              <a:t>그래서 사탕만 한 우라늄 하나가 코끼리 무게만큼의 석탄과 같은 힘을 내는 거랍니다.</a:t>
            </a:r>
          </a:p>
          <a:p>
            <a:r>
              <a:t>(버튼 가리키며) 이 버튼을 누르면 핵분열 애니메이션 영상도 볼 수 있어요. 4분 이내 짧은 영상만 나온답니다.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진짜 원자력발전소의 속 모습, 계통도를 보면서 설명할게요! (그림의 번호를 하나씩 가리키며)</a:t>
            </a:r>
          </a:p>
          <a:p>
            <a:r>
              <a:t>① 원자로(노심)! 여기서 방금 배운 핵분열이 일어나요. 원자핵이 쪼개지면서 아주 뜨거운 열이 나오죠.</a:t>
            </a:r>
          </a:p>
          <a:p>
            <a:r>
              <a:t>② 그 열이 증기발생기로 전달돼요. 여기서 물이 펄펄 끓어 수증기가 됩니다.</a:t>
            </a:r>
          </a:p>
          <a:p>
            <a:r>
              <a:t>③ 수증기가 터빈으로 가요. 커다란 바람개비를 빙글빙글 돌리죠!</a:t>
            </a:r>
          </a:p>
          <a:p>
            <a:r>
              <a:t>④ 터빈에 붙은 발전기가 함께 돌면서 전기가 반짝! 만들어져요. 이 전기가 전선을 타고 우리 집까지!</a:t>
            </a:r>
          </a:p>
          <a:p>
            <a:r>
              <a:t>⑤ 일을 마친 수증기는 냉각탑이나 바닷물로 식혀서 다시 물로 만들어 재사용해요.</a:t>
            </a:r>
          </a:p>
          <a:p>
            <a:r>
              <a:t>왼쪽의 둥근 돔 건물 보이죠? 원자로를 감싸는 튼튼한 콘크리트 건물이에요. 이게 얼마나 튼튼한지는 다음 장에서!</a:t>
            </a:r>
          </a:p>
          <a:p>
            <a:r>
              <a:t>참고로 석탄 발전소와 다른 점은 딱 하나, 태우는 대신 핵분열의 열로 물을 끓인다는 것! 그래서 CO₂가 안 나와요.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"발전소는 튼튼한가요?" 좋은 질문이에요! (단면 그림 가리키며) 발전소는 다섯 겹 갑옷을 입고 있어요.</a:t>
            </a:r>
          </a:p>
          <a:p>
            <a:r>
              <a:t>① 연료를 사탕처럼 단단한 알갱이로 굽고, ② 튼튼한 금속 막대 속에 넣어요.</a:t>
            </a:r>
          </a:p>
          <a:p>
            <a:r>
              <a:t>③ 막대들을 두께 25센티미터 강철통에 넣고, ④ 강철판 벽이 또 감싸요.</a:t>
            </a:r>
          </a:p>
          <a:p>
            <a:r>
              <a:t>⑤ 마지막으로 두께 1미터 20센티미터의 콘크리트 건물이 전체를 감싸요. 교실 벽의 여섯 배!</a:t>
            </a:r>
          </a:p>
          <a:p>
            <a:r>
              <a:t>(사진 가리키며) 아까 계통도에서 본 그 둥근 돔, 여기 진짜 사진에도 보이죠? 고리 발전소의 둥근 콘크리트 돔이 바로 다섯 번째 갑옷이에요!</a:t>
            </a:r>
          </a:p>
          <a:p>
            <a:r>
              <a:t>겨울에 옷 다섯 겹을 껴입으면 찬바람이 못 들어오는 것처럼, 방사선이 밖으로 나오지 못하게 겹겹이 막는 거예요.</a:t>
            </a:r>
          </a:p>
          <a:p>
            <a:r>
              <a:t>게다가 과학자들이 24시간 교대로 지키면서 조금이라도 이상하면 바로 멈추게 되어 있답니다. 안심!</a:t>
            </a:r>
          </a:p>
          <a:p>
            <a:r>
              <a:t>참, 그런데 '방사선'이라는 말이 계속 나왔죠? 마지막으로 그 친구의 정체를 밝혀 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원자력 이야기에서 계속 나온 말, '방사선'! 왠지 무섭게 느껴지죠?</a:t>
            </a:r>
          </a:p>
          <a:p>
            <a:r>
              <a:t>그런데 사실 방사선은 눈에 안 보이는 에너지 빛일 뿐이에요. 그리고 놀랍게도, 옛날부터 늘 우리 곁에 있었답니다!</a:t>
            </a:r>
          </a:p>
          <a:p>
            <a:r>
              <a:t>(사진 하나씩 가리키며) 병원에서 뼈를 볼 때 찍는 엑스레이, 이게 바로 방사선이에요. 뢴트겐 박사님이 발견한 그 빛!</a:t>
            </a:r>
          </a:p>
          <a:p>
            <a:r>
              <a:t>공항에서 가방을 열지 않고 검사하는 것도 방사선 덕분이고요.</a:t>
            </a:r>
          </a:p>
          <a:p>
            <a:r>
              <a:t>바나나에도 아주 조금 들어 있어요! 물론 아무리 먹어도 전혀 문제없는 양이에요.</a:t>
            </a:r>
          </a:p>
          <a:p>
            <a:r>
              <a:t>햇빛에도, 하늘에도, 땅과 돌에도 원래부터 조금씩 있어요. 옛날 사람들도 다 이 속에서 건강하게 살아왔죠.</a:t>
            </a:r>
          </a:p>
          <a:p>
            <a:r>
              <a:t>정리하면, 전구에서 나오는 빛이 '방사선', 빛을 낼 수 있는 능력이 '방사능'이에요. 퀴리 부인이 지은 이름이죠!</a:t>
            </a:r>
          </a:p>
          <a:p>
            <a:r>
              <a:t>과학자들이 특별한 기계로 늘 재면서 지켜주고 있으니 안심하세요. 잘 알고 쓰면 우리를 돕는 고마운 친구랍니다!</a:t>
            </a:r>
          </a:p>
          <a:p>
            <a:r>
              <a:t>자, 원자력 기초실 견학 끝! 이제 미래의 원자력을 보러 갑시다!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이야기! 미래의 원자력이에요.</a:t>
            </a:r>
          </a:p>
          <a:p>
            <a:r>
              <a:t>과학자들은 지금 더 안전하고 더 신기한 미래의 원자로들을 만들고 있어요.</a:t>
            </a:r>
          </a:p>
          <a:p>
            <a:r>
              <a:t>그리고 그 미래를 완성할 주인공이 누구인지도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원자로 가족을 소개할게요! 종류가 이렇게 다양하답니다.</a:t>
            </a:r>
          </a:p>
          <a:p>
            <a:r>
              <a:t>(첫 번째 그림) 먼저 SMART와 SMR! 큰 장치들을 한 통 안에 쏙 넣은 작은 모듈형 원자로예요. 작아서 더 안전하고, 필요한 곳 가까이 지을 수 있어요. 우리 연구원의 SMART는 세계 최초로 안전 인증을 받았답니다!</a:t>
            </a:r>
          </a:p>
          <a:p>
            <a:r>
              <a:t>(두 번째) VHTR, 초고온가스로! 950도나 되는 아주 뜨거운 열을 만들어서, 그 열로 깨끗한 수소를 만들어요. 수소차의 연료가 되죠!</a:t>
            </a:r>
          </a:p>
          <a:p>
            <a:r>
              <a:t>(세 번째) MSR, 용융염원자로! 녹인 소금에 연료를 섞은 신기한 원자로예요. 크기가 작아 배에 실을 수도 있어요.</a:t>
            </a:r>
          </a:p>
          <a:p>
            <a:r>
              <a:t>(네 번째) 그리고 SMART의 특기! 전기를 만들면서 바닷물을 마실 물로 바꿔줘요. 물이 부족한 사막 나라에 딱이죠.</a:t>
            </a:r>
          </a:p>
          <a:p>
            <a:r>
              <a:t>지금 미국의 NuScale을 비롯해 세계가 미래 원자로 개발 경주를 벌이고 있는데, 우리 연구원도 앞서 달리고 있답니다!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(왼쪽 사진) 하늘의 태양이에요. 태양은 어떻게 46억 년째 저렇게 뜨겁게 타오를까요?</a:t>
            </a:r>
          </a:p>
          <a:p>
            <a:r>
              <a:t>비밀은 '핵융합'! 핵분열과 반대로, 가벼운 원자핵들이 서로 합쳐지면서 어마어마한 에너지를 내는 거예요.</a:t>
            </a:r>
          </a:p>
          <a:p>
            <a:r>
              <a:t>(오른쪽 사진) 그리고 이건 대전에 진짜로 있는 우리나라 인공태양 'KSTAR'! 태양의 비밀을 그대로 흉내 낸 장치예요.</a:t>
            </a:r>
          </a:p>
          <a:p>
            <a:r>
              <a:t>(가운데 화살표) 태양과 KSTAR는 같은 원리로 에너지를 만들어요. 태양은 자연 핵융합로, KSTAR는 인공 핵융합로!</a:t>
            </a:r>
          </a:p>
          <a:p>
            <a:r>
              <a:t>KSTAR는 무려 1억 도의 불덩이(플라즈마)를 만들어서 세계 기록을 세웠어요. 태양 한가운데보다 몇 배나 뜨거워요!</a:t>
            </a:r>
          </a:p>
          <a:p>
            <a:r>
              <a:t>게다가 핵융합 연료는 바닷물에서 얻을 수 있어서 거의 무한! 완성되면 에너지 걱정이 사라지는 꿈의 에너지죠.</a:t>
            </a:r>
          </a:p>
          <a:p>
            <a:r>
              <a:t>(버튼 가리키며) 이 버튼을 누르면 KSTAR의 1억 도 실험 영상을 볼 수 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우주에서도 대활약 중이에요!</a:t>
            </a:r>
          </a:p>
          <a:p>
            <a:r>
              <a:t>(왼쪽 사진) 이 사진, 진짜 화성에서 찍은 거예요! 나사의 탐사 로버 '큐리오시티'의 셀카랍니다.</a:t>
            </a:r>
          </a:p>
          <a:p>
            <a:r>
              <a:t>화성은 햇빛이 지구의 절반도 안 되고 밤에는 영하 90도까지 떨어져요. 보통 배터리는 하루도 못 버티죠.</a:t>
            </a:r>
          </a:p>
          <a:p>
            <a:r>
              <a:t>큐리오시티가 10년 넘게 씽씽 달리는 비결이 바로 원자력 전지! 방사선의 열을 전기로 바꾸는 거예요.</a:t>
            </a:r>
          </a:p>
          <a:p>
            <a:r>
              <a:t>(오른쪽 사진) 그리고 보이저 탐사선! 1977년에 떠나서 원자력 전지로 45년 넘게 날아 태양계 밖까지 갔어요. 아직도 지구로 신호를 보내온답니다. 대단하죠?</a:t>
            </a:r>
          </a:p>
          <a:p>
            <a:r>
              <a:t>미래에는 달 기지의 전기도 원자력으로 만들 계획이에요.</a:t>
            </a:r>
          </a:p>
          <a:p>
            <a:r>
              <a:t>그리고 자랑스러운 소식! 우리나라도 원자력연구원이 우주용 원자력 전지를 세계 세 번째로 개발했어요. 언젠가 우리 달 탐사선에도 실릴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자격 시험!</a:t>
            </a:r>
          </a:p>
          <a:p>
            <a:r>
              <a:t>우리나라 인공태양 KSTAR의 온도는? 하나, 둘, 셋!</a:t>
            </a:r>
          </a:p>
          <a:p>
            <a:r>
              <a:t>정답은 ③번, 1억 도! 태양 한가운데보다도 몇 배나 뜨거워요.</a:t>
            </a:r>
          </a:p>
          <a:p>
            <a:r>
              <a:t>그걸 우리나라 과학자들이 해냈다는 사실!</a:t>
            </a:r>
          </a:p>
          <a:p>
            <a:r>
              <a:t>네 문제를 모두 통과한 여러분, '지구 지킴이 어린이 연구원' 자격 시험 최종 합격입니다! 큰 박수~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마지막으로, 지구를 지키는 어린이 연구원의 네 가지 약속!</a:t>
            </a:r>
          </a:p>
          <a:p>
            <a:r>
              <a:t>첫째, 전기를 아껴요. 안 쓰는 불 끄기, 안 보는 TV 끄기! 작아 보여도 진짜 탄소중립 실천이에요.</a:t>
            </a:r>
          </a:p>
          <a:p>
            <a:r>
              <a:t>둘째, 질문왕이 돼요. "왜?", "어떻게?"라고 묻는 순간 과학자의 꿈이 시작돼요. 뢴트겐도, 러더포드도 다 질문에서 시작했답니다!</a:t>
            </a:r>
          </a:p>
          <a:p>
            <a:r>
              <a:t>셋째, 과학과 친해져요. 오늘 배운 탄소중립과 원자력 이야기를 가족에게 설명해 보세요. 설명할 수 있으면 진짜 아는 거예요!</a:t>
            </a:r>
          </a:p>
          <a:p>
            <a:r>
              <a:t>넷째, 크게 꿈꿔요. 인공태양을 완성하는 사람, 화성에서 원자력 전지를 쓰는 사람, 그게 여러분일 수 있어요.</a:t>
            </a:r>
          </a:p>
          <a:p>
            <a:r>
              <a:t>퀴리 부인도, 아인슈타인도 다 여러분만 한 어린이였어요. 다음 차례는 바로 여러분입니다!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함께 외쳐 볼까요?</a:t>
            </a:r>
          </a:p>
          <a:p>
            <a:r>
              <a:t>지구가 뜨거워지는 이유는? (CO₂ 이불, 온실효과!) 탄소중립은? (내뿜는 만큼 없애서 0으로!)</a:t>
            </a:r>
          </a:p>
          <a:p>
            <a:r>
              <a:t>원자력은 태우지 않으니까 CO₂가 석탄의 150분의 1!</a:t>
            </a:r>
          </a:p>
          <a:p>
            <a:r>
              <a:t>뢴트겐부터 마이트너까지, 위대한 실험들이 릴레이로 이어져 원자력이 태어났고요,</a:t>
            </a:r>
          </a:p>
          <a:p>
            <a:r>
              <a:t>태양광·풍력과 함께 지구 지킴이 드림팀으로 활약하고 있어요.</a:t>
            </a:r>
          </a:p>
          <a:p>
            <a:r>
              <a:t>그리고 잊지 마세요. 안 쓰는 불을 끄는 여러분이 바로 탄소중립의 진짜 주인공이에요!</a:t>
            </a:r>
          </a:p>
          <a:p>
            <a:r>
              <a:t>지구 지킴이 어린이 연구원 여러분, 모두 수료를 축하합니다!</a:t>
            </a:r>
          </a:p>
          <a:p>
            <a:r>
              <a:t>나중에 진짜 연구원이 되어 원자력연구원에서 다시 만나요. 고마워요,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hyperlink" Target="https://www.youtube.com/results?search_query=%EB%B6%81%EA%B7%B9%EA%B3%B0%20%EB%B9%99%ED%95%98%20%EB%85%B9%EB%8A%94%20%EB%AA%A8%EC%8A%B5&amp;sp=EgIYAQ%3D%3D" TargetMode="External"/><Relationship Id="rId5" Type="http://schemas.openxmlformats.org/officeDocument/2006/relationships/image" Target="../media/image5.jpg"/><Relationship Id="rId6" Type="http://schemas.openxmlformats.org/officeDocument/2006/relationships/hyperlink" Target="https://www.youtube.com/results?search_query=%EA%B8%B0%ED%9B%84%EB%B3%80%ED%99%94%20%ED%8F%AD%EC%97%BC%20%ED%99%8D%EC%88%98%20%EC%96%B4%EB%A6%B0%EC%9D%B4&amp;sp=EgIYAQ%3D%3D" TargetMode="External"/><Relationship Id="rId7" Type="http://schemas.openxmlformats.org/officeDocument/2006/relationships/image" Target="../media/image6.jp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jpg"/><Relationship Id="rId4" Type="http://schemas.openxmlformats.org/officeDocument/2006/relationships/image" Target="../media/image11.jpg"/><Relationship Id="rId5" Type="http://schemas.openxmlformats.org/officeDocument/2006/relationships/image" Target="../media/image13.jp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22.jp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Relationship Id="rId4" Type="http://schemas.openxmlformats.org/officeDocument/2006/relationships/image" Target="../media/image25.jp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results?search_query=%ED%95%B5%EB%B6%84%EC%97%B4%20%EC%97%B0%EC%87%84%EB%B0%98%EC%9D%91%20%EC%95%A0%EB%8B%88%EB%A9%94%EC%9D%B4%EC%85%98&amp;sp=EgIYAQ%3D%3D" TargetMode="Externa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hyperlink" Target="https://www.youtube.com/results?search_query=KSTAR%20%ED%94%8C%EB%9D%BC%EC%A6%88%EB%A7%88%20%EC%8B%A4%ED%97%98%20%EC%98%81%EC%83%81&amp;sp=EgIYAQ%3D%3D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325880"/>
            <a:ext cx="5486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875D1"/>
                </a:solidFill>
                <a:latin typeface="Malgun Gothic"/>
                <a:ea typeface="Malgun Gothic"/>
              </a:rPr>
              <a:t>지구를 지키는 </a:t>
            </a:r>
            <a:r>
              <a:rPr sz="2600" b="1">
                <a:solidFill>
                  <a:srgbClr val="2875D1"/>
                </a:solidFill>
                <a:latin typeface="Malgun Gothic"/>
                <a:ea typeface="Malgun Gothic"/>
              </a:rPr>
              <a:t>깨끗한 에너지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877824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6800" b="1">
                <a:solidFill>
                  <a:srgbClr val="184D8F"/>
                </a:solidFill>
                <a:latin typeface="Malgun Gothic"/>
                <a:ea typeface="Malgun Gothic"/>
              </a:rPr>
              <a:t>원자력과 탄소중립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초등학교 3~4학년 어린이 연구원 여러분과 함께</a:t>
            </a:r>
          </a:p>
        </p:txBody>
      </p:sp>
      <p:sp>
        <p:nvSpPr>
          <p:cNvPr id="4" name="Oval 3"/>
          <p:cNvSpPr/>
          <p:nvPr/>
        </p:nvSpPr>
        <p:spPr>
          <a:xfrm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3600000"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7200000"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86646" y="2037283"/>
            <a:ext cx="460857" cy="460857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37776" y="2037283"/>
            <a:ext cx="460857" cy="460857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2211" y="2300630"/>
            <a:ext cx="460857" cy="460857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91856" y="2212848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28832" y="2432304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73184" y="1307592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0" y="4114800"/>
            <a:ext cx="2743200" cy="182879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안녕! 난 파동이야.</a:t>
            </a:r>
            <a:br/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오늘 나랑 같이</a:t>
            </a:r>
            <a:br/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지구를 지키러 가자!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8229600" y="49286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3977639"/>
            <a:ext cx="2045707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1560" y="5394960"/>
            <a:ext cx="5120640" cy="54864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778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한국원자력연구원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오늘의 이야기 순서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4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1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지구의 SOS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지구가 뜨거워지고 있어요!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2F9E44"/>
                </a:solidFill>
                <a:latin typeface="Malgun Gothic"/>
                <a:ea typeface="Malgun Gothic"/>
              </a:rPr>
              <a:t>PART 2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탄소중립이 뭐예요?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세계의 약속, 그리고 에너지 선택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11496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3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원자력연구원은 어떤 일을 하나?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원자력으로 사람들을 돕는 연구소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51192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4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위대한 실험들과 원자력의 원리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0888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5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그리고 지구를 지킬 여러분!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85816"/>
            <a:ext cx="10543032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555F6E"/>
                </a:solidFill>
                <a:latin typeface="Malgun Gothic"/>
                <a:ea typeface="Malgun Gothic"/>
              </a:rPr>
              <a:t>중간중간 깜짝 퀴즈가 나와요! 다 맞히면 '지구 지킴이 어린이 연구원' 수료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_ear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308" y="1143000"/>
            <a:ext cx="1767078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46120"/>
            <a:ext cx="10362895" cy="2240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1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지구의 SOS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555F6E"/>
                </a:solidFill>
                <a:latin typeface="Malgun Gothic"/>
                <a:ea typeface="Malgun Gothic"/>
              </a:rPr>
              <a:t>지구가 뜨거워지고 있어요!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6109" y="5394960"/>
            <a:ext cx="3840480" cy="10972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지구가 우리한테 도와달라고 신호를 보내고 있어!</a:t>
            </a:r>
          </a:p>
        </p:txBody>
      </p:sp>
      <p:sp>
        <p:nvSpPr>
          <p:cNvPr id="5" name="Isosceles Triangle 4"/>
          <p:cNvSpPr/>
          <p:nvPr/>
        </p:nvSpPr>
        <p:spPr>
          <a:xfrm rot="16200000">
            <a:off x="1940077" y="58430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o_w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57800"/>
            <a:ext cx="1007389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지구는 왜 뜨거워질까? 온실효과!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865376"/>
            <a:ext cx="5669280" cy="4114800"/>
          </a:xfrm>
          <a:prstGeom prst="roundRect">
            <a:avLst>
              <a:gd name="adj" fmla="val 5000"/>
            </a:avLst>
          </a:prstGeom>
          <a:solidFill>
            <a:srgbClr val="F4F9FE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n 7"/>
          <p:cNvSpPr/>
          <p:nvPr/>
        </p:nvSpPr>
        <p:spPr>
          <a:xfrm>
            <a:off x="1325880" y="2048256"/>
            <a:ext cx="1005840" cy="1005840"/>
          </a:xfrm>
          <a:prstGeom prst="sun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n_ear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5517" y="4014216"/>
            <a:ext cx="1678724" cy="173736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153624" y="4555433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79827" y="4054243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3301" y="3644185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85647" y="3375950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3440" y="3282696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1232" y="3375950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3578" y="3644185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47052" y="4054243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73255" y="4555433"/>
            <a:ext cx="182880" cy="18288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 rot="2100000">
            <a:off x="2286000" y="2916936"/>
            <a:ext cx="1554480" cy="256032"/>
          </a:xfrm>
          <a:prstGeom prst="rightArrow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 rot="17100000">
            <a:off x="4206240" y="3282696"/>
            <a:ext cx="1097280" cy="237744"/>
          </a:xfrm>
          <a:prstGeom prst="righ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 rot="14700000">
            <a:off x="5303520" y="3099816"/>
            <a:ext cx="1097280" cy="237744"/>
          </a:xfrm>
          <a:prstGeom prst="righ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4151376"/>
            <a:ext cx="1920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8A500"/>
                </a:solidFill>
                <a:latin typeface="Malgun Gothic"/>
                <a:ea typeface="Malgun Gothic"/>
              </a:rPr>
              <a:t>① 햇빛이</a:t>
            </a:r>
            <a:br/>
            <a:r>
              <a:rPr sz="1200" b="1">
                <a:solidFill>
                  <a:srgbClr val="E8A500"/>
                </a:solidFill>
                <a:latin typeface="Malgun Gothic"/>
                <a:ea typeface="Malgun Gothic"/>
              </a:rPr>
              <a:t>들어와요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2002536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D93A3A"/>
                </a:solidFill>
                <a:latin typeface="Malgun Gothic"/>
                <a:ea typeface="Malgun Gothic"/>
              </a:rPr>
              <a:t>③ 열이 못 나가고</a:t>
            </a:r>
            <a:br/>
            <a:r>
              <a:rPr sz="1200" b="1">
                <a:solidFill>
                  <a:srgbClr val="D93A3A"/>
                </a:solidFill>
                <a:latin typeface="Malgun Gothic"/>
                <a:ea typeface="Malgun Gothic"/>
              </a:rPr>
              <a:t>갇혀요!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5431536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F9E44"/>
                </a:solidFill>
                <a:latin typeface="Malgun Gothic"/>
                <a:ea typeface="Malgun Gothic"/>
              </a:rPr>
              <a:t>② 지구가 데워져요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831335"/>
            <a:ext cx="1371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E86A2A"/>
                </a:solidFill>
                <a:latin typeface="Malgun Gothic"/>
                <a:ea typeface="Malgun Gothic"/>
              </a:rPr>
              <a:t>CO₂ 이불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1911095"/>
            <a:ext cx="461772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☀️  햇빛은 그대로 들어와요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낮 동안 햇빛이 지구를 따뜻하게 데워요.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328415"/>
            <a:ext cx="461772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🔥  열이 빠져나가야 하는데...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밤이 되면 지구는 열을 우주로 내보내며 식어요.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4745736"/>
            <a:ext cx="461772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🚫  CO₂ 이불이 막아요!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석탄·석유를 태워 생긴 CO₂가 이불처럼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지구를 감싸 열이 못 빠져나가요. 그래서 점점 더워요!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117336"/>
            <a:ext cx="1054303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이걸 '온실효과'라고 해요. 지난 100년 동안 지구는 약 1도나 더워졌어요!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뜨거워진 지구에 생기는 일들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" y="1636776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얼음이 녹아요</a:t>
            </a:r>
          </a:p>
        </p:txBody>
      </p:sp>
      <p:pic>
        <p:nvPicPr>
          <p:cNvPr id="8" name="Picture 7" descr="polar_be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070" y="2002536"/>
            <a:ext cx="1867051" cy="1874519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9516" y="39044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3.0)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1431036" y="41970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▶ </a:t>
            </a:r>
            <a:r>
              <a:rPr sz="1100" b="1">
                <a:solidFill>
                  <a:srgbClr val="194381"/>
                </a:solidFill>
                <a:latin typeface="Malgun Gothic"/>
                <a:ea typeface="Malgun Gothic"/>
              </a:rPr>
              <a:t>북극곰 영상 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8556" y="1636776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가뭄과 폭염</a:t>
            </a:r>
          </a:p>
        </p:txBody>
      </p:sp>
      <p:pic>
        <p:nvPicPr>
          <p:cNvPr id="12" name="Picture 11" descr="drou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9636" y="2002536"/>
            <a:ext cx="1249679" cy="1874519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311396" y="39044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 3.0)</a:t>
            </a:r>
          </a:p>
        </p:txBody>
      </p:sp>
      <p:sp>
        <p:nvSpPr>
          <p:cNvPr id="14" name="Rounded Rectangle 13">
            <a:hlinkClick r:id="rId6"/>
          </p:cNvPr>
          <p:cNvSpPr/>
          <p:nvPr/>
        </p:nvSpPr>
        <p:spPr>
          <a:xfrm>
            <a:off x="5042916" y="41970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▶ </a:t>
            </a:r>
            <a:r>
              <a:rPr sz="1100" b="1">
                <a:solidFill>
                  <a:srgbClr val="194381"/>
                </a:solidFill>
                <a:latin typeface="Malgun Gothic"/>
                <a:ea typeface="Malgun Gothic"/>
              </a:rPr>
              <a:t>기후변화 영상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436" y="1636776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홍수와 큰비</a:t>
            </a:r>
          </a:p>
        </p:txBody>
      </p:sp>
      <p:pic>
        <p:nvPicPr>
          <p:cNvPr id="16" name="Picture 15" descr="flood_re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4051" y="2002536"/>
            <a:ext cx="1524609" cy="1874519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923276" y="39044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2.0)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745736"/>
            <a:ext cx="10085832" cy="1371600"/>
          </a:xfrm>
          <a:prstGeom prst="roundRect">
            <a:avLst>
              <a:gd name="adj" fmla="val 10000"/>
            </a:avLst>
          </a:prstGeom>
          <a:solidFill>
            <a:srgbClr val="F4F9FE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837176"/>
            <a:ext cx="310896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바닷물은 왜 높아질까?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① 녹은 빙하 물이 바다로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② 따뜻해진 바닷물이 부풀어요</a:t>
            </a:r>
          </a:p>
        </p:txBody>
      </p:sp>
      <p:sp>
        <p:nvSpPr>
          <p:cNvPr id="20" name="Isosceles Triangle 19"/>
          <p:cNvSpPr/>
          <p:nvPr/>
        </p:nvSpPr>
        <p:spPr>
          <a:xfrm>
            <a:off x="4846320" y="4974336"/>
            <a:ext cx="914400" cy="777240"/>
          </a:xfrm>
          <a:prstGeom prst="triangle">
            <a:avLst/>
          </a:prstGeom>
          <a:solidFill>
            <a:srgbClr val="DDEEFA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5751576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3794D1"/>
                </a:solidFill>
                <a:latin typeface="Malgun Gothic"/>
                <a:ea typeface="Malgun Gothic"/>
              </a:rPr>
              <a:t>빙하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97880" y="5248656"/>
            <a:ext cx="457200" cy="274320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5477256"/>
            <a:ext cx="2377440" cy="457200"/>
          </a:xfrm>
          <a:prstGeom prst="roundRect">
            <a:avLst/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5202936"/>
            <a:ext cx="2377440" cy="731520"/>
          </a:xfrm>
          <a:prstGeom prst="roundRect">
            <a:avLst/>
          </a:prstGeom>
          <a:noFill/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9052560" y="5111496"/>
            <a:ext cx="292608" cy="685800"/>
          </a:xfrm>
          <a:prstGeom prst="up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837176"/>
            <a:ext cx="237744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93A3A"/>
                </a:solidFill>
                <a:latin typeface="Malgun Gothic"/>
                <a:ea typeface="Malgun Gothic"/>
              </a:rPr>
              <a:t>바닷물 높이가 쑥!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4928616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55F6E"/>
                </a:solidFill>
                <a:latin typeface="Malgun Gothic"/>
                <a:ea typeface="Malgun Gothic"/>
              </a:rPr>
              <a:t>낮은 섬과 바닷가</a:t>
            </a:r>
            <a:br/>
            <a:r>
              <a:rPr sz="1150" b="1">
                <a:solidFill>
                  <a:srgbClr val="555F6E"/>
                </a:solidFill>
                <a:latin typeface="Malgun Gothic"/>
                <a:ea typeface="Malgun Gothic"/>
              </a:rPr>
              <a:t>마을이 위험해요!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이산화탄소는 어디서 나올까? (순위!)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6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0">
                <a:solidFill>
                  <a:srgbClr val="194381"/>
                </a:solidFill>
                <a:latin typeface="Malgun Gothic"/>
                <a:ea typeface="Malgun Gothic"/>
              </a:rPr>
              <a:t>🔌 </a:t>
            </a: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1위 · 전기·열 만들기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2002536"/>
            <a:ext cx="4754880" cy="384048"/>
          </a:xfrm>
          <a:prstGeom prst="roundRect">
            <a:avLst>
              <a:gd name="adj" fmla="val 4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002536"/>
            <a:ext cx="109728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D93A3A"/>
                </a:solidFill>
                <a:latin typeface="Malgun Gothic"/>
                <a:ea typeface="Malgun Gothic"/>
              </a:rPr>
              <a:t>약 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88336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0">
                <a:solidFill>
                  <a:srgbClr val="194381"/>
                </a:solidFill>
                <a:latin typeface="Malgun Gothic"/>
                <a:ea typeface="Malgun Gothic"/>
              </a:rPr>
              <a:t>🏭 </a:t>
            </a: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2위 · 공장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688336"/>
            <a:ext cx="2971800" cy="384048"/>
          </a:xfrm>
          <a:prstGeom prst="roundRect">
            <a:avLst>
              <a:gd name="adj" fmla="val 40000"/>
            </a:avLst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688336"/>
            <a:ext cx="109728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6A2A"/>
                </a:solidFill>
                <a:latin typeface="Malgun Gothic"/>
                <a:ea typeface="Malgun Gothic"/>
              </a:rPr>
              <a:t>약 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74136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0">
                <a:solidFill>
                  <a:srgbClr val="194381"/>
                </a:solidFill>
                <a:latin typeface="Malgun Gothic"/>
                <a:ea typeface="Malgun Gothic"/>
              </a:rPr>
              <a:t>🚗 </a:t>
            </a: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3위 · 자동차·비행기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3374136"/>
            <a:ext cx="2377440" cy="384048"/>
          </a:xfrm>
          <a:prstGeom prst="roundRect">
            <a:avLst>
              <a:gd name="adj" fmla="val 40000"/>
            </a:avLst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3374136"/>
            <a:ext cx="109728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A500"/>
                </a:solidFill>
                <a:latin typeface="Malgun Gothic"/>
                <a:ea typeface="Malgun Gothic"/>
              </a:rPr>
              <a:t>약 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5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0">
                <a:solidFill>
                  <a:srgbClr val="194381"/>
                </a:solidFill>
                <a:latin typeface="Malgun Gothic"/>
                <a:ea typeface="Malgun Gothic"/>
              </a:rPr>
              <a:t>🏠 </a:t>
            </a: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4위 · 집·건물 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059935"/>
            <a:ext cx="1783080" cy="384048"/>
          </a:xfrm>
          <a:prstGeom prst="roundRect">
            <a:avLst>
              <a:gd name="adj" fmla="val 40000"/>
            </a:avLst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4059935"/>
            <a:ext cx="109728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약 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3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9AA4B0"/>
                </a:solidFill>
                <a:latin typeface="Malgun Gothic"/>
                <a:ea typeface="Malgun Gothic"/>
              </a:rPr>
              <a:t>* 전 세계 에너지 관련 CO₂ 기준, 대략적인 비율 (출처: 국제에너지기구 IEA)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682496"/>
            <a:ext cx="3017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석탄 발전소의 굴뚝 연기</a:t>
            </a:r>
          </a:p>
        </p:txBody>
      </p:sp>
      <p:pic>
        <p:nvPicPr>
          <p:cNvPr id="21" name="Picture 20" descr="smokest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155423"/>
            <a:ext cx="3017520" cy="2160544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8549640" y="4343400"/>
            <a:ext cx="32918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3.0)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5248656"/>
            <a:ext cx="9811512" cy="86868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1위가 전기 만들기! 그래서 "전기는 많이, CO₂는 없이!"가 오늘의 큰 숙제예요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62895" cy="2240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2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탄소중립이 뭐예요?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555F6E"/>
                </a:solidFill>
                <a:latin typeface="Malgun Gothic"/>
                <a:ea typeface="Malgun Gothic"/>
              </a:rPr>
              <a:t>세계의 약속, 그리고 에너지 선택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6109" y="5394960"/>
            <a:ext cx="3840480" cy="10972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탄소중립? 어렵지 않아! 저울 하나면 이해 끝!</a:t>
            </a:r>
          </a:p>
        </p:txBody>
      </p:sp>
      <p:sp>
        <p:nvSpPr>
          <p:cNvPr id="6" name="Isosceles Triangle 5"/>
          <p:cNvSpPr/>
          <p:nvPr/>
        </p:nvSpPr>
        <p:spPr>
          <a:xfrm rot="16200000">
            <a:off x="1940077" y="58430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do_w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57800"/>
            <a:ext cx="1007389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세계의 약속, '탄소중립'!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1682496"/>
            <a:ext cx="9628632" cy="91440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 w="1905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F9E44"/>
                </a:solidFill>
                <a:latin typeface="Malgun Gothic"/>
                <a:ea typeface="Malgun Gothic"/>
              </a:rPr>
              <a:t>탄소중립 = 내뿜는 CO₂와 없애는 CO₂를 똑같이 맞춰서, 더해지는 양을 '0'으로!</a:t>
            </a:r>
          </a:p>
        </p:txBody>
      </p:sp>
      <p:sp>
        <p:nvSpPr>
          <p:cNvPr id="8" name="Isosceles Triangle 7"/>
          <p:cNvSpPr/>
          <p:nvPr/>
        </p:nvSpPr>
        <p:spPr>
          <a:xfrm>
            <a:off x="5637276" y="5157216"/>
            <a:ext cx="914400" cy="731520"/>
          </a:xfrm>
          <a:prstGeom prst="triangle">
            <a:avLst/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53996" y="5020056"/>
            <a:ext cx="7680960" cy="164592"/>
          </a:xfrm>
          <a:prstGeom prst="round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25396" y="2916936"/>
            <a:ext cx="3017520" cy="2011680"/>
          </a:xfrm>
          <a:prstGeom prst="roundRect">
            <a:avLst>
              <a:gd name="adj" fmla="val 10000"/>
            </a:avLst>
          </a:prstGeom>
          <a:solidFill>
            <a:srgbClr val="FBE7E7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D93A3A"/>
                </a:solidFill>
                <a:latin typeface="Malgun Gothic"/>
                <a:ea typeface="Malgun Gothic"/>
              </a:rPr>
              <a:t>내뿜는 CO₂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공장 · 자동차 · 전기 만들기</a:t>
            </a:r>
          </a:p>
        </p:txBody>
      </p:sp>
      <p:pic>
        <p:nvPicPr>
          <p:cNvPr id="11" name="Picture 10" descr="smokest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971" y="3648456"/>
            <a:ext cx="1596368" cy="11430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7146036" y="2916936"/>
            <a:ext cx="3017520" cy="2011680"/>
          </a:xfrm>
          <a:prstGeom prst="roundRect">
            <a:avLst>
              <a:gd name="adj" fmla="val 10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2F9E44"/>
                </a:solidFill>
                <a:latin typeface="Malgun Gothic"/>
                <a:ea typeface="Malgun Gothic"/>
              </a:rPr>
              <a:t>없애는 CO₂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나무 심기 · CO₂ 없는 에너지</a:t>
            </a:r>
          </a:p>
        </p:txBody>
      </p:sp>
      <p:pic>
        <p:nvPicPr>
          <p:cNvPr id="13" name="Picture 12" descr="fore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2495" y="3648456"/>
            <a:ext cx="1864600" cy="11430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Oval 13"/>
          <p:cNvSpPr/>
          <p:nvPr/>
        </p:nvSpPr>
        <p:spPr>
          <a:xfrm>
            <a:off x="5408676" y="3602736"/>
            <a:ext cx="1371600" cy="868680"/>
          </a:xfrm>
          <a:prstGeom prst="ellipse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194381"/>
                </a:solidFill>
                <a:latin typeface="Malgun Gothic"/>
                <a:ea typeface="Malgun Gothic"/>
              </a:rPr>
              <a:t>= 0!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0176"/>
            <a:ext cx="10543032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우리나라를 포함한 세계 여러 나라가 "2050년까지 탄소중립!"을 약속했어요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1!  ⭐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OX 퀴즈! '탄소중립'은 이산화탄소를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하나도 안 만드는 것이다?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⭕  맞다!          ❌  아니다!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57216"/>
            <a:ext cx="816559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  <p:pic>
        <p:nvPicPr>
          <p:cNvPr id="9" name="Picture 8" descr="pado_w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4837176"/>
            <a:ext cx="9066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CO₂ 없이 전기를 만드는 후보들!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82496"/>
            <a:ext cx="1054303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숙제를 풀려면? '태우지 않고' 전기를 만드는 방법을 찾아라!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" y="2276856"/>
            <a:ext cx="3383280" cy="237744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☀️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194381"/>
                </a:solidFill>
                <a:latin typeface="Malgun Gothic"/>
                <a:ea typeface="Malgun Gothic"/>
              </a:rPr>
              <a:t>태양광 발전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햇빛을 받아서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전기를 만들어요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2836" y="2276856"/>
            <a:ext cx="3383280" cy="237744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🍃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194381"/>
                </a:solidFill>
                <a:latin typeface="Malgun Gothic"/>
                <a:ea typeface="Malgun Gothic"/>
              </a:rPr>
              <a:t>풍력 발전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바람으로 바람개비를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돌려서 만들어요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6156" y="2276856"/>
            <a:ext cx="3383280" cy="237744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194381"/>
                </a:solidFill>
                <a:latin typeface="Malgun Gothic"/>
                <a:ea typeface="Malgun Gothic"/>
              </a:rPr>
              <a:t>원자력 발전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아주 작은 '원자'의 힘으로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만들어요 (곧 자세히!)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928616"/>
            <a:ext cx="9445752" cy="1097280"/>
          </a:xfrm>
          <a:prstGeom prst="roundRect">
            <a:avLst>
              <a:gd name="adj" fmla="val 16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셋 다 태우지 않으니까 CO₂ 걱정이 없어요!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그런데 누가 얼마나 깨끗할까요? 석탄과 비교해서 확인해 봐요 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전기 만들 때 나오는 CO₂, 비교해 봐요!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1054303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전기 1kWh를 만들 때 나오는 이산화탄소의 양 (그램)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642615"/>
            <a:ext cx="1325880" cy="2240280"/>
          </a:xfrm>
          <a:prstGeom prst="roundRect">
            <a:avLst/>
          </a:prstGeom>
          <a:solidFill>
            <a:srgbClr val="8D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3113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900g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560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석탄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0096"/>
            <a:ext cx="23317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8D93A6"/>
                </a:solidFill>
                <a:latin typeface="Malgun Gothic"/>
                <a:ea typeface="Malgun Gothic"/>
              </a:rPr>
              <a:t>콜라 3캔 무게!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3762756"/>
            <a:ext cx="1325880" cy="1120140"/>
          </a:xfrm>
          <a:prstGeom prst="roundRect">
            <a:avLst/>
          </a:prstGeom>
          <a:solidFill>
            <a:srgbClr val="C98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2968" y="3351276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450g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49560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석유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31536" y="4745736"/>
            <a:ext cx="1325880" cy="137160"/>
          </a:xfrm>
          <a:prstGeom prst="round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433425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54g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49560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태양광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4745736"/>
            <a:ext cx="1325880" cy="137160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1464" y="433425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15g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49560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풍력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0032" y="4745736"/>
            <a:ext cx="1325880" cy="137160"/>
          </a:xfrm>
          <a:prstGeom prst="round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433425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6g!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49560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원자력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7112" y="5340096"/>
            <a:ext cx="23317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2F9E44"/>
                </a:solidFill>
                <a:latin typeface="Malgun Gothic"/>
                <a:ea typeface="Malgun Gothic"/>
              </a:rPr>
              <a:t>10원 동전보다 가벼워!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5980" y="2157984"/>
            <a:ext cx="7936992" cy="45720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5400000">
            <a:off x="9953244" y="2048256"/>
            <a:ext cx="256032" cy="256032"/>
          </a:xfrm>
          <a:prstGeom prst="triangl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905756" y="1911095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150분의 1로 뚝!</a:t>
            </a:r>
          </a:p>
        </p:txBody>
      </p:sp>
      <p:sp>
        <p:nvSpPr>
          <p:cNvPr id="28" name="5-Point Star 27"/>
          <p:cNvSpPr/>
          <p:nvPr/>
        </p:nvSpPr>
        <p:spPr>
          <a:xfrm>
            <a:off x="9788652" y="3831335"/>
            <a:ext cx="548640" cy="548640"/>
          </a:xfrm>
          <a:prstGeom prst="star5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20240" y="5660136"/>
            <a:ext cx="8348472" cy="658368"/>
          </a:xfrm>
          <a:prstGeom prst="roundRect">
            <a:avLst>
              <a:gd name="adj" fmla="val 35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2F9E44"/>
                </a:solidFill>
                <a:latin typeface="Malgun Gothic"/>
                <a:ea typeface="Malgun Gothic"/>
              </a:rPr>
              <a:t>원자력은 석탄의 150분의 1! 태양광·풍력만큼 깨끗한 에너지예요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4152" y="6208776"/>
            <a:ext cx="3291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출처: 유엔유럽경제위원회(UNECE,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지구를 지키는 드림팀!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95681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☀️  태양광 발전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깨끗해요! 하지만 해가 지면 쉬어야 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5409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🍃  풍력 발전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깨끗해요! 하지만 바람이 멈추면 쉬어야 해요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5137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⚡  원자력 발전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깨끗한데 밤낮·날씨 상관없이 24시간 듬뿍!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168249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태양광과 풍력 발전소</a:t>
            </a:r>
          </a:p>
        </p:txBody>
      </p:sp>
      <p:pic>
        <p:nvPicPr>
          <p:cNvPr id="11" name="Picture 10" descr="solar_wi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522" y="2029967"/>
            <a:ext cx="2330554" cy="3108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138160" y="5166359"/>
            <a:ext cx="33832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2.0)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248656"/>
            <a:ext cx="9994392" cy="868680"/>
          </a:xfrm>
          <a:prstGeom prst="roundRect">
            <a:avLst>
              <a:gd name="adj" fmla="val 22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F9E44"/>
                </a:solidFill>
                <a:latin typeface="Malgun Gothic"/>
                <a:ea typeface="Malgun Gothic"/>
              </a:rPr>
              <a:t>서로의 부족한 점을 채워주는 드림팀! 밤에는 원자력이, 쨍쨍한 낮에는 태양광이 힘을 내요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세계가 원자력을 선택하고 있어요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95681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🌍  세계 30여 개 나라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400기가 넘는 원자로가 지금도 전기를 만들어요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5409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🌱  2023년 세계의 약속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"2050년까지 원자력을 3배로!" (우리나라 포함 20여 개국)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5137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🚢  우리나라는 수출까지!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UAE에 발전소를 수출해 다른 나라 탄소중립도 도와요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82496"/>
            <a:ext cx="3383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우주에서 본 우리 지구</a:t>
            </a:r>
          </a:p>
        </p:txBody>
      </p:sp>
      <p:pic>
        <p:nvPicPr>
          <p:cNvPr id="11" name="Picture 10" descr="ear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029967"/>
            <a:ext cx="3108960" cy="3108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863840" y="5166359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85816"/>
            <a:ext cx="1054303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탄소중립 시대, 원자력은 세계가 함께 선택한 지구 지킴이예요!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우리나라 전기, 정확한 숫자로 볼까요?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64208"/>
            <a:ext cx="9994392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555F6E"/>
                </a:solidFill>
                <a:latin typeface="Malgun Gothic"/>
                <a:ea typeface="Malgun Gothic"/>
              </a:rPr>
              <a:t>우리나라 전기, 누가 얼마나 만들까요? (2023년 발전량 기준)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093976"/>
            <a:ext cx="2984875" cy="822960"/>
          </a:xfrm>
          <a:prstGeom prst="roundRect">
            <a:avLst>
              <a:gd name="adj" fmla="val 14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algun Gothic"/>
                <a:ea typeface="Malgun Gothic"/>
              </a:rPr>
              <a:t>원자력 31%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0755" y="2093976"/>
            <a:ext cx="2888589" cy="822960"/>
          </a:xfrm>
          <a:prstGeom prst="roundRect">
            <a:avLst>
              <a:gd name="adj" fmla="val 14000"/>
            </a:avLst>
          </a:prstGeom>
          <a:solidFill>
            <a:srgbClr val="8D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algun Gothic"/>
                <a:ea typeface="Malgun Gothic"/>
              </a:rPr>
              <a:t>석탄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5065" y="2093976"/>
            <a:ext cx="2599730" cy="822960"/>
          </a:xfrm>
          <a:prstGeom prst="roundRect">
            <a:avLst>
              <a:gd name="adj" fmla="val 14000"/>
            </a:avLst>
          </a:prstGeom>
          <a:solidFill>
            <a:srgbClr val="C98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algun Gothic"/>
                <a:ea typeface="Malgun Gothic"/>
              </a:rPr>
              <a:t>가스 27%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90516" y="2093976"/>
            <a:ext cx="1155435" cy="822960"/>
          </a:xfrm>
          <a:prstGeom prst="roundRect">
            <a:avLst>
              <a:gd name="adj" fmla="val 14000"/>
            </a:avLst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</a:rPr>
              <a:t>재생 등 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62656"/>
            <a:ext cx="9628632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9AA4B0"/>
                </a:solidFill>
                <a:latin typeface="Malgun Gothic"/>
                <a:ea typeface="Malgun Gothic"/>
              </a:rPr>
              <a:t>출처: 한국전력 전력통계 (2023년 발전량 비중, 반올림)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602736"/>
            <a:ext cx="3794760" cy="178308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400" b="0">
                <a:solidFill>
                  <a:srgbClr val="194381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전등 셋 중 하나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우리나라 전기의 31%!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전등 세 개 중 하나는 원자력이 켜요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602736"/>
            <a:ext cx="3794760" cy="178308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400" b="0">
                <a:solidFill>
                  <a:srgbClr val="194381"/>
                </a:solidFill>
                <a:latin typeface="Malgun Gothic"/>
                <a:ea typeface="Malgun Gothic"/>
              </a:rPr>
              <a:t>🌳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CO₂를 아껴요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이 전기를 석탄으로 만들었다면?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어마어마한 숲이 필요했을 거예요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374136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고리 원자력발전소</a:t>
            </a:r>
          </a:p>
        </p:txBody>
      </p:sp>
      <p:pic>
        <p:nvPicPr>
          <p:cNvPr id="16" name="Picture 15" descr="k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3804818"/>
            <a:ext cx="2377440" cy="1580997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8915400" y="541324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(PD)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14416"/>
            <a:ext cx="1054303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원자력이 없다면 그만큼을 석탄·가스로 만들어야 해서 CO₂가 훨씬 늘어나요!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2!  ⭐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탄소중립 시대! 밤에도, 바람이 없어도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깨끗한 전기를 만들 수 있는 발전은?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태양광 발전          ②  원자력 발전          ③  촛불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57216"/>
            <a:ext cx="816559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  <p:pic>
        <p:nvPicPr>
          <p:cNvPr id="9" name="Picture 8" descr="pado_w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4837176"/>
            <a:ext cx="9066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62895" cy="2240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3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1">
                <a:solidFill>
                  <a:srgbClr val="194381"/>
                </a:solidFill>
                <a:latin typeface="Malgun Gothic"/>
                <a:ea typeface="Malgun Gothic"/>
              </a:rPr>
              <a:t>원자력연구원은 어떤 일을 하나?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555F6E"/>
                </a:solidFill>
                <a:latin typeface="Malgun Gothic"/>
                <a:ea typeface="Malgun Gothic"/>
              </a:rPr>
              <a:t>원자력으로 사람들을 돕는 연구소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6109" y="5394960"/>
            <a:ext cx="3840480" cy="10972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내가 사는 곳이야! 우리 연구원을 소개할게!</a:t>
            </a:r>
          </a:p>
        </p:txBody>
      </p:sp>
      <p:sp>
        <p:nvSpPr>
          <p:cNvPr id="6" name="Isosceles Triangle 5"/>
          <p:cNvSpPr/>
          <p:nvPr/>
        </p:nvSpPr>
        <p:spPr>
          <a:xfrm rot="16200000">
            <a:off x="1940077" y="58430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do_w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57800"/>
            <a:ext cx="1007389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한국원자력연구원은 이런 일을 해요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미래의 원자력 기술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SMART·SMR 같은 미래 원자로를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설계하고 연구해요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방사성의약품 만들기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방사성의약품으로 아픈 곳을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찾아 치료해요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연구용 원자로 하나로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우리 손으로 만든 원자로로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신기한 재료를 연구해요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0555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안전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원자력을 언제나 안전하게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쓰는 방법을 연구해요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82896"/>
            <a:ext cx="10543032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대전에 있는 우리나라 최대 원자력 연구소! 수천 명의 과학자가</a:t>
            </a:r>
            <a:br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'원자력으로 사람들을 안전하게 돕는 방법'을 연구하고 있어요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자랑스러운 역사, 그리고 미래의 SMR!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36776"/>
            <a:ext cx="242316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1942 · 세계 최초 CP-1</a:t>
            </a:r>
          </a:p>
        </p:txBody>
      </p:sp>
      <p:pic>
        <p:nvPicPr>
          <p:cNvPr id="8" name="Picture 7" descr="cp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099" y="2002536"/>
            <a:ext cx="2274336" cy="1783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95528" y="3813048"/>
            <a:ext cx="26974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아르곤연구소 (PD)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05656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미국 시카고 운동장 아래에서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세계 최초의 원자로 탄생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636776"/>
            <a:ext cx="242316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1978 · 첫 발전소 고리</a:t>
            </a:r>
          </a:p>
        </p:txBody>
      </p:sp>
      <p:pic>
        <p:nvPicPr>
          <p:cNvPr id="12" name="Picture 11" descr="k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174214"/>
            <a:ext cx="2423160" cy="1611401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74720" y="3813048"/>
            <a:ext cx="26974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(PD)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105656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외국의 도움을 받아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첫 발전소를 지었어요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1" y="1636776"/>
            <a:ext cx="242316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2018~ · UAE 수출!</a:t>
            </a:r>
          </a:p>
        </p:txBody>
      </p:sp>
      <p:pic>
        <p:nvPicPr>
          <p:cNvPr id="16" name="Picture 15" descr="baraka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5148" y="2002535"/>
            <a:ext cx="2215006" cy="1783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153911" y="3813048"/>
            <a:ext cx="26974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Wikiemirati (CC BY-SA 4.0)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1" y="4105656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이제는 우리 기술을 수출해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다른 나라도 도와요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0263" y="1636776"/>
            <a:ext cx="242316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F9E44"/>
                </a:solidFill>
                <a:latin typeface="Malgun Gothic"/>
                <a:ea typeface="Malgun Gothic"/>
              </a:rPr>
              <a:t>지금 · SMART·SMR 개발!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3184" y="2048256"/>
            <a:ext cx="1417320" cy="1691640"/>
          </a:xfrm>
          <a:prstGeom prst="roundRect">
            <a:avLst>
              <a:gd name="adj" fmla="val 25000"/>
            </a:avLst>
          </a:prstGeom>
          <a:solidFill>
            <a:srgbClr val="EAF3FB"/>
          </a:solidFill>
          <a:ln w="22225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47503" y="2231136"/>
            <a:ext cx="868680" cy="1325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902951" y="2340864"/>
            <a:ext cx="548640" cy="457200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Malgun Gothic"/>
                <a:ea typeface="Malgun Gothic"/>
              </a:rPr>
              <a:t>증기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2951" y="3008376"/>
            <a:ext cx="548640" cy="457200"/>
          </a:xfrm>
          <a:prstGeom prst="roundRect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3" y="4105656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장치를 한 통에 쏙!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더 작고 더 안전한 미래형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355848" y="2779776"/>
            <a:ext cx="237744" cy="32918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6035040" y="2779776"/>
            <a:ext cx="237744" cy="32918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8714232" y="2779776"/>
            <a:ext cx="237744" cy="32918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5111496"/>
            <a:ext cx="9262872" cy="914400"/>
          </a:xfrm>
          <a:prstGeom prst="roundRect">
            <a:avLst>
              <a:gd name="adj" fmla="val 25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배우던 나라 → 수출하는 나라 → 이제는 미래형 SMR 개발 경주에서 앞서 달려요!</a:t>
            </a:r>
            <a:br/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이 모든 과정을 원자력연구원이 함께했어요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연구용 원자로 '하나로' — 진짜 모습!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819656"/>
            <a:ext cx="3840480" cy="3931920"/>
          </a:xfrm>
          <a:prstGeom prst="roundRect">
            <a:avLst>
              <a:gd name="adj" fmla="val 8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800" b="0">
                <a:solidFill>
                  <a:srgbClr val="194381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'하나로'는 이런 원자로!</a:t>
            </a:r>
          </a:p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1995년, 우리 과학자들이 100%</a:t>
            </a:r>
            <a:br/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우리 손으로 만든 연구용 원자로!</a:t>
            </a:r>
            <a:br/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전기 대신 '중성자'로 연구해요.</a:t>
            </a:r>
          </a:p>
          <a:p>
            <a:pPr algn="ctr">
              <a:lnSpc>
                <a:spcPct val="140000"/>
              </a:lnSpc>
              <a:spcAft>
                <a:spcPts val="400"/>
              </a:spcAft>
            </a:pPr>
            <a:r>
              <a:rPr sz="1200" b="0">
                <a:solidFill>
                  <a:srgbClr val="2B2B2B"/>
                </a:solidFill>
                <a:latin typeface="Malgun Gothic"/>
                <a:ea typeface="Malgun Gothic"/>
              </a:rPr>
              <a:t>🚗 튼튼한 재료 연구</a:t>
            </a:r>
            <a:br/>
            <a:r>
              <a:rPr sz="1200" b="0">
                <a:solidFill>
                  <a:srgbClr val="2B2B2B"/>
                </a:solidFill>
                <a:latin typeface="Malgun Gothic"/>
                <a:ea typeface="Malgun Gothic"/>
              </a:rPr>
              <a:t>📱 반도체 개선</a:t>
            </a:r>
            <a:br/>
            <a:r>
              <a:rPr sz="1200" b="0">
                <a:solidFill>
                  <a:srgbClr val="2B2B2B"/>
                </a:solidFill>
                <a:latin typeface="Malgun Gothic"/>
                <a:ea typeface="Malgun Gothic"/>
              </a:rPr>
              <a:t>💊 약 재료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82496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하나로 원자로실의 과학자들!</a:t>
            </a:r>
          </a:p>
        </p:txBody>
      </p:sp>
      <p:pic>
        <p:nvPicPr>
          <p:cNvPr id="9" name="Picture 8" descr="hana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53777"/>
            <a:ext cx="3840480" cy="216219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892040" y="434340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Imagebank (CC BY-SA 4.0)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654296"/>
            <a:ext cx="3840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대전 원자력연구원에 있는 진짜 하나로!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세계 여러 나라 과학자들이 견학을 와요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682496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원자로 속 신비한 푸른빛</a:t>
            </a:r>
          </a:p>
        </p:txBody>
      </p:sp>
      <p:pic>
        <p:nvPicPr>
          <p:cNvPr id="13" name="Picture 12" descr="research_react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2671693"/>
            <a:ext cx="2468880" cy="1644274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961120" y="434340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미국 INL (CC BY 2.0)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4654296"/>
            <a:ext cx="2468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'체렌코프 빛'이에요.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하나로에서도 볼 수 있어요!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88736"/>
            <a:ext cx="10543032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아시아 최초로 국제원자력기구(IAEA)의 국제 연구센터로 뽑힌 자랑스러운 원자로!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62895" cy="2240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4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555F6E"/>
                </a:solidFill>
                <a:latin typeface="Malgun Gothic"/>
                <a:ea typeface="Malgun Gothic"/>
              </a:rPr>
              <a:t>위대한 실험들과 원자력의 원리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6109" y="5394960"/>
            <a:ext cx="3840480" cy="10972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과학자 선생님들의 실험 이야기, 진짜 재밌어!</a:t>
            </a:r>
          </a:p>
        </p:txBody>
      </p:sp>
      <p:sp>
        <p:nvSpPr>
          <p:cNvPr id="6" name="Isosceles Triangle 5"/>
          <p:cNvSpPr/>
          <p:nvPr/>
        </p:nvSpPr>
        <p:spPr>
          <a:xfrm rot="16200000">
            <a:off x="1940077" y="58430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do_w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57800"/>
            <a:ext cx="1007389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원자력의 출발점: 원자와 원자핵!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79" y="1865376"/>
            <a:ext cx="4297680" cy="3931920"/>
          </a:xfrm>
          <a:prstGeom prst="ellipse">
            <a:avLst/>
          </a:prstGeom>
          <a:solidFill>
            <a:srgbClr val="F4F9FE"/>
          </a:solidFill>
          <a:ln w="1905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19" y="3116961"/>
            <a:ext cx="4114800" cy="14287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3600000">
            <a:off x="1417319" y="3116961"/>
            <a:ext cx="4114800" cy="14287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7200000">
            <a:off x="1417319" y="3116961"/>
            <a:ext cx="4114800" cy="14287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51809" y="3477006"/>
            <a:ext cx="480060" cy="480060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17570" y="3477006"/>
            <a:ext cx="480060" cy="48006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34689" y="3751326"/>
            <a:ext cx="480060" cy="480060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3069" y="3659886"/>
            <a:ext cx="228600" cy="228600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74920" y="3888486"/>
            <a:ext cx="228600" cy="228600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46120" y="2716911"/>
            <a:ext cx="228600" cy="228600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447141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원자핵 (심장!)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185416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875D1"/>
                </a:solidFill>
                <a:latin typeface="Malgun Gothic"/>
                <a:ea typeface="Malgun Gothic"/>
              </a:rPr>
              <a:t>전자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79" y="5843016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원자의 속 모습 — 세상 모든 것의 블록!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911095"/>
            <a:ext cx="539496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🎲  모든 것은 원자로!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책도 사과도 우리 몸도 전부 원자.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 1억 개 = 겨우 1cm!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328415"/>
            <a:ext cx="539496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❤  한가운데 '원자핵'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원자가 축구장이면 원자핵은 축구공.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작지만 원자 무게의 대부분을 차지하는 심장!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745736"/>
            <a:ext cx="5394960" cy="128016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⚡  원자핵이 변하면 → 원자력!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이 단단한 심장이 쪼개지거나 합쳐질 때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어마어마한 에너지가 나와요. 그게 원자력!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705856"/>
            <a:ext cx="5394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그런데 과학자들은 이걸 어떻게 알아냈을까요? 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원자력을 발견한 위대한 과학자들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entg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03" y="1819656"/>
            <a:ext cx="1525584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4652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1895 · 뢴트겐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X선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(뼈 사진의 시작!)</a:t>
            </a:r>
          </a:p>
        </p:txBody>
      </p:sp>
      <p:pic>
        <p:nvPicPr>
          <p:cNvPr id="10" name="Picture 9" descr="curi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864" y="1819656"/>
            <a:ext cx="1447687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455164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1898 · 퀴리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5164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라듐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'방사능' 이름 짓기</a:t>
            </a:r>
          </a:p>
        </p:txBody>
      </p:sp>
      <p:pic>
        <p:nvPicPr>
          <p:cNvPr id="13" name="Picture 12" descr="einste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5213" y="1819656"/>
            <a:ext cx="1588012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265676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1905 · 아인슈타인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5676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E=mc²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에너지의 비밀</a:t>
            </a:r>
          </a:p>
        </p:txBody>
      </p:sp>
      <p:pic>
        <p:nvPicPr>
          <p:cNvPr id="16" name="Picture 15" descr="rutherfo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326" y="1819656"/>
            <a:ext cx="1454810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076188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1911 · 러더포드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6188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원자핵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(금박 실험!)</a:t>
            </a:r>
          </a:p>
        </p:txBody>
      </p:sp>
      <p:pic>
        <p:nvPicPr>
          <p:cNvPr id="19" name="Picture 18" descr="chadwi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3860" y="1819656"/>
            <a:ext cx="1572768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886700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1932 · 채드윅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6700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중성자 발견</a:t>
            </a:r>
          </a:p>
        </p:txBody>
      </p:sp>
      <p:pic>
        <p:nvPicPr>
          <p:cNvPr id="22" name="Picture 21" descr="hahn_meitn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742" y="1819656"/>
            <a:ext cx="1500027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97212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1938 · 한&amp;마이트너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7212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핵분열 발견!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020056"/>
            <a:ext cx="9079992" cy="1051560"/>
          </a:xfrm>
          <a:prstGeom prst="roundRect">
            <a:avLst>
              <a:gd name="adj" fmla="val 18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과학자들이 릴레이 달리기처럼 발견을 이어온 덕분에 오늘의 원자력이 있어요!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지금부터 한 분씩, '어떤 실험'을 했는지 자세히 만나요 (사진: Wikimedia PD/LANL)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① 뢴트겐 — 뼈가 보이는 빛을 찾다! (1895)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entg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0" y="2002536"/>
            <a:ext cx="2270638" cy="2926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4956048"/>
            <a:ext cx="25603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636776"/>
            <a:ext cx="21031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세계 최초의 엑스레이!</a:t>
            </a:r>
          </a:p>
        </p:txBody>
      </p:sp>
      <p:pic>
        <p:nvPicPr>
          <p:cNvPr id="10" name="Picture 9" descr="xray_h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1493" y="2002536"/>
            <a:ext cx="1998133" cy="2926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291840" y="4956048"/>
            <a:ext cx="23774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뢴트겐 촬영 (PD)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911095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🔦  이상한 빛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검은 종이로 꽁꽁 감싼 유리관에서 나온 빛이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멀리 있는 스크린을 빛나게 했어요!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282696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✋  종이·나무는 뚫는데 뼈는 못 뚫어요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이름을 몰라 수수께끼 'X'를 붙여 'X선'!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아내의 손을 찍자 뼈와 반지가 그대로!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4654296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🏆  세계 최초의 노벨 물리학상!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1901년 첫 노벨상 수상.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지금도 병원 엑스레이가 바로 이 빛이에요!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25896"/>
            <a:ext cx="105430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빌헬름 뢴트겐 (1845~1923) — 보이지 않는 것을 보이게 한 과학자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② 퀴리 부부 — 빛나는 돌을 찾아라! (1898)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677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실험실의 마리 &amp; 피에르 퀴리</a:t>
            </a:r>
          </a:p>
        </p:txBody>
      </p:sp>
      <p:pic>
        <p:nvPicPr>
          <p:cNvPr id="8" name="Picture 7" descr="curie_lab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383" y="2002536"/>
            <a:ext cx="2729552" cy="21945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" y="4224528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17136"/>
            <a:ext cx="14173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2F9E44"/>
                </a:solidFill>
                <a:latin typeface="Malgun Gothic"/>
                <a:ea typeface="Malgun Gothic"/>
              </a:rPr>
              <a:t>딸도 노벨상!</a:t>
            </a:r>
          </a:p>
        </p:txBody>
      </p:sp>
      <p:pic>
        <p:nvPicPr>
          <p:cNvPr id="11" name="Picture 10" descr="ire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4837176"/>
            <a:ext cx="822960" cy="12344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2651760" y="4837176"/>
            <a:ext cx="12344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55F6E"/>
                </a:solidFill>
                <a:latin typeface="Malgun Gothic"/>
                <a:ea typeface="Malgun Gothic"/>
              </a:rPr>
              <a:t>88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E8A500"/>
                </a:solidFill>
                <a:latin typeface="Malgun Gothic"/>
                <a:ea typeface="Malgun Gothic"/>
              </a:rPr>
              <a:t>Ra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555F6E"/>
                </a:solidFill>
                <a:latin typeface="Malgun Gothic"/>
                <a:ea typeface="Malgun Gothic"/>
              </a:rPr>
              <a:t>라듐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471416"/>
            <a:ext cx="146304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E8A500"/>
                </a:solidFill>
                <a:latin typeface="Malgun Gothic"/>
                <a:ea typeface="Malgun Gothic"/>
              </a:rPr>
              <a:t>주기율표 88번!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11095"/>
            <a:ext cx="72237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🍯  돌덩이 8톤을 끓이고 저으며!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낡은 창고 실험실에서 4년 동안, 커다란 솥에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광석을 끓이며 실험했어요. 코끼리 두 마리 무게!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282696"/>
            <a:ext cx="72237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✨  어둠 속에서 빛나는 라듐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밤에 실험실 문을 열면 새 원소 '라듐'이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푸르스름하게 반짝반짝 빛났대요!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4654296"/>
            <a:ext cx="72237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🏆  '방사능' 이름 짓기 + 노벨상 2번!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여성 최초, 두 분야(물리·화학) 수상!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딸 이렌 부부도 1935년 노벨상! (왼쪽 사진)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6025896"/>
            <a:ext cx="7223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E8A500"/>
                </a:solidFill>
                <a:latin typeface="Malgun Gothic"/>
                <a:ea typeface="Malgun Gothic"/>
              </a:rPr>
              <a:t>"두려워할 것은 없다. 이해해야 할 것만 있을 뿐!" — 마리 퀴리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③ 러더포드 — 금박에 알갱이를 쏘다! (1911)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herfo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83" y="2139696"/>
            <a:ext cx="2097633" cy="28346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001768"/>
            <a:ext cx="24688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Bain News Service (PD)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865376"/>
            <a:ext cx="8001000" cy="2514600"/>
          </a:xfrm>
          <a:prstGeom prst="roundRect">
            <a:avLst>
              <a:gd name="adj" fmla="val 6000"/>
            </a:avLst>
          </a:prstGeom>
          <a:solidFill>
            <a:srgbClr val="F9FC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56816"/>
            <a:ext cx="7680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A500"/>
                </a:solidFill>
                <a:latin typeface="Malgun Gothic"/>
                <a:ea typeface="Malgun Gothic"/>
              </a:rPr>
              <a:t>금박 실험: 알갱이를 쏘고, 반짝이는 곳을 밤새 세었어요!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825496"/>
            <a:ext cx="1371600" cy="685800"/>
          </a:xfrm>
          <a:prstGeom prst="roundRect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</a:rPr>
              <a:t>알갱이</a:t>
            </a:r>
            <a:br/>
            <a:r>
              <a:rPr sz="1050" b="1">
                <a:solidFill>
                  <a:srgbClr val="FFFFFF"/>
                </a:solidFill>
                <a:latin typeface="Malgun Gothic"/>
                <a:ea typeface="Malgun Gothic"/>
              </a:rPr>
              <a:t>발사!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459736"/>
            <a:ext cx="146304" cy="1600200"/>
          </a:xfrm>
          <a:prstGeom prst="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078224"/>
            <a:ext cx="1005840" cy="3017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A500"/>
                </a:solidFill>
                <a:latin typeface="Malgun Gothic"/>
                <a:ea typeface="Malgun Gothic"/>
              </a:rPr>
              <a:t>얇은 금박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2642615"/>
            <a:ext cx="1463040" cy="219456"/>
          </a:xfrm>
          <a:prstGeom prst="rightArrow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23760" y="2642615"/>
            <a:ext cx="1463040" cy="219456"/>
          </a:xfrm>
          <a:prstGeom prst="rightArrow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2505456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875D1"/>
                </a:solidFill>
                <a:latin typeface="Malgun Gothic"/>
                <a:ea typeface="Malgun Gothic"/>
              </a:rPr>
              <a:t>대부분: 슝~ 통과! (텅 빈 증거)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49240" y="3374136"/>
            <a:ext cx="1463040" cy="219456"/>
          </a:xfrm>
          <a:prstGeom prst="righ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eft Arrow 17"/>
          <p:cNvSpPr/>
          <p:nvPr/>
        </p:nvSpPr>
        <p:spPr>
          <a:xfrm>
            <a:off x="5715000" y="3739896"/>
            <a:ext cx="1097280" cy="219456"/>
          </a:xfrm>
          <a:prstGeom prst="lef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3557015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아주 가끔: 텅! 튕겨 나옴 (단단한 심장의 증거!)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4654296"/>
            <a:ext cx="8001000" cy="640080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0">
                <a:solidFill>
                  <a:srgbClr val="2875D1"/>
                </a:solidFill>
                <a:latin typeface="Malgun Gothic"/>
                <a:ea typeface="Malgun Gothic"/>
              </a:rPr>
              <a:t>😲  </a:t>
            </a: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"휴지에 쏜 대포알이 튕겨 나온 것만큼 놀라운 일!" — 러더포드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5413248"/>
            <a:ext cx="8001000" cy="640080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0">
                <a:solidFill>
                  <a:srgbClr val="2875D1"/>
                </a:solidFill>
                <a:latin typeface="Malgun Gothic"/>
                <a:ea typeface="Malgun Gothic"/>
              </a:rPr>
              <a:t>🎯  </a:t>
            </a: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추리: 대부분 통과 → 원자 속은 거의 텅 비었다!  가끔 튕김 → 한가운데 단단한 '원자핵'이 있다!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17336"/>
            <a:ext cx="105430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어니스트 러더포드 (1871~1937) — 이 실험 하나로 '원자핵의 아버지'가 되다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④ 채드윅 — 보이지 않는 알갱이를 잡다! (1932)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dwi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31136"/>
            <a:ext cx="2194560" cy="2743199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001768"/>
            <a:ext cx="24688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LANL 제공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865376"/>
            <a:ext cx="8001000" cy="2103120"/>
          </a:xfrm>
          <a:prstGeom prst="roundRect">
            <a:avLst>
              <a:gd name="adj" fmla="val 7000"/>
            </a:avLst>
          </a:prstGeom>
          <a:solidFill>
            <a:srgbClr val="F9FC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56816"/>
            <a:ext cx="7680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A500"/>
                </a:solidFill>
                <a:latin typeface="Malgun Gothic"/>
                <a:ea typeface="Malgun Gothic"/>
              </a:rPr>
              <a:t>실험: 베릴륨이라는 금속에 알갱이를 쏘았더니...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642615"/>
            <a:ext cx="1554480" cy="914400"/>
          </a:xfrm>
          <a:prstGeom prst="roundRect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베릴륨</a:t>
            </a:r>
            <a:br/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금속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32120" y="2962656"/>
            <a:ext cx="548640" cy="274320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63640" y="2734056"/>
            <a:ext cx="731520" cy="731520"/>
          </a:xfrm>
          <a:prstGeom prst="ellipse">
            <a:avLst/>
          </a:prstGeom>
          <a:solidFill>
            <a:srgbClr val="D9E2EF"/>
          </a:solidFill>
          <a:ln w="15875">
            <a:solidFill>
              <a:srgbClr val="1943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94381"/>
                </a:solidFill>
                <a:latin typeface="Malgun Gothic"/>
                <a:ea typeface="Malgun Gothic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511296"/>
            <a:ext cx="1645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194381"/>
                </a:solidFill>
                <a:latin typeface="Malgun Gothic"/>
                <a:ea typeface="Malgun Gothic"/>
              </a:rPr>
              <a:t>보이지 않는 무언가!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78040" y="2962656"/>
            <a:ext cx="548640" cy="274320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09560" y="2642615"/>
            <a:ext cx="1554480" cy="914400"/>
          </a:xfrm>
          <a:prstGeom prst="roundRect">
            <a:avLst/>
          </a:prstGeom>
          <a:solidFill>
            <a:srgbClr val="FDECE0"/>
          </a:solidFill>
          <a:ln w="15875">
            <a:solidFill>
              <a:srgbClr val="E86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E86A2A"/>
                </a:solidFill>
                <a:latin typeface="Malgun Gothic"/>
                <a:ea typeface="Malgun Gothic"/>
              </a:rPr>
              <a:t>양초 재료</a:t>
            </a:r>
            <a:br/>
            <a:r>
              <a:rPr sz="1050" b="1">
                <a:solidFill>
                  <a:srgbClr val="E86A2A"/>
                </a:solidFill>
                <a:latin typeface="Malgun Gothic"/>
                <a:ea typeface="Malgun Gothic"/>
              </a:rPr>
              <a:t>(파라핀)</a:t>
            </a:r>
          </a:p>
        </p:txBody>
      </p:sp>
      <p:sp>
        <p:nvSpPr>
          <p:cNvPr id="17" name="Oval 16"/>
          <p:cNvSpPr/>
          <p:nvPr/>
        </p:nvSpPr>
        <p:spPr>
          <a:xfrm>
            <a:off x="9738360" y="2688336"/>
            <a:ext cx="365760" cy="36576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10195560" y="2734056"/>
            <a:ext cx="502920" cy="256032"/>
          </a:xfrm>
          <a:prstGeom prst="righ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3191256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D93A3A"/>
                </a:solidFill>
                <a:latin typeface="Malgun Gothic"/>
                <a:ea typeface="Malgun Gothic"/>
              </a:rPr>
              <a:t>양성자가</a:t>
            </a:r>
            <a:br/>
            <a:r>
              <a:rPr sz="950" b="1">
                <a:solidFill>
                  <a:srgbClr val="D93A3A"/>
                </a:solidFill>
                <a:latin typeface="Malgun Gothic"/>
                <a:ea typeface="Malgun Gothic"/>
              </a:rPr>
              <a:t>튕겨 나옴!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4197096"/>
            <a:ext cx="8001000" cy="777240"/>
          </a:xfrm>
          <a:prstGeom prst="roundRect">
            <a:avLst>
              <a:gd name="adj" fmla="val 25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🎱 당구공 추리!  </a:t>
            </a: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보이지 않는 공이 다른 공을 세게 튕겨냈다면? 무겁고 단단한 공이 숨어 있다는 뜻!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5093208"/>
            <a:ext cx="8001000" cy="777240"/>
          </a:xfrm>
          <a:prstGeom prst="roundRect">
            <a:avLst>
              <a:gd name="adj" fmla="val 25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🔵 정체는 '중성자'!  </a:t>
            </a: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전기가 없어서 안 보였던 알갱이. 전기가 없으니 원자핵 속으로 쏙 들어갈 수 있는 열쇠예요!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17336"/>
            <a:ext cx="105430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제임스 채드윅 (1891~1974) — 핵분열의 문을 여는 열쇠, 중성자를 발견하다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⑤ 한 &amp; 마이트너 — 원자핵이 쪼개졌다! (1938)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6776"/>
            <a:ext cx="237744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30년 단짝 연구 콤비</a:t>
            </a:r>
          </a:p>
        </p:txBody>
      </p:sp>
      <p:pic>
        <p:nvPicPr>
          <p:cNvPr id="8" name="Picture 7" descr="hahn_meit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731" y="1984248"/>
            <a:ext cx="1744218" cy="22860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" y="4297680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62856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8A500"/>
                </a:solidFill>
                <a:latin typeface="Malgun Gothic"/>
                <a:ea typeface="Malgun Gothic"/>
              </a:rPr>
              <a:t>1938년 실험 장치 (진짜!)</a:t>
            </a:r>
          </a:p>
        </p:txBody>
      </p:sp>
      <p:pic>
        <p:nvPicPr>
          <p:cNvPr id="11" name="Picture 10" descr="fission_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360" y="4882896"/>
            <a:ext cx="1584960" cy="11887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3611879" y="1911095"/>
            <a:ext cx="79095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🔬  우라늄에 중성자를 쏘았더니...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채드윅의 중성자를 우라늄에 쏘는 실험을 했어요.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그런데 이상하게 훨씬 가벼운 '바륨'이 나왔어요!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79" y="3282696"/>
            <a:ext cx="79095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❄  마이트너의 눈길 계산!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편지를 받은 마이트너는 조카와 눈길을 걸으며 계산했어요.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"원자핵이 두 조각으로 쪼개진 거야!" — 핵분열의 발견!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79" y="4654296"/>
            <a:ext cx="790956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⚡  사라진 질량 = 에너지!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쪼개지고 나니 질량이 조금 사라졌어요. 그만큼이 에너지로!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아인슈타인의 E=mc²가 딱 맞아떨어진 거예요!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79" y="6025896"/>
            <a:ext cx="7909560" cy="457200"/>
          </a:xfrm>
          <a:prstGeom prst="roundRect">
            <a:avLst>
              <a:gd name="adj" fmla="val 4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F9E44"/>
                </a:solidFill>
                <a:latin typeface="Malgun Gothic"/>
                <a:ea typeface="Malgun Gothic"/>
              </a:rPr>
              <a:t>포기하지 않은 마이트너 — 109번 원소 '마이트너륨'으로 기념되고 있어요!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3!  ⭐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러더포드의 금박 실험! 알갱이 '대부분'이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금종이를 그냥 슝~ 통과한 까닭은?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원자 속이 거의 텅 비어 있어서      ②  금종이가 찢어져서      ③  알갱이가 아주 빨라서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57216"/>
            <a:ext cx="816559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  <p:pic>
        <p:nvPicPr>
          <p:cNvPr id="9" name="Picture 8" descr="pado_w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4837176"/>
            <a:ext cx="9066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핵분열: 어디서 에너지가 나올까?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871216"/>
            <a:ext cx="365760" cy="36576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82696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600200" y="2916936"/>
            <a:ext cx="411480" cy="310896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94560" y="2322576"/>
            <a:ext cx="1463040" cy="1463040"/>
          </a:xfrm>
          <a:prstGeom prst="ellipse">
            <a:avLst/>
          </a:prstGeom>
          <a:solidFill>
            <a:srgbClr val="E8A500"/>
          </a:solidFill>
          <a:ln w="19050">
            <a:solidFill>
              <a:srgbClr val="E86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우라늄</a:t>
            </a:r>
            <a:br/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11" name="Explosion 10"/>
          <p:cNvSpPr/>
          <p:nvPr/>
        </p:nvSpPr>
        <p:spPr>
          <a:xfrm>
            <a:off x="3931920" y="2368296"/>
            <a:ext cx="1371600" cy="1371600"/>
          </a:xfrm>
          <a:prstGeom prst="irregularSeal1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40680" y="2916936"/>
            <a:ext cx="411480" cy="310896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5040" y="2231136"/>
            <a:ext cx="868680" cy="868680"/>
          </a:xfrm>
          <a:prstGeom prst="ellipse">
            <a:avLst/>
          </a:prstGeom>
          <a:solidFill>
            <a:srgbClr val="FFDD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0" y="3236976"/>
            <a:ext cx="868680" cy="868680"/>
          </a:xfrm>
          <a:prstGeom prst="ellipse">
            <a:avLst/>
          </a:prstGeom>
          <a:solidFill>
            <a:srgbClr val="FFDD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0" y="2368296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0" y="2962656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0" y="3557015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5-Point Star 17"/>
          <p:cNvSpPr/>
          <p:nvPr/>
        </p:nvSpPr>
        <p:spPr>
          <a:xfrm>
            <a:off x="7863840" y="2414016"/>
            <a:ext cx="1554480" cy="1554480"/>
          </a:xfrm>
          <a:prstGeom prst="star5">
            <a:avLst/>
          </a:prstGeom>
          <a:solidFill>
            <a:srgbClr val="E8A500"/>
          </a:solidFill>
          <a:ln w="19050">
            <a:solidFill>
              <a:srgbClr val="E86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2322576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50" b="1">
                <a:solidFill>
                  <a:srgbClr val="2F9E44"/>
                </a:solidFill>
                <a:latin typeface="Malgun Gothic"/>
                <a:ea typeface="Malgun Gothic"/>
              </a:rPr>
              <a:t>에너지는 여기서!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2B2B2B"/>
                </a:solidFill>
                <a:latin typeface="Malgun Gothic"/>
                <a:ea typeface="Malgun Gothic"/>
              </a:rPr>
              <a:t>쪼개질 때 사라진</a:t>
            </a:r>
            <a:br/>
            <a:r>
              <a:rPr sz="1050" b="0">
                <a:solidFill>
                  <a:srgbClr val="2B2B2B"/>
                </a:solidFill>
                <a:latin typeface="Malgun Gothic"/>
                <a:ea typeface="Malgun Gothic"/>
              </a:rPr>
              <a:t>아주 작은 질량이</a:t>
            </a:r>
            <a:br/>
            <a:r>
              <a:rPr sz="1050" b="0">
                <a:solidFill>
                  <a:srgbClr val="2B2B2B"/>
                </a:solidFill>
                <a:latin typeface="Malgun Gothic"/>
                <a:ea typeface="Malgun Gothic"/>
              </a:rPr>
              <a:t>에너지로 변신!</a:t>
            </a:r>
            <a:br/>
            <a:r>
              <a:rPr sz="1050" b="0">
                <a:solidFill>
                  <a:srgbClr val="2B2B2B"/>
                </a:solidFill>
                <a:latin typeface="Malgun Gothic"/>
                <a:ea typeface="Malgun Gothic"/>
              </a:rPr>
              <a:t>(E=mc²)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97096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두 조각 + 중성자 3개가 튀어나와요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791456"/>
            <a:ext cx="9994392" cy="914400"/>
          </a:xfrm>
          <a:prstGeom prst="roundRect">
            <a:avLst>
              <a:gd name="adj" fmla="val 16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도미노처럼 계속돼요! 튀어나온 중성자가 옆의 원자핵을 또 쪼개고, 또 쪼개고...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사탕만 한 우라늄 하나 = 코끼리 무게만큼의 석탄과 같은 힘!</a:t>
            </a:r>
          </a:p>
        </p:txBody>
      </p:sp>
      <p:sp>
        <p:nvSpPr>
          <p:cNvPr id="22" name="Rounded Rectangle 21">
            <a:hlinkClick r:id="rId3"/>
          </p:cNvPr>
          <p:cNvSpPr/>
          <p:nvPr/>
        </p:nvSpPr>
        <p:spPr>
          <a:xfrm>
            <a:off x="4631436" y="5888736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▶ </a:t>
            </a:r>
            <a:r>
              <a:rPr sz="1100" b="1">
                <a:solidFill>
                  <a:srgbClr val="194381"/>
                </a:solidFill>
                <a:latin typeface="Malgun Gothic"/>
                <a:ea typeface="Malgun Gothic"/>
              </a:rPr>
              <a:t>핵분열 애니메이션 보기 (4분 이내)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원자력발전소는 이렇게 생겼어요! (계통도)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wr_dia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457" y="1865376"/>
            <a:ext cx="5769085" cy="36576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Oval 7"/>
          <p:cNvSpPr/>
          <p:nvPr/>
        </p:nvSpPr>
        <p:spPr>
          <a:xfrm>
            <a:off x="2274259" y="4306824"/>
            <a:ext cx="384048" cy="384048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9" name="Oval 8"/>
          <p:cNvSpPr/>
          <p:nvPr/>
        </p:nvSpPr>
        <p:spPr>
          <a:xfrm>
            <a:off x="2793477" y="3502152"/>
            <a:ext cx="384048" cy="384048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0" name="Oval 9"/>
          <p:cNvSpPr/>
          <p:nvPr/>
        </p:nvSpPr>
        <p:spPr>
          <a:xfrm>
            <a:off x="4668430" y="3502152"/>
            <a:ext cx="384048" cy="384048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1" name="Oval 10"/>
          <p:cNvSpPr/>
          <p:nvPr/>
        </p:nvSpPr>
        <p:spPr>
          <a:xfrm>
            <a:off x="5620329" y="3575304"/>
            <a:ext cx="384048" cy="384048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12" name="Oval 11"/>
          <p:cNvSpPr/>
          <p:nvPr/>
        </p:nvSpPr>
        <p:spPr>
          <a:xfrm>
            <a:off x="6802991" y="3685032"/>
            <a:ext cx="384048" cy="384048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68696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그림: Wikimedia (CC BY-SA 3.0) 원본에 번호를 붙였어요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819656"/>
            <a:ext cx="310896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① 원자로(노심)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원자핵이 쪼개져 열이 팡!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2670048"/>
            <a:ext cx="310896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② 증기발생기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열을 받아 물이 수증기로!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520440"/>
            <a:ext cx="310896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③ 터빈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수증기가 바람개비를 회전!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4370832"/>
            <a:ext cx="310896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④ 발전기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돌면서 전기가 반짝!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5221224"/>
            <a:ext cx="310896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⑤ 냉각탑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물을 식혀 다시 사용해요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다섯 겹 갑옷! 발전소의 안전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911095"/>
            <a:ext cx="3566160" cy="3566160"/>
          </a:xfrm>
          <a:prstGeom prst="roundRect">
            <a:avLst>
              <a:gd name="adj" fmla="val 15000"/>
            </a:avLst>
          </a:prstGeom>
          <a:solidFill>
            <a:srgbClr val="C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8760" y="2260853"/>
            <a:ext cx="2743200" cy="2866644"/>
          </a:xfrm>
          <a:prstGeom prst="roundRect">
            <a:avLst>
              <a:gd name="adj" fmla="val 15000"/>
            </a:avLst>
          </a:prstGeom>
          <a:solidFill>
            <a:srgbClr val="AAC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40" y="2610612"/>
            <a:ext cx="1920239" cy="2167128"/>
          </a:xfrm>
          <a:prstGeom prst="roundRect">
            <a:avLst>
              <a:gd name="adj" fmla="val 15000"/>
            </a:avLst>
          </a:prstGeom>
          <a:solidFill>
            <a:srgbClr val="86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1720" y="2960370"/>
            <a:ext cx="1097279" cy="1467612"/>
          </a:xfrm>
          <a:prstGeom prst="roundRect">
            <a:avLst>
              <a:gd name="adj" fmla="val 15000"/>
            </a:avLst>
          </a:prstGeom>
          <a:solidFill>
            <a:srgbClr val="5E9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3232403"/>
            <a:ext cx="457200" cy="923544"/>
          </a:xfrm>
          <a:prstGeom prst="roundRect">
            <a:avLst>
              <a:gd name="adj" fmla="val 15000"/>
            </a:avLst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19" y="4974336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다섯 겹 단면 그림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19656"/>
            <a:ext cx="365760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① 연료 알갱이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사탕처럼 단단하게 구워요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670048"/>
            <a:ext cx="365760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② 금속 막대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알갱이를 막대 속에 쏙!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3520440"/>
            <a:ext cx="365760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③ 강철통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두께 25cm 강철!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4370832"/>
            <a:ext cx="365760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④ 강철판 벽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한 번 더 감싸요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5221224"/>
            <a:ext cx="3657600" cy="7315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⑤ 콘크리트 건물 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1m 20cm! 교실 벽의 6배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682496"/>
            <a:ext cx="25603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94381"/>
                </a:solidFill>
                <a:latin typeface="Malgun Gothic"/>
                <a:ea typeface="Malgun Gothic"/>
              </a:rPr>
              <a:t>실물! 둥근 돔이 ⑤번이에요</a:t>
            </a:r>
          </a:p>
        </p:txBody>
      </p:sp>
      <p:pic>
        <p:nvPicPr>
          <p:cNvPr id="19" name="Picture 18" descr="k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339035"/>
            <a:ext cx="2560320" cy="1702612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8869680" y="4069080"/>
            <a:ext cx="28346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(PD)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4334256"/>
            <a:ext cx="25603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고리 발전소의 둥근 콘크리트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돔이 바로 다섯 번째 갑옷!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과학자들이 24시간 지켜요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10543032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겨울에 옷을 다섯 겹 껴입듯이! 방사선이 밖으로 나오지 못하게 겹겹이 지켜요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방사선? 무서워하지 마세요, 늘 곁에 있어요!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82496"/>
            <a:ext cx="9994392" cy="86868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2B2B2B"/>
                </a:solidFill>
                <a:latin typeface="Malgun Gothic"/>
                <a:ea typeface="Malgun Gothic"/>
              </a:rPr>
              <a:t>원자력 하면 '방사선'이 무섭게 느껴지죠? 사실은 눈에 안 보이는 에너지 빛일 뿐,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F9E44"/>
                </a:solidFill>
                <a:latin typeface="Malgun Gothic"/>
                <a:ea typeface="Malgun Gothic"/>
              </a:rPr>
              <a:t>옛날부터 늘 우리 곁에 있었던 자연스러운 친구예요!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" y="2688336"/>
            <a:ext cx="248716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병원 엑스레이</a:t>
            </a:r>
          </a:p>
        </p:txBody>
      </p:sp>
      <p:pic>
        <p:nvPicPr>
          <p:cNvPr id="9" name="Picture 8" descr="xray_h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311" y="3008376"/>
            <a:ext cx="1092729" cy="1600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98932" y="4636008"/>
            <a:ext cx="27614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뢴트겐 촬영 (PD)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" y="4882896"/>
            <a:ext cx="2487168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뼈를 볼 때 쓰는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바로 그 빛!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9292" y="2688336"/>
            <a:ext cx="248716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공항 가방 검사</a:t>
            </a:r>
          </a:p>
        </p:txBody>
      </p:sp>
      <p:pic>
        <p:nvPicPr>
          <p:cNvPr id="13" name="Picture 12" descr="airport_xr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6076" y="3008376"/>
            <a:ext cx="2133599" cy="1600199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3342132" y="4636008"/>
            <a:ext cx="27614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9292" y="4882896"/>
            <a:ext cx="2487168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가방을 열지 않고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속을 봐요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2492" y="2688336"/>
            <a:ext cx="248716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바나나에도 조금!</a:t>
            </a:r>
          </a:p>
        </p:txBody>
      </p:sp>
      <p:pic>
        <p:nvPicPr>
          <p:cNvPr id="17" name="Picture 16" descr="bana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2492" y="3188255"/>
            <a:ext cx="2487168" cy="14203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085332" y="4636008"/>
            <a:ext cx="27614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3.0)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4882896"/>
            <a:ext cx="2487168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먹어도 전혀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문제없는 양이에요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5692" y="2688336"/>
            <a:ext cx="248716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햇빛에도!</a:t>
            </a:r>
          </a:p>
        </p:txBody>
      </p:sp>
      <p:pic>
        <p:nvPicPr>
          <p:cNvPr id="21" name="Picture 20" descr="sun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9176" y="3008376"/>
            <a:ext cx="1600200" cy="1600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8828532" y="4636008"/>
            <a:ext cx="27614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4.0)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4882896"/>
            <a:ext cx="2487168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하늘·땅·돌에도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원래부터 조금씩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5568696"/>
            <a:ext cx="9811512" cy="777240"/>
          </a:xfrm>
          <a:prstGeom prst="roundRect">
            <a:avLst>
              <a:gd name="adj" fmla="val 25000"/>
            </a:avLst>
          </a:prstGeom>
          <a:solidFill>
            <a:srgbClr val="FDF4D9"/>
          </a:solidFill>
          <a:ln w="15875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💡 전구의 빛 = 방사선, 빛을 내는 능력 = 방사능 (퀴리 부인이 지은 이름!) — 과학자들이 늘 재면서 지켜요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62895" cy="2240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5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555F6E"/>
                </a:solidFill>
                <a:latin typeface="Malgun Gothic"/>
                <a:ea typeface="Malgun Gothic"/>
              </a:rPr>
              <a:t>그리고 지구를 지킬 여러분!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6109" y="5394960"/>
            <a:ext cx="3840480" cy="10972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미래의 원자력은 더 멋져! 마지막까지 가 보자!</a:t>
            </a:r>
          </a:p>
        </p:txBody>
      </p:sp>
      <p:sp>
        <p:nvSpPr>
          <p:cNvPr id="6" name="Isosceles Triangle 5"/>
          <p:cNvSpPr/>
          <p:nvPr/>
        </p:nvSpPr>
        <p:spPr>
          <a:xfrm rot="16200000">
            <a:off x="1940077" y="5843016"/>
            <a:ext cx="256032" cy="201168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do_w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57800"/>
            <a:ext cx="1007389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미래의 원자로 가족을 소개합니다!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865376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75104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SMART · SMR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작은 모듈형 원자로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2688336"/>
            <a:ext cx="960120" cy="1234440"/>
          </a:xfrm>
          <a:prstGeom prst="roundRect">
            <a:avLst>
              <a:gd name="adj" fmla="val 25000"/>
            </a:avLst>
          </a:prstGeom>
          <a:solidFill>
            <a:srgbClr val="EAF3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20240" y="2825496"/>
            <a:ext cx="594360" cy="411480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20240" y="3374136"/>
            <a:ext cx="594360" cy="411480"/>
          </a:xfrm>
          <a:prstGeom prst="roundRect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014215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장치를 한 통에 쏙!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우리 연구원 SMART는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세계 최초 인증!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1865376"/>
            <a:ext cx="2514600" cy="301752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800" b="0">
                <a:solidFill>
                  <a:srgbClr val="194381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VHTR (초고온가스로)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950도의 아주 뜨거운 열로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깨끗한 수소를 만들어요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(수소차 연료!)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65376"/>
            <a:ext cx="2514600" cy="3017520"/>
          </a:xfrm>
          <a:prstGeom prst="roundRect">
            <a:avLst>
              <a:gd name="adj" fmla="val 9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800" b="0">
                <a:solidFill>
                  <a:srgbClr val="194381"/>
                </a:solidFill>
                <a:latin typeface="Malgun Gothic"/>
                <a:ea typeface="Malgun Gothic"/>
              </a:rPr>
              <a:t>🍯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MSR (용융염원자로)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녹인 소금에 연료를 섞은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신기한 원자로!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배에 실을 수도 있어요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865376"/>
            <a:ext cx="2514600" cy="301752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800" b="0">
                <a:solidFill>
                  <a:srgbClr val="194381"/>
                </a:solidFill>
                <a:latin typeface="Malgun Gothic"/>
                <a:ea typeface="Malgun Gothic"/>
              </a:rPr>
              <a:t>🌊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SMART의 특기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전기를 만들면서 바닷물을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마실 물로 바꿔요</a:t>
            </a:r>
            <a:br/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(사막 나라에 딱!)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5202936"/>
            <a:ext cx="9628632" cy="868680"/>
          </a:xfrm>
          <a:prstGeom prst="roundRect">
            <a:avLst>
              <a:gd name="adj" fmla="val 22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미국(NuScale) 등 세계가 미래 원자로 개발 경주 중! 우리 연구원도 앞서 달리고 있어요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태양의 비밀을 훔쳐라! 인공태양 KSTAR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36776"/>
            <a:ext cx="420624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500"/>
                </a:solidFill>
                <a:latin typeface="Malgun Gothic"/>
                <a:ea typeface="Malgun Gothic"/>
              </a:rPr>
              <a:t>진짜 태양 (자연 핵융합)</a:t>
            </a:r>
          </a:p>
        </p:txBody>
      </p:sp>
      <p:pic>
        <p:nvPicPr>
          <p:cNvPr id="8" name="Picture 7" descr="sun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002536"/>
            <a:ext cx="2651760" cy="26517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60120" y="4681728"/>
            <a:ext cx="448055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4.0)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962656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2F9E44"/>
                </a:solidFill>
                <a:latin typeface="Malgun Gothic"/>
                <a:ea typeface="Malgun Gothic"/>
              </a:rPr>
              <a:t>같은</a:t>
            </a:r>
            <a:br/>
            <a:r>
              <a:rPr sz="1600" b="1">
                <a:solidFill>
                  <a:srgbClr val="2F9E44"/>
                </a:solidFill>
                <a:latin typeface="Malgun Gothic"/>
                <a:ea typeface="Malgun Gothic"/>
              </a:rPr>
              <a:t>원리!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5623560" y="3922776"/>
            <a:ext cx="1554480" cy="365760"/>
          </a:xfrm>
          <a:prstGeom prst="leftRightArrow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636776"/>
            <a:ext cx="420624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93A3A"/>
                </a:solidFill>
                <a:latin typeface="Malgun Gothic"/>
                <a:ea typeface="Malgun Gothic"/>
              </a:rPr>
              <a:t>인공태양 KSTAR (대전에 진짜 있어요!)</a:t>
            </a:r>
          </a:p>
        </p:txBody>
      </p:sp>
      <p:pic>
        <p:nvPicPr>
          <p:cNvPr id="13" name="Picture 12" descr="ksta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6200" y="2002536"/>
            <a:ext cx="3535679" cy="26517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223760" y="4681728"/>
            <a:ext cx="448055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M. Maccagnan (CC BY-SA 3.0)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937760"/>
            <a:ext cx="697687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🌞 </a:t>
            </a:r>
            <a:r>
              <a:rPr sz="1000" b="1">
                <a:solidFill>
                  <a:srgbClr val="194381"/>
                </a:solidFill>
                <a:latin typeface="Malgun Gothic"/>
                <a:ea typeface="Malgun Gothic"/>
              </a:rPr>
              <a:t>태양: 가벼운 원자핵들이 합쳐지며(핵융합) 빛과 열을 내요. 46억 년째 켜져 있는 자연 핵융합로!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5385816"/>
            <a:ext cx="697687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🔥 </a:t>
            </a:r>
            <a:r>
              <a:rPr sz="1000" b="1">
                <a:solidFill>
                  <a:srgbClr val="194381"/>
                </a:solidFill>
                <a:latin typeface="Malgun Gothic"/>
                <a:ea typeface="Malgun Gothic"/>
              </a:rPr>
              <a:t>KSTAR: 태양처럼 원자핵을 합치는 인공태양! 1억 도의 불덩이를 만들어 세계 기록을 세웠어요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833872"/>
            <a:ext cx="697687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⚡ </a:t>
            </a:r>
            <a:r>
              <a:rPr sz="1000" b="1">
                <a:solidFill>
                  <a:srgbClr val="194381"/>
                </a:solidFill>
                <a:latin typeface="Malgun Gothic"/>
                <a:ea typeface="Malgun Gothic"/>
              </a:rPr>
              <a:t>연료는 바닷물에서! 거의 무한한 꿈의 에너지 — 완성되면 에너지 걱정 끝!</a:t>
            </a:r>
          </a:p>
        </p:txBody>
      </p:sp>
      <p:sp>
        <p:nvSpPr>
          <p:cNvPr id="18" name="Rounded Rectangle 17">
            <a:hlinkClick r:id="rId5"/>
          </p:cNvPr>
          <p:cNvSpPr/>
          <p:nvPr/>
        </p:nvSpPr>
        <p:spPr>
          <a:xfrm>
            <a:off x="8302752" y="5020056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1">
                <a:solidFill>
                  <a:srgbClr val="D93A3A"/>
                </a:solidFill>
                <a:latin typeface="Malgun Gothic"/>
                <a:ea typeface="Malgun Gothic"/>
              </a:rPr>
              <a:t>▶ </a:t>
            </a:r>
            <a:r>
              <a:rPr sz="1100" b="1">
                <a:solidFill>
                  <a:srgbClr val="194381"/>
                </a:solidFill>
                <a:latin typeface="Malgun Gothic"/>
                <a:ea typeface="Malgun Gothic"/>
              </a:rPr>
              <a:t>KSTAR 플라즈마 영상 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5504688"/>
            <a:ext cx="28346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555F6E"/>
                </a:solidFill>
                <a:latin typeface="Malgun Gothic"/>
                <a:ea typeface="Malgun Gothic"/>
              </a:rPr>
              <a:t>버튼을 누르면 1억 도 불덩이</a:t>
            </a:r>
            <a:br/>
            <a:r>
              <a:rPr sz="1000" b="0">
                <a:solidFill>
                  <a:srgbClr val="555F6E"/>
                </a:solidFill>
                <a:latin typeface="Malgun Gothic"/>
                <a:ea typeface="Malgun Gothic"/>
              </a:rPr>
              <a:t>실험 영상을 볼 수 있어요!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우주에서도 원자력이 대활약!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36776"/>
            <a:ext cx="502920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875D1"/>
                </a:solidFill>
                <a:latin typeface="Malgun Gothic"/>
                <a:ea typeface="Malgun Gothic"/>
              </a:rPr>
              <a:t>화성 탐사 로버 큐리오시티 (진짜 화성 셀카!)</a:t>
            </a:r>
          </a:p>
        </p:txBody>
      </p:sp>
      <p:pic>
        <p:nvPicPr>
          <p:cNvPr id="8" name="Picture 7" descr="curios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524" y="2002536"/>
            <a:ext cx="1990711" cy="2743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60120" y="477316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36776"/>
            <a:ext cx="502920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875D1"/>
                </a:solidFill>
                <a:latin typeface="Malgun Gothic"/>
                <a:ea typeface="Malgun Gothic"/>
              </a:rPr>
              <a:t>보이저 탐사선 (NASA 모형)</a:t>
            </a:r>
          </a:p>
        </p:txBody>
      </p:sp>
      <p:pic>
        <p:nvPicPr>
          <p:cNvPr id="11" name="Picture 10" descr="voyag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537" y="2002536"/>
            <a:ext cx="3783724" cy="2743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63640" y="477316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999439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🔋 </a:t>
            </a:r>
            <a:r>
              <a:rPr sz="1050" b="1">
                <a:solidFill>
                  <a:srgbClr val="194381"/>
                </a:solidFill>
                <a:latin typeface="Malgun Gothic"/>
                <a:ea typeface="Malgun Gothic"/>
              </a:rPr>
              <a:t>화성 로버: 햇빛 약하고 영하 90도인 화성에서 10년 넘게 씽씽! 비결은 원자력 전지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385816"/>
            <a:ext cx="999439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🚀 </a:t>
            </a:r>
            <a:r>
              <a:rPr sz="1050" b="1">
                <a:solidFill>
                  <a:srgbClr val="194381"/>
                </a:solidFill>
                <a:latin typeface="Malgun Gothic"/>
                <a:ea typeface="Malgun Gothic"/>
              </a:rPr>
              <a:t>보이저: 원자력 전지로 45년 넘게 날아서 태양계 밖까지! 아직도 신호를 보내요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5833872"/>
            <a:ext cx="9994392" cy="384048"/>
          </a:xfrm>
          <a:prstGeom prst="roundRect">
            <a:avLst>
              <a:gd name="adj" fmla="val 4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0" bIns="0"/>
          <a:lstStyle/>
          <a:p>
            <a:pPr algn="ctr"/>
            <a:r>
              <a:rPr sz="1050" b="0">
                <a:solidFill>
                  <a:srgbClr val="2875D1"/>
                </a:solidFill>
                <a:latin typeface="Malgun Gothic"/>
                <a:ea typeface="Malgun Gothic"/>
              </a:rPr>
              <a:t>🌙 </a:t>
            </a:r>
            <a:r>
              <a:rPr sz="1050" b="1">
                <a:solidFill>
                  <a:srgbClr val="194381"/>
                </a:solidFill>
                <a:latin typeface="Malgun Gothic"/>
                <a:ea typeface="Malgun Gothic"/>
              </a:rPr>
              <a:t>미래: 달 기지의 전기도 원자력으로! 우리나라도 우주용 원자력 전지를 세계 3번째로 개발!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4!  ⭐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우리나라 인공태양 'KSTAR'의 온도는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몇 도까지 올라갔을까요?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100도          ②  1만 도          ③  1억 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57216"/>
            <a:ext cx="816559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  <p:pic>
        <p:nvPicPr>
          <p:cNvPr id="9" name="Picture 8" descr="pado_w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4837176"/>
            <a:ext cx="9066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지구를 지키는 어린이 연구원의 약속!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전기를 아껴요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안 쓰는 불 끄기, 플러그 뽑기!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작지만 진짜 탄소중립 실천이에요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❓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질문왕이 돼요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"왜?", "어떻게?"라고 묻는 순간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과학자의 꿈이 시작돼요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과학과 친해져요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오늘 배운 이야기를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가족에게 설명해 봐요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0555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크게 꿈꿔요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인공태양을 완성할 미래의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박사님이 바로 여러분!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74336"/>
            <a:ext cx="10543032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퀴리 부인도, 아인슈타인도 여러분만 한 어린이였어요. 다음 차례는 여러분!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9646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오늘의 이야기, 기억해 주세요!</a:t>
            </a:r>
          </a:p>
        </p:txBody>
      </p:sp>
      <p:pic>
        <p:nvPicPr>
          <p:cNvPr id="4" name="Picture 3" descr="pado_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118" y="109728"/>
            <a:ext cx="1049536" cy="10789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20" y="1819656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🌍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CO₂ 이불(온실효과) 때문에 지구가 뜨거워지고 있어요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532888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🌱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탄소중립 = 내뿜는 CO₂와 없애는 CO₂를 맞춰 '0'으로 만드는 세계의 약속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246120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⚡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원자력은 태우지 않아서 CO₂가 석탄의 150분의 1! (약 6g)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959352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🔬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위대한 실험들이 릴레이로 이어져 원자력이 태어났어요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4672584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☀️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태양광·풍력·원자력은 서로를 채워주는 지구 지킴이 드림팀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5385816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🌟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그리고 전기를 아끼는 여러분이 바로 탄소중립의 주인공!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63056"/>
            <a:ext cx="1054303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지구 지킴이 어린이 연구원 여러분, 수료를 축하합니다!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