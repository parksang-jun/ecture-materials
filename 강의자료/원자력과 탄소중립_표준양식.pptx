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(밝게 인사하며)</a:t>
            </a:r>
          </a:p>
          <a:p>
            <a:r>
              <a:t>안녕하세요, 여러분! 저는 한국원자력연구원에서 온 연구원 ○○○입니다.</a:t>
            </a:r>
          </a:p>
          <a:p>
            <a:r>
              <a:t>오늘의 주제는 '원자력과 탄소중립'이에요. 말이 조금 어렵죠?</a:t>
            </a:r>
          </a:p>
          <a:p>
            <a:r>
              <a:t>쉽게 말하면 "뜨거워진 지구를 지키는 깨끗한 에너지 이야기"랍니다.</a:t>
            </a:r>
          </a:p>
          <a:p>
            <a:r>
              <a:t>오늘 여러분은 하루 동안 '어린이 연구원'이 되어 저와 함께 그 비밀을 찾아볼 거예요.</a:t>
            </a:r>
          </a:p>
          <a:p>
            <a:r>
              <a:t>(파동이 가리키며) 그리고 여기, 우리를 도와줄 친구를 소개할게요. 원자력연구원의 마스코트 '파동이'예요! 파동이가 오늘 견학 안내를 맡았답니다.</a:t>
            </a:r>
          </a:p>
          <a:p>
            <a:r>
              <a:t>준비됐나요? 큰 소리로 "네!" 하고 외쳐 볼까요? 자,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이야기는 다섯 부분으로 되어 있어요.</a:t>
            </a:r>
          </a:p>
          <a:p>
            <a:r>
              <a:t>파트 1, 지구의 SOS! 지구가 왜 뜨거워지는지 알아봐요.</a:t>
            </a:r>
          </a:p>
          <a:p>
            <a:r>
              <a:t>파트 2, 탄소중립! 세계의 약속과 어떤 에너지를 골라야 하는지 배워요.</a:t>
            </a:r>
          </a:p>
          <a:p>
            <a:r>
              <a:t>파트 3, 그 깨끗한 에너지를 연구하는 곳, 원자력연구원은 어떤 일을 하는지 구경해요.</a:t>
            </a:r>
          </a:p>
          <a:p>
            <a:r>
              <a:t>파트 4, 원자력 기초실! 위대한 과학자들이 어떤 실험으로 원자력을 발견했는지, 발전소는 어떻게 돌아가는지 배워요.</a:t>
            </a:r>
          </a:p>
          <a:p>
            <a:r>
              <a:t>파트 5, 미래의 원자력과 여러분이 할 일까지!</a:t>
            </a:r>
          </a:p>
          <a:p>
            <a:r>
              <a:t>중간중간 깜짝 퀴즈가 나오니까 집중! 다 맞히면 '지구 지킴이 어린이 연구원'으로 수료할 수 있어요.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첫 번째 이야기를 시작할게요.</a:t>
            </a:r>
          </a:p>
          <a:p>
            <a:r>
              <a:t>여러분, 요즘 여름이 정말 덥죠? 뉴스에서 '지구온난화'라는 말 들어봤나요?</a:t>
            </a:r>
          </a:p>
          <a:p>
            <a:r>
              <a:t>지금 지구가 우리에게 SOS, 도와달라는 신호를 보내고 있대요.</a:t>
            </a:r>
          </a:p>
          <a:p>
            <a:r>
              <a:t>무슨 일인지 함께 알아봐요!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지구가 왜 뜨거워질까요? 범인은 바로 '이산화탄소', 영어로 CO₂(씨오투)예요.</a:t>
            </a:r>
          </a:p>
          <a:p>
            <a:r>
              <a:t>석탄이나 석유를 태울 때 뿜어져 나오는데, 하늘에 모여서 지구를 두꺼운 이불처럼 감싸요.</a:t>
            </a:r>
          </a:p>
          <a:p>
            <a:r>
              <a:t>여름에 두꺼운 이불을 덮고 자면 어떨까요? 너무 덥겠죠! 지구가 지금 딱 그런 상태예요.</a:t>
            </a:r>
          </a:p>
          <a:p>
            <a:r>
              <a:t>(첫 번째 사진) 그래서 북극의 얼음이 녹고 있어요. 얼음 위에서 사냥하며 사는 북극곰은 집이 사라져서 정말 힘들어하고 있대요.</a:t>
            </a:r>
          </a:p>
          <a:p>
            <a:r>
              <a:t>(두 번째 사진) 이것 보세요. 가뭄으로 땅이 쩍쩍 갈라졌죠? 어떤 곳은 너무 덥고 메말라가고 있어요.</a:t>
            </a:r>
          </a:p>
          <a:p>
            <a:r>
              <a:t>(세 번째 사진) 그리고 녹은 얼음 때문에 바닷물이 높아져서, 바닷가 마을과 낮은 섬들이 물에 잠길 위험에 놓였어요.</a:t>
            </a:r>
          </a:p>
          <a:p>
            <a:r>
              <a:t>지난 100년 동안 지구는 약 1도나 뜨거워졌어요. 우리가 열이 나면 1도만 올라도 아프죠? 지구도 똑같아요.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이 이산화탄소는 어디서 나올까요?</a:t>
            </a:r>
          </a:p>
          <a:p>
            <a:r>
              <a:t>자동차와 비행기가 기름을 태울 때, 공장에서 물건을 만들 때, 집에서 난방할 때도 나와요.</a:t>
            </a:r>
          </a:p>
          <a:p>
            <a:r>
              <a:t>그런데 제일 큰 범인 중 하나는 바로... 전기 만들기예요!</a:t>
            </a:r>
          </a:p>
          <a:p>
            <a:r>
              <a:t>(사진 가리키며) 이게 석탄을 태워 전기를 만드는 발전소예요. 굴뚝에서 연기가 모락모락 나오죠? 저 속에 이산화탄소가 가득해요.</a:t>
            </a:r>
          </a:p>
          <a:p>
            <a:r>
              <a:t>그렇다고 전기를 안 쓸 수 있나요? TV, 에어컨, 냉장고, 게임기, 학교, 병원... 전기는 오히려 점점 더 많이 필요해요.</a:t>
            </a:r>
          </a:p>
          <a:p>
            <a:r>
              <a:t>자, 그럼 어떻게 해야 할까요? "전기는 많이 만들면서, 이산화탄소는 안 나오게!" 이게 바로 오늘의 큰 숙제랍니다.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지구를 지키기 위한 세계의 약속, '탄소중립'!</a:t>
            </a:r>
          </a:p>
          <a:p>
            <a:r>
              <a:t>두 번째 이야기에서는 탄소중립이 무엇인지, 그리고 탄소중립을 위해</a:t>
            </a:r>
          </a:p>
          <a:p>
            <a:r>
              <a:t>어떤 에너지를 골라야 하는지 알아볼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세계가 큰 약속을 했어요. 이름하여 '탄소중립'! 다 같이 말해 볼까요? "탄소중립!"</a:t>
            </a:r>
          </a:p>
          <a:p>
            <a:r>
              <a:t>말이 어렵지만 저울을 생각하면 쉬워요. (그림 가리키며)</a:t>
            </a:r>
          </a:p>
          <a:p>
            <a:r>
              <a:t>저울 왼쪽은 우리가 내뿜는 이산화탄소예요. 공장, 자동차, 전기 만들기에서 나오죠.</a:t>
            </a:r>
          </a:p>
          <a:p>
            <a:r>
              <a:t>저울 오른쪽은 이산화탄소를 없애는 일이에요. 나무를 심고, CO₂가 안 나오는 깨끗한 에너지를 쓰는 것!</a:t>
            </a:r>
          </a:p>
          <a:p>
            <a:r>
              <a:t>이 양쪽을 딱! 맞춰서 하늘에 더해지는 CO₂를 '0'으로 만드는 게 탄소중립이에요.</a:t>
            </a:r>
          </a:p>
          <a:p>
            <a:r>
              <a:t>중요한 포인트! 하나도 안 만드는 게 아니라, 내뿜는 만큼 없애서 결과를 0으로 만드는 거예요. 그래서 이름이 '중립'!</a:t>
            </a:r>
          </a:p>
          <a:p>
            <a:r>
              <a:t>우리나라를 포함한 세계 여러 나라가 "2050년까지 탄소중립을 이루겠다!"고 약속했답니다.</a:t>
            </a:r>
          </a:p>
          <a:p>
            <a:r>
              <a:t>그런데 여기서 파트 1의 숙제가 다시 나와요. "전기는 많이, CO₂는 없이!" 어떻게 하면 될까요? 방법을 찾으러 가 봅시다!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자격 시험! 방금 배운 걸 떠올려 보세요.</a:t>
            </a:r>
          </a:p>
          <a:p>
            <a:r>
              <a:t>탄소중립은 이산화탄소를 하나도 안 만드는 것이다, 맞을까요? 팔로 크게! 하나, 둘, 셋!</a:t>
            </a:r>
          </a:p>
          <a:p>
            <a:r>
              <a:t>정답은... 엑스! 조금 어려웠죠?</a:t>
            </a:r>
          </a:p>
          <a:p>
            <a:r>
              <a:t>탄소중립은 내뿜는 CO₂와 없애는 CO₂를 저울처럼 딱 맞춰서 더해지는 양을 '0'으로 만드는 거예요.</a:t>
            </a:r>
          </a:p>
          <a:p>
            <a:r>
              <a:t>그래서 이름이 '중립'이랍니다. 맞힌 친구는 벌써 절반은 지구 지킴이!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숙제를 풀 방법이 있어요! 바로 '태우지 않고' 전기를 만드는 거예요.</a:t>
            </a:r>
          </a:p>
          <a:p>
            <a:r>
              <a:t>태우지 않으면 이산화탄소가 나오지 않으니까요. 그 후보 선수들을 소개합니다!</a:t>
            </a:r>
          </a:p>
          <a:p>
            <a:r>
              <a:t>첫 번째, 태양광 선수! 지붕 위의 검은 판, 본 적 있죠? 햇빛을 받아서 전기를 만들어요.</a:t>
            </a:r>
          </a:p>
          <a:p>
            <a:r>
              <a:t>두 번째, 풍력 선수! 산이나 바다의 커다란 바람개비예요. 바람의 힘으로 전기를 만들죠.</a:t>
            </a:r>
          </a:p>
          <a:p>
            <a:r>
              <a:t>세 번째, 오늘의 주인공 원자력 선수! 아주아주 작은 '원자'의 힘으로 전기를 만들어요. 아직 낯설죠? 파트 4에서 자세히 소개할게요!</a:t>
            </a:r>
          </a:p>
          <a:p>
            <a:r>
              <a:t>셋 다 태우지 않으니까 CO₂ 걱정이 없어요.</a:t>
            </a:r>
          </a:p>
          <a:p>
            <a:r>
              <a:t>그런데 정말 얼마나 깨끗할까요? 다음 장에서 석탄과 직접 비교해 봅시다!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전기를 만드는 방법마다 이산화탄소가 얼마나 나오는지 비교해 볼까요? (그래프 가리키며)</a:t>
            </a:r>
          </a:p>
          <a:p>
            <a:r>
              <a:t>전기 1을 만들 때 석탄은 약 900그램! 콜라 세 캔 무게만큼 나와요. 석유는 약 450그램.</a:t>
            </a:r>
          </a:p>
          <a:p>
            <a:r>
              <a:t>그런데 태양광은 54그램, 풍력은 15그램으로 확 줄죠?</a:t>
            </a:r>
          </a:p>
          <a:p>
            <a:r>
              <a:t>오늘의 주인공 원자력은... 겨우 6그램! 석탄의 150분의 1이에요!</a:t>
            </a:r>
          </a:p>
          <a:p>
            <a:r>
              <a:t>왜 이렇게 적을까요? 아까 배웠죠! 태우는 게 아니라 핵분열의 열로 물을 끓이니까요.</a:t>
            </a:r>
          </a:p>
          <a:p>
            <a:r>
              <a:t>원자력이 태양광·풍력과 어깨를 나란히 하는 깨끗한 에너지라는 건 세계 과학자들이 인정한 사실이랍니다.</a:t>
            </a:r>
          </a:p>
          <a:p>
            <a:r>
              <a:t>그런데 원자력은 도대체 뭐길래 이렇게 깨끗할까요? 그 비밀은 잠시 후 PART 4 '원자력 기초실'에서 밝혀드릴게요!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태양광, 풍력, 원자력 중에 뭐가 제일 좋을까요? 정답은... 다 같이 힘을 합치는 것!</a:t>
            </a:r>
          </a:p>
          <a:p>
            <a:r>
              <a:t>(사진 가리키며) 태양광 패널과 바람개비 풍력 발전기예요. 둘 다 아주 깨끗한 에너지죠.</a:t>
            </a:r>
          </a:p>
          <a:p>
            <a:r>
              <a:t>그런데 태양광은 해가 지면 쉬어야 하고, 풍력은 바람이 멈추면 쉬어야 해요.</a:t>
            </a:r>
          </a:p>
          <a:p>
            <a:r>
              <a:t>우리는 밤에도 전기가 필요하잖아요? 냉장고는 24시간 돌아가야 하니까요!</a:t>
            </a:r>
          </a:p>
          <a:p>
            <a:r>
              <a:t>바로 그때 원자력이 활약해요. 밤낮없이, 날씨에 상관없이 24시간 전기를 듬뿍 만들거든요.</a:t>
            </a:r>
          </a:p>
          <a:p>
            <a:r>
              <a:t>해가 쨍쨍한 낮에는 태양광이, 밤과 흐린 날에는 원자력이! 서로 부족한 점을 채워주는 드림팀이에요.</a:t>
            </a:r>
          </a:p>
          <a:p>
            <a:r>
              <a:t>탄소중립은 어느 한 명의 히어로가 아니라, 깨끗한 에너지 팀 전체가 함께 이루는 거랍니다.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(지구 사진 가리키며) 우주에서 본 우리 지구예요. 파랗고 아름답죠? 이 지구를 지키려고 세계가 움직이고 있어요.</a:t>
            </a:r>
          </a:p>
          <a:p>
            <a:r>
              <a:t>지금 세계 30여 개 나라에서 400기가 넘는 원자로가 전기를 만들고 있고요,</a:t>
            </a:r>
          </a:p>
          <a:p>
            <a:r>
              <a:t>2023년에는 우리나라를 포함한 세계 20여 개 나라가 큰 약속을 했어요.</a:t>
            </a:r>
          </a:p>
          <a:p>
            <a:r>
              <a:t>"2050년까지 원자력을 지금의 3배로 늘려서 탄소중립을 이루자!"</a:t>
            </a:r>
          </a:p>
          <a:p>
            <a:r>
              <a:t>그리고 자랑스러운 사실! 우리나라는 사막 나라 아랍에미리트에 원자력발전소를 수출해서,</a:t>
            </a:r>
          </a:p>
          <a:p>
            <a:r>
              <a:t>다른 나라의 탄소중립까지 돕고 있답니다. 어깨가 으쓱하죠?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우리나라는 어떨까요? (그래프 가리키며)</a:t>
            </a:r>
          </a:p>
          <a:p>
            <a:r>
              <a:t>지금 우리나라 전기의 약 3분의 1을 원자력이 만들고 있어요.</a:t>
            </a:r>
          </a:p>
          <a:p>
            <a:r>
              <a:t>여러분 집에 전등이 세 개 있다면, 그중 하나는 원자력이 켜고 있는 셈이죠!</a:t>
            </a:r>
          </a:p>
          <a:p>
            <a:r>
              <a:t>(사진 가리키며) 이게 부산 근처에 있는 고리 원자력발전소예요. 이런 발전소들이 밤낮없이 깨끗한 전기를 만들고 있어요.</a:t>
            </a:r>
          </a:p>
          <a:p>
            <a:r>
              <a:t>이 전기를 이산화탄소 없이 만드니까, 매년 어마어마하게 큰 숲이 흡수하는 만큼의 CO₂를 줄이고 있는 거예요.</a:t>
            </a:r>
          </a:p>
          <a:p>
            <a:r>
              <a:t>만약 원자력이 없다면? 그만큼을 석탄이나 가스로 만들어야 해서 이산화탄소가 훨씬 늘어나겠죠.</a:t>
            </a:r>
          </a:p>
          <a:p>
            <a:r>
              <a:t>그래서 원자력은 우리나라 탄소중립의 든든한 기둥이랍니다.</a:t>
            </a:r>
          </a:p>
          <a:p>
            <a:r>
              <a:t>그런데 이 원자력, 도대체 누가 연구하고 어떻게 만드는 걸까요? 다음 파트에서 알려드릴게요!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자격 시험! 잘 고민해 보세요.</a:t>
            </a:r>
          </a:p>
          <a:p>
            <a:r>
              <a:t>밤에도, 바람이 없어도 깨끗한 전기를 만들 수 있는 에너지는? 하나, 둘, 셋!</a:t>
            </a:r>
          </a:p>
          <a:p>
            <a:r>
              <a:t>정답은 ②번, 원자력! 태양광은 깨끗하지만 해가 지면 쉬어야 하죠.</a:t>
            </a:r>
          </a:p>
          <a:p>
            <a:r>
              <a:t>원자력은 밤낮없이, 날씨에 상관없이 24시간 깨끗한 전기를 만들 수 있어요.</a:t>
            </a:r>
          </a:p>
          <a:p>
            <a:r>
              <a:t>그래서 태양광·풍력과 원자력이 팀을 이루면 최고의 지구 지킴이가 된답니다!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탄소중립의 해결사 원자력! 그럼 이 원자력은 누가 연구할까요?</a:t>
            </a:r>
          </a:p>
          <a:p>
            <a:r>
              <a:t>바로 제가 일하는 곳, 한국원자력연구원이에요.</a:t>
            </a:r>
          </a:p>
          <a:p>
            <a:r>
              <a:t>대전에 있는 우리나라 최대 원자력 연구소인데, 어떤 일을 하는지 구경시켜 드릴게요!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미래의 원자력을 만드는 곳, 바로 제가 일하는 한국원자력연구원이에요!</a:t>
            </a:r>
          </a:p>
          <a:p>
            <a:r>
              <a:t>대전에 있는 우리나라에서 제일 큰 원자력 연구소인데, 수천 명의 과학자가 일하고 있어요.</a:t>
            </a:r>
          </a:p>
          <a:p>
            <a:r>
              <a:t>첫째, 더 안전하고 똑똑한 새 원자로를 설계하고요.</a:t>
            </a:r>
          </a:p>
          <a:p>
            <a:r>
              <a:t>둘째, 아픈 곳을 콕 찾아가는 특별한 약, 방사성의약품을 만들어요. 아픈 어린이들을 위한 약도요!</a:t>
            </a:r>
          </a:p>
          <a:p>
            <a:r>
              <a:t>셋째, 우리 손으로 만든 연구용 원자로 '하나로'로 신기한 재료를 연구하고,</a:t>
            </a:r>
          </a:p>
          <a:p>
            <a:r>
              <a:t>넷째, 원자력을 언제나 안전하게 쓰는 방법을 연구해요.</a:t>
            </a:r>
          </a:p>
          <a:p>
            <a:r>
              <a:t>한마디로 '원자력으로 사람들을 안전하게 돕는 방법'을 연구하는 곳이랍니다.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우리나라 원자력의 역사, 진짜 사진으로 보여드릴게요!</a:t>
            </a:r>
          </a:p>
          <a:p>
            <a:r>
              <a:t>(첫 번째 그림) 1942년, 세계 최초의 원자로 CP-1이에요. 미국 시카고대학교 운동장 관중석 아래에 몰래 만들어졌어요!</a:t>
            </a:r>
          </a:p>
          <a:p>
            <a:r>
              <a:t>성공하자 과학자들은 암호 전보를 보냈대요. "이탈리아 항해사가 신대륙에 도착했다!" 스파이 영화 같죠?</a:t>
            </a:r>
          </a:p>
          <a:p>
            <a:r>
              <a:t>(두 번째 사진) 1978년, 우리나라 최초의 원자력발전소 고리 1호기! 이때는 외국의 도움을 받아야 했어요.</a:t>
            </a:r>
          </a:p>
          <a:p>
            <a:r>
              <a:t>(세 번째 사진) 그런데 지금은! 사막 나라 아랍에미리트의 바라카 발전소예요. 우리가 만든 원자로를 수출한 거죠!</a:t>
            </a:r>
          </a:p>
          <a:p>
            <a:r>
              <a:t>배우던 나라에서 가르쳐 주는 나라가 되기까지 40여 년. 이 모든 과정을 원자력연구원이 함께했답니다.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연구원의 보물, 연구용 원자로 '하나로'를 소개할게요.</a:t>
            </a:r>
          </a:p>
          <a:p>
            <a:r>
              <a:t>1995년에 우리 과학자들이 100% 우리 손으로 설계하고 만든 원자로예요. 이름처럼 '하나'뿐인 소중한 원자로죠.</a:t>
            </a:r>
          </a:p>
          <a:p>
            <a:r>
              <a:t>발전소 원자로와 달라요. 전기를 만드는 게 아니라 연구를 하는 원자로거든요!</a:t>
            </a:r>
          </a:p>
          <a:p>
            <a:r>
              <a:t>자동차와 배에 쓰는 튼튼한 재료도 연구하고, 반도체도 더 좋게 만들고, 병원에서 쓰는 약 재료도 만들어요.</a:t>
            </a:r>
          </a:p>
          <a:p>
            <a:r>
              <a:t>(사진 가리키며) 그리고 이것 보세요! 연구용 원자로 속에서는 신비한 푸른빛이 나요. '체렌코프 빛'이라고 하는데, 하나로에서도 볼 수 있답니다. SF 영화 같죠?</a:t>
            </a:r>
          </a:p>
          <a:p>
            <a:r>
              <a:t>하나로는 아시아 최초로 국제원자력기구가 뽑은 국제 연구센터가 됐어요. 세계가 인정한 우리 원자로예요!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원자력 기초실로 들어갑니다!</a:t>
            </a:r>
          </a:p>
          <a:p>
            <a:r>
              <a:t>원자력은 어느 날 뚝딱 생긴 게 아니라, 위대한 과학자들의 실험이 릴레이로 이어져 만들어진 거예요.</a:t>
            </a:r>
          </a:p>
          <a:p>
            <a:r>
              <a:t>과학자들이 어떤 실험을 했는지, 그리고 발전소는 어떤 원리로 돌아가는지, 지금부터 하나씩 배워봐요!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원자력을 알려면 먼저 '원자'부터 만나야 해요.</a:t>
            </a:r>
          </a:p>
          <a:p>
            <a:r>
              <a:t>레고 블록을 모으면 집도, 자동차도, 공룡도 만들 수 있죠? 세상 모든 것도 똑같아요.</a:t>
            </a:r>
          </a:p>
          <a:p>
            <a:r>
              <a:t>책도, 사과도, 물도, 강아지도, 우리 몸도 전부 '원자'라는 아주 작은 블록으로 만들어져 있어요.</a:t>
            </a:r>
          </a:p>
          <a:p>
            <a:r>
              <a:t>얼마나 작냐면, 원자 1억 개를 한 줄로 세워야 겨우 1센티미터! 새끼손톱 너비 정도예요.</a:t>
            </a:r>
          </a:p>
          <a:p>
            <a:r>
              <a:t>(그림 가리키며) 원자 속을 들여다보면 이렇게 생겼어요. 한가운데 단단한 심장 '원자핵'이 있고, 주위를 '전자'가 쌩쌩 돌아요.</a:t>
            </a:r>
          </a:p>
          <a:p>
            <a:r>
              <a:t>원자를 축구장만큼 튀겨보면 원자핵은 축구공만 하고 전자는 개미만 해요. 속이 거의 텅 비어 있는 거죠!</a:t>
            </a:r>
          </a:p>
          <a:p>
            <a:r>
              <a:t>이 작디작은 원자핵이 변신할 때 어마어마한 힘이 나와요. 그게 바로 '원자력'이랍니다.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원자력은 위대한 과학자들이 릴레이로 발견해 온 거예요. 진짜 사진과 함께 만나 볼까요?</a:t>
            </a:r>
          </a:p>
          <a:p>
            <a:r>
              <a:t>1895년 뢴트겐은 뼈가 보이는 신기한 빛 'X선'을 발견했어요. 아내 손을 찍은 사진이 세계 최초의 엑스레이!</a:t>
            </a:r>
          </a:p>
          <a:p>
            <a:r>
              <a:t>1898년 퀴리 부인은 스스로 빛나는 돌 '라듐'을 발견하고 '방사능'이라는 이름을 지었어요. 노벨상을 두 번이나 받았죠!</a:t>
            </a:r>
          </a:p>
          <a:p>
            <a:r>
              <a:t>1905년 아인슈타인은 E=mc², "작은 알갱이 속에 큰 에너지가 숨어 있다"는 비밀을 밝혔고,</a:t>
            </a:r>
          </a:p>
          <a:p>
            <a:r>
              <a:t>1911년 러더포드는 금박 실험으로 원자핵을, 1932년 채드윅은 중성자를 발견했어요.</a:t>
            </a:r>
          </a:p>
          <a:p>
            <a:r>
              <a:t>그리고 1938년, 한과 마이트너가 드디어 '핵분열'을 발견하면서 원자력 시대가 열렸답니다!</a:t>
            </a:r>
          </a:p>
          <a:p>
            <a:r>
              <a:t>이 릴레이가 하나라도 끊겼다면 오늘의 전기도 병원의 엑스레이도 없었을 거예요.</a:t>
            </a:r>
          </a:p>
          <a:p>
            <a:r>
              <a:t>자, 그럼 지금부터 이분들이 '어떤 실험'을 했는지 한 분씩 자세히 만나 볼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실험 이야기, 뢴트겐 박사님! (사진 가리키며) 멋진 수염의 이분이 진짜 뢴트겐이에요.</a:t>
            </a:r>
          </a:p>
          <a:p>
            <a:r>
              <a:t>1895년 어느 날 밤, 뢴트겐은 유리관으로 실험을 하고 있었어요. 유리관을 검은 종이로 꽁꽁 감쌌는데도,</a:t>
            </a:r>
          </a:p>
          <a:p>
            <a:r>
              <a:t>저 멀리 책상 위의 스크린이 반짝반짝 빛나는 게 아니겠어요? "이 빛은 종이를 뚫고 나왔잖아?!"</a:t>
            </a:r>
          </a:p>
          <a:p>
            <a:r>
              <a:t>실험해 보니 이 빛은 종이도, 나무도, 살도 뚫는데 뼈와 금속은 못 뚫었어요. 이름을 몰라서 수수께끼 'X'를 붙여 'X선'!</a:t>
            </a:r>
          </a:p>
          <a:p>
            <a:r>
              <a:t>그리고 아내의 손을 찍어봤더니... (옆 사진) 짜잔! 뼈와 결혼반지가 그대로! 세계 최초의 엑스레이 사진이에요. 130년 전 사진이랍니다.</a:t>
            </a:r>
          </a:p>
          <a:p>
            <a:r>
              <a:t>이 발견으로 뢴트겐은 1901년, 세계 최초의 노벨 물리학상을 받았어요.</a:t>
            </a:r>
          </a:p>
          <a:p>
            <a:r>
              <a:t>여러분이 병원에서 찍는 엑스레이가 바로 이 실험에서 시작된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실험 이야기, 퀴리 부부! (사진 가리키며) 실험실에서 연구하는 마리와 피에르의 진짜 모습이에요.</a:t>
            </a:r>
          </a:p>
          <a:p>
            <a:r>
              <a:t>퀴리 부인은 "우라늄 말고도 방사선을 내는 게 더 있을 거야!"라고 생각했어요.</a:t>
            </a:r>
          </a:p>
          <a:p>
            <a:r>
              <a:t>그래서 낡은 창고 실험실에서 무려 4년 동안, 8톤이나 되는 돌덩이(광석)를 커다란 솥에 넣고 끓이고 저으며 실험했어요. 8톤이면 코끼리 두 마리가 넘는 무게예요!</a:t>
            </a:r>
          </a:p>
          <a:p>
            <a:r>
              <a:t>그렇게 해서 마침내 새로운 원소를 발견했어요. 밤에 실험실 문을 열면 이 원소가 어둠 속에서 푸르스름하게 반짝였대요. 이름은 '라듐'!</a:t>
            </a:r>
          </a:p>
          <a:p>
            <a:r>
              <a:t>(원소 카드 가리키며) 라듐은 지금도 주기율표 88번에 당당히 올라 있어요.</a:t>
            </a:r>
          </a:p>
          <a:p>
            <a:r>
              <a:t>퀴리 부인은 이런 성질에 '방사능'이라는 이름을 지었고, 노벨상을 두 번이나 받았어요. 여성 최초!</a:t>
            </a:r>
          </a:p>
          <a:p>
            <a:r>
              <a:t>"두려워할 것은 없다, 이해해야 할 것만 있을 뿐!" 포기를 모르는 퀴리 부인의 말이에요.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실험 이야기, 러더포드! (사진 가리키며) 원자핵의 아버지라고 불리는 분이에요.</a:t>
            </a:r>
          </a:p>
          <a:p>
            <a:r>
              <a:t>러더포드는 아주 기발한 실험을 했어요. 종이보다 훨씬 얇은 금종이에 아주 작은 알갱이들을 총알처럼 쏘아본 거예요.</a:t>
            </a:r>
          </a:p>
          <a:p>
            <a:r>
              <a:t>(그림 가리키며) 알갱이 대부분은 슝~ 그냥 통과했어요. 그런데! 아주 가끔 알갱이가 텅! 하고 튕겨 나왔어요.</a:t>
            </a:r>
          </a:p>
          <a:p>
            <a:r>
              <a:t>러더포드는 깜짝 놀라 이렇게 말했대요. "휴지에 대포를 쐈는데 대포알이 튕겨 나온 것만큼 놀라운 일이다!"</a:t>
            </a:r>
          </a:p>
          <a:p>
            <a:r>
              <a:t>그리고 멋진 추리를 했죠. 대부분 통과했다 → 원자 속은 거의 텅 비어 있다!</a:t>
            </a:r>
          </a:p>
          <a:p>
            <a:r>
              <a:t>가끔 튕겼다 → 한가운데 아주 작고 단단한 무언가가 있다! 그게 바로 '원자핵' 발견의 순간이에요.</a:t>
            </a:r>
          </a:p>
          <a:p>
            <a:r>
              <a:t>원자가 축구장이라면 원자핵은 축구공만 하다는 비밀을 이 실험이 밝혀냈답니다.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발견 릴레이의 마지막 실험들이에요!</a:t>
            </a:r>
          </a:p>
          <a:p>
            <a:r>
              <a:t>(왼쪽 사진) 1932년, 채드윅은 원자핵에 알갱이를 쏘는 실험을 하다가 전기를 띠지 않는 새 알갱이를 발견했어요. 바로 '중성자'!</a:t>
            </a:r>
          </a:p>
          <a:p>
            <a:r>
              <a:t>전기가 없으니 원자핵 속으로 쏙 들어갈 수 있어서, 나중에 핵분열의 문을 여는 열쇠가 됐죠.</a:t>
            </a:r>
          </a:p>
          <a:p>
            <a:r>
              <a:t>(가운데 사진) 그리고 이 두 분, 오토 한과 리제 마이트너! 실험실에서 30년 넘게 함께 연구한 단짝이에요.</a:t>
            </a:r>
          </a:p>
          <a:p>
            <a:r>
              <a:t>(세 번째 사진) 이게 1938년 핵분열을 발견한 진짜 실험 장치예요. 지금 독일 박물관에 있어요. 책상 하나 크기의 장치로 세상을 바꾼 거죠!</a:t>
            </a:r>
          </a:p>
          <a:p>
            <a:r>
              <a:t>우라늄에 중성자를 쏘는 실험을 하다가, 원자핵이 두 조각으로 쪼개진 것을 발견했어요. '핵분열'의 발견!</a:t>
            </a:r>
          </a:p>
          <a:p>
            <a:r>
              <a:t>특히 마이트너 박사님은 여성이라는 이유로, 전쟁 때문에 힘든 일이 많았지만 끝까지 포기하지 않았어요.</a:t>
            </a:r>
          </a:p>
          <a:p>
            <a:r>
              <a:t>과학자들은 109번째 원소에 '마이트너륨'이라는 이름을 붙여 이분을 기념했답니다. 포기하지 않는 마음이 진짜 과학자의 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자격 시험! 러더포드 박사님처럼 추리해 보세요.</a:t>
            </a:r>
          </a:p>
          <a:p>
            <a:r>
              <a:t>알갱이 대부분이 금종이를 그냥 통과한 까닭은? 하나, 둘, 셋!</a:t>
            </a:r>
          </a:p>
          <a:p>
            <a:r>
              <a:t>③번을 고른 친구들, 좋은 생각이었지만... 정답은 ①번!</a:t>
            </a:r>
          </a:p>
          <a:p>
            <a:r>
              <a:t>아무리 빨라도 꽉 차 있으면 부딪히겠죠? 원자 속이 거의 텅 비어 있어서 슝슝 지나간 거예요.</a:t>
            </a:r>
          </a:p>
          <a:p>
            <a:r>
              <a:t>가끔 튕겨 나온 알갱이가 바로 한가운데 단단한 심장, 원자핵의 증거였답니다!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한과 마이트너가 발견한 '핵분열', 직접 볼까요? (그림 순서대로)</a:t>
            </a:r>
          </a:p>
          <a:p>
            <a:r>
              <a:t>'우라늄'이라는 아주 무거운 원자에 작은 알갱이 '중성자'가 콩! 부딪히면,</a:t>
            </a:r>
          </a:p>
          <a:p>
            <a:r>
              <a:t>우라늄 원자핵이 쫙! 두 조각으로 쪼개져요. 이게 '핵분열'!</a:t>
            </a:r>
          </a:p>
          <a:p>
            <a:r>
              <a:t>쪼개질 때 뜨거운 열이 팡! 나오고 중성자 세 개가 튀어나와요.</a:t>
            </a:r>
          </a:p>
          <a:p>
            <a:r>
              <a:t>그 중성자들이 옆의 우라늄을 또 콩! 쪼개고, 또 쪼개고... 도미노처럼 계속 이어져요.</a:t>
            </a:r>
          </a:p>
          <a:p>
            <a:r>
              <a:t>그래서 사탕만 한 우라늄 조각 하나가 코끼리 한 마리 무게의 석탄과 맞먹는 힘을 낸답니다!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원자력발전소가 전기를 만드는 방법은 간단해요. 커다란 주전자를 생각하세요!</a:t>
            </a:r>
          </a:p>
          <a:p>
            <a:r>
              <a:t>첫째, 핵분열로 아주 뜨거운 열이 나와요. 둘째, 그 열로 물을 펄펄 끓여요.</a:t>
            </a:r>
          </a:p>
          <a:p>
            <a:r>
              <a:t>셋째, 수증기가 커다란 바람개비(터빈)를 빙글빙글 돌려요. 넷째, 발전기가 돌면서 전기가 반짝!</a:t>
            </a:r>
          </a:p>
          <a:p>
            <a:r>
              <a:t>집 주전자 물이 끓으면 뚜껑이 달그락거리죠? 수증기는 그만큼 힘이 세거든요.</a:t>
            </a:r>
          </a:p>
          <a:p>
            <a:r>
              <a:t>그리고 아주 중요한 것 하나! 석탄 발전소는 석탄을 '태워서' 물을 끓이지만,</a:t>
            </a:r>
          </a:p>
          <a:p>
            <a:r>
              <a:t>원자력발전소는 태우는 게 아니라 핵분열의 열로 끓여요. 그래서 연기도, 이산화탄소도 거의 안 나온답니다.</a:t>
            </a:r>
          </a:p>
          <a:p>
            <a:r>
              <a:t>기억나요? PART 2에서 원자력은 CO₂가 겨우 6그램이라고 했죠. 그 비밀이 바로 이거예요. 태우지 않으니까요!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"발전소는 튼튼한가요?" 좋은 질문이에요! 발전소는 다섯 겹 갑옷을 입고 있어요.</a:t>
            </a:r>
          </a:p>
          <a:p>
            <a:r>
              <a:t>첫째, 연료를 사탕처럼 단단한 알갱이로 굽고, 둘째, 튼튼한 금속 막대 속에 넣어요.</a:t>
            </a:r>
          </a:p>
          <a:p>
            <a:r>
              <a:t>셋째, 두께 25센티미터 강철통에 넣고, 넷째, 강철판 벽이 또 감싸요.</a:t>
            </a:r>
          </a:p>
          <a:p>
            <a:r>
              <a:t>다섯째, 두께 1미터 20센티미터의 콘크리트 건물이 전체를 감싸요. 교실 벽의 여섯 배!</a:t>
            </a:r>
          </a:p>
          <a:p>
            <a:r>
              <a:t>겨울에 옷 다섯 겹을 껴입으면 찬바람이 못 들어오는 것처럼요.</a:t>
            </a:r>
          </a:p>
          <a:p>
            <a:r>
              <a:t>게다가 과학자들이 24시간 교대로 지키면서 조금이라도 이상하면 바로 멈추게 되어 있답니다. 안심!</a:t>
            </a:r>
          </a:p>
          <a:p>
            <a:r>
              <a:t>참, 그런데 '방사선'이라는 말이 아직 궁금하죠? 마지막으로 그 친구를 만나 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'방사선'이라는 말, 어렵게 느껴지지만 전구 하나면 이해할 수 있어요.</a:t>
            </a:r>
          </a:p>
          <a:p>
            <a:r>
              <a:t>전구에서 나오는 빛이 '방사선', 전구가 빛을 낼 수 있는 능력이 '방사능'이에요. 퀴리 부인이 지은 그 이름!</a:t>
            </a:r>
          </a:p>
          <a:p>
            <a:r>
              <a:t>방사선은 눈에 안 보이는 에너지 빛이에요. 영화 속 스파이더맨과 헐크는 다~ 상상이고요!</a:t>
            </a:r>
          </a:p>
          <a:p>
            <a:r>
              <a:t>놀라운 사실! 방사선은 햇빛에도, 바나나에도, 땅과 돌에도 원래부터 조금씩 있어요. 이 정도는 우리 몸에 아무렇지도 않아요.</a:t>
            </a:r>
          </a:p>
          <a:p>
            <a:r>
              <a:t>(사진 가리키며) 이 사진 기억나죠? 뢴트겐이 찍은 세계 최초의 엑스레이! 병원 엑스레이가 바로 방사선이에요.</a:t>
            </a:r>
          </a:p>
          <a:p>
            <a:r>
              <a:t>공항 가방 검사, 감자·양파 오래 보관하기까지, 방사선은 우리를 돕는 고마운 친구랍니다.</a:t>
            </a:r>
          </a:p>
          <a:p>
            <a:r>
              <a:t>과학자들이 특별한 기계로 늘 재면서 지켜주고 있으니 안심하세요!</a:t>
            </a:r>
          </a:p>
          <a:p>
            <a:r>
              <a:t>자, 이제 원자력 기초실 견학 끝! 마지막으로 미래의 원자력을 보러 갑시다!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이야기! 미래의 원자력이에요.</a:t>
            </a:r>
          </a:p>
          <a:p>
            <a:r>
              <a:t>과학자들은 지금 더 안전하고 더 신기한 미래의 원자력을 만들고 있어요.</a:t>
            </a:r>
          </a:p>
          <a:p>
            <a:r>
              <a:t>그리고 그 미래를 완성할 주인공이 누구인지도 알려드릴게요!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기술 첫 번째! 작지만 야무진 소형 원자로, SMR이에요. (그림 가리키며)</a:t>
            </a:r>
          </a:p>
          <a:p>
            <a:r>
              <a:t>증기발생기 같은 큰 장치들을 한 통 안에 쏙 넣어서, 커다란 파이프가 필요 없어요. 그만큼 고장 걱정이 줄고 더 안전하죠.</a:t>
            </a:r>
          </a:p>
          <a:p>
            <a:r>
              <a:t>크기가 작으니까 전기가 필요한 곳 가까이에 지을 수도 있고요.</a:t>
            </a:r>
          </a:p>
          <a:p>
            <a:r>
              <a:t>특히 우리 원자력연구원이 만든 'SMART'라는 소형 원자로는 세계 최초로 안전 인증을 받았는데,</a:t>
            </a:r>
          </a:p>
          <a:p>
            <a:r>
              <a:t>전기를 만들면서 바닷물을 마실 수 있는 물로 바꿔줄 수도 있어요. 물이 부족한 사막 나라에 딱이죠!</a:t>
            </a:r>
          </a:p>
          <a:p>
            <a:r>
              <a:t>탄소중립 시대에 세계가 SMR 개발 경주를 벌이고 있는데, 우리나라가 앞서 달리고 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기술 두 번째! 왼쪽 사진은 대전에 있는 우리나라 인공태양 'KSTAR'예요.</a:t>
            </a:r>
          </a:p>
          <a:p>
            <a:r>
              <a:t>태양은 원자핵을 쪼개는 게 아니라 반대로 '합쳐서' 힘을 내는데, 이걸 '핵융합'이라고 해요.</a:t>
            </a:r>
          </a:p>
          <a:p>
            <a:r>
              <a:t>KSTAR는 무려 1억 도의 불덩이를 만들어 세계 기록을 세웠어요! 연료는 바닷물에서 얻을 수 있어 거의 무한이고요.</a:t>
            </a:r>
          </a:p>
          <a:p>
            <a:r>
              <a:t>오른쪽 사진은 진짜 화성에서 찍은 거예요! 나사의 탐사 로버 '큐리오시티'인데,</a:t>
            </a:r>
          </a:p>
          <a:p>
            <a:r>
              <a:t>햇빛이 약하고 몹시 추운 화성에서 10년 넘게 달리는 비결이 바로 원자력 전지랍니다.</a:t>
            </a:r>
          </a:p>
          <a:p>
            <a:r>
              <a:t>우리나라도 이 우주용 원자력 전지를 세계 세 번째로 만들었어요. 언젠가 우리 달 탐사선에도 실릴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자격 시험!</a:t>
            </a:r>
          </a:p>
          <a:p>
            <a:r>
              <a:t>우리나라 인공태양 KSTAR의 온도는? 하나, 둘, 셋!</a:t>
            </a:r>
          </a:p>
          <a:p>
            <a:r>
              <a:t>정답은 ③번, 1억 도! 태양 한가운데보다도 몇 배나 뜨거워요.</a:t>
            </a:r>
          </a:p>
          <a:p>
            <a:r>
              <a:t>그걸 우리나라 과학자들이 해냈다는 사실!</a:t>
            </a:r>
          </a:p>
          <a:p>
            <a:r>
              <a:t>네 문제를 모두 통과한 여러분, '지구 지킴이 어린이 연구원' 자격 시험 최종 합격입니다! 큰 박수~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마지막으로, 지구를 지키는 어린이 연구원의 네 가지 약속!</a:t>
            </a:r>
          </a:p>
          <a:p>
            <a:r>
              <a:t>첫째, 전기를 아껴요. 안 쓰는 불 끄기, 안 보는 TV 끄기! 작아 보여도 진짜 탄소중립 실천이에요.</a:t>
            </a:r>
          </a:p>
          <a:p>
            <a:r>
              <a:t>둘째, 질문왕이 돼요. "왜?", "어떻게?"라고 묻는 순간 과학자의 꿈이 시작돼요. 러더포드도 그랬답니다!</a:t>
            </a:r>
          </a:p>
          <a:p>
            <a:r>
              <a:t>셋째, 과학과 친해져요. 오늘 배운 탄소중립과 원자력 이야기를 가족에게 설명해 보세요. 설명할 수 있으면 진짜 아는 거예요!</a:t>
            </a:r>
          </a:p>
          <a:p>
            <a:r>
              <a:t>넷째, 크게 꿈꿔요. 인공태양을 완성하는 사람, 화성에서 원자력 전지를 쓰는 사람, 그게 여러분일 수 있어요.</a:t>
            </a:r>
          </a:p>
          <a:p>
            <a:r>
              <a:t>퀴리 부인도, 아인슈타인도 다 여러분만 한 어린이였어요. 다음 차례는 바로 여러분입니다!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함께 외쳐 볼까요?</a:t>
            </a:r>
          </a:p>
          <a:p>
            <a:r>
              <a:t>지구가 뜨거워지는 범인은? (이산화탄소!) 탄소중립은? (내뿜는 만큼 없애서 0으로!)</a:t>
            </a:r>
          </a:p>
          <a:p>
            <a:r>
              <a:t>원자력은 태우지 않으니까 CO₂가 석탄의 150분의 1! 태양광·풍력과 함께 지구 지킴이 드림팀!</a:t>
            </a:r>
          </a:p>
          <a:p>
            <a:r>
              <a:t>SMR, 인공태양, 우주 전지 같은 미래 기술도 쑥쑥 자라고 있고요.</a:t>
            </a:r>
          </a:p>
          <a:p>
            <a:r>
              <a:t>그리고 잊지 마세요. 안 쓰는 불을 끄는 여러분이 바로 탄소중립의 진짜 주인공이에요!</a:t>
            </a:r>
          </a:p>
          <a:p>
            <a:r>
              <a:t>지구 지킴이 어린이 연구원 여러분, 모두 수료를 축하합니다!</a:t>
            </a:r>
          </a:p>
          <a:p>
            <a:r>
              <a:t>나중에 진짜 연구원이 되어 원자력연구원에서 다시 만나요. 고마워요, 안녕~! (손 흔들기)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image" Target="../media/image20.jp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2.jp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32588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875D1"/>
                </a:solidFill>
                <a:latin typeface="Malgun Gothic"/>
                <a:ea typeface="Malgun Gothic"/>
              </a:rPr>
              <a:t>지구를 지키는 </a:t>
            </a:r>
            <a:r>
              <a:rPr sz="2600" b="1">
                <a:solidFill>
                  <a:srgbClr val="2875D1"/>
                </a:solidFill>
                <a:latin typeface="Malgun Gothic"/>
                <a:ea typeface="Malgun Gothic"/>
              </a:rPr>
              <a:t>깨끗한 에너지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877824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800" b="1">
                <a:solidFill>
                  <a:srgbClr val="184D8F"/>
                </a:solidFill>
                <a:latin typeface="Malgun Gothic"/>
                <a:ea typeface="Malgun Gothic"/>
              </a:rPr>
              <a:t>원자력과 탄소중립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555F6E"/>
                </a:solidFill>
                <a:latin typeface="Malgun Gothic"/>
                <a:ea typeface="Malgun Gothic"/>
              </a:rPr>
              <a:t>초등학교 3~4학년 어린이 연구원 여러분과 함께</a:t>
            </a:r>
          </a:p>
        </p:txBody>
      </p:sp>
      <p:sp>
        <p:nvSpPr>
          <p:cNvPr id="4" name="Oval 3"/>
          <p:cNvSpPr/>
          <p:nvPr/>
        </p:nvSpPr>
        <p:spPr>
          <a:xfrm>
            <a:off x="7717536" y="1691640"/>
            <a:ext cx="3950208" cy="137160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3600000">
            <a:off x="7717536" y="1691640"/>
            <a:ext cx="3950208" cy="137160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7200000">
            <a:off x="7717536" y="1691640"/>
            <a:ext cx="3950208" cy="137160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86646" y="2037283"/>
            <a:ext cx="460857" cy="460857"/>
          </a:xfrm>
          <a:prstGeom prst="ellipse">
            <a:avLst/>
          </a:prstGeom>
          <a:solidFill>
            <a:srgbClr val="19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37776" y="2037283"/>
            <a:ext cx="460857" cy="460857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62211" y="2300630"/>
            <a:ext cx="460857" cy="460857"/>
          </a:xfrm>
          <a:prstGeom prst="ellipse">
            <a:avLst/>
          </a:prstGeom>
          <a:solidFill>
            <a:srgbClr val="19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91856" y="2212848"/>
            <a:ext cx="219456" cy="219456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28832" y="2432304"/>
            <a:ext cx="219456" cy="219456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73184" y="1307592"/>
            <a:ext cx="219456" cy="219456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4114800"/>
            <a:ext cx="2743200" cy="18287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안녕! 난 파동이야.</a:t>
            </a:r>
            <a:br/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오늘 나랑 같이</a:t>
            </a:r>
            <a:br/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지구를 지키러 가자!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8229600" y="4928616"/>
            <a:ext cx="256032" cy="20116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3977639"/>
            <a:ext cx="2045707" cy="2103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51560" y="5394960"/>
            <a:ext cx="5120640" cy="54864"/>
          </a:xfrm>
          <a:prstGeom prst="roundRect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한국원자력연구원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오늘의 이야기 순서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" y="1911095"/>
            <a:ext cx="196596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3794D1"/>
                </a:solidFill>
                <a:latin typeface="Malgun Gothic"/>
                <a:ea typeface="Malgun Gothic"/>
              </a:rPr>
              <a:t>PART 1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🌍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지구의 SOS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지구가 뜨거워지고 있어요!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11095"/>
            <a:ext cx="1965960" cy="310896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2F9E44"/>
                </a:solidFill>
                <a:latin typeface="Malgun Gothic"/>
                <a:ea typeface="Malgun Gothic"/>
              </a:rPr>
              <a:t>PART 2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🌱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탄소중립이 뭐예요?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세계의 약속, 그리고 에너지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1496" y="1911095"/>
            <a:ext cx="196596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3794D1"/>
                </a:solidFill>
                <a:latin typeface="Malgun Gothic"/>
                <a:ea typeface="Malgun Gothic"/>
              </a:rPr>
              <a:t>PART 3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🏢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원자력연구원은 어떤 일을 하나?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원자력으로 사람들을 돕는 연구소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1911095"/>
            <a:ext cx="196596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3794D1"/>
                </a:solidFill>
                <a:latin typeface="Malgun Gothic"/>
                <a:ea typeface="Malgun Gothic"/>
              </a:rPr>
              <a:t>PART 4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🔎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원자력 기초실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위대한 실험들과 원자력의 원리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0888" y="1911095"/>
            <a:ext cx="196596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3794D1"/>
                </a:solidFill>
                <a:latin typeface="Malgun Gothic"/>
                <a:ea typeface="Malgun Gothic"/>
              </a:rPr>
              <a:t>PART 5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🚀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미래의 원자력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그리고 지구를 지킬 여러분!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85816"/>
            <a:ext cx="10543032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55F6E"/>
                </a:solidFill>
                <a:latin typeface="Malgun Gothic"/>
                <a:ea typeface="Malgun Gothic"/>
              </a:rPr>
              <a:t>중간중간 깜짝 퀴즈가 나와요! 다 맞히면 '지구 지킴이 어린이 연구원' 수료 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_ea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308" y="1143000"/>
            <a:ext cx="1767078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46120"/>
            <a:ext cx="10362895" cy="2240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1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지구의 SOS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55F6E"/>
                </a:solidFill>
                <a:latin typeface="Malgun Gothic"/>
                <a:ea typeface="Malgun Gothic"/>
              </a:rPr>
              <a:t>지구가 뜨거워지고 있어요!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6109" y="5394960"/>
            <a:ext cx="3840480" cy="10972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지구가 우리한테 도와달라고 신호를 보내고 있어!</a:t>
            </a:r>
          </a:p>
        </p:txBody>
      </p:sp>
      <p:sp>
        <p:nvSpPr>
          <p:cNvPr id="5" name="Isosceles Triangle 4"/>
          <p:cNvSpPr/>
          <p:nvPr/>
        </p:nvSpPr>
        <p:spPr>
          <a:xfrm rot="16200000">
            <a:off x="1940077" y="5843016"/>
            <a:ext cx="256032" cy="20116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do_w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57800"/>
            <a:ext cx="100738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지구가 점점 뜨거워지고 있어요!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36776"/>
            <a:ext cx="7589520" cy="1188720"/>
          </a:xfrm>
          <a:prstGeom prst="roundRect">
            <a:avLst>
              <a:gd name="adj" fmla="val 16000"/>
            </a:avLst>
          </a:prstGeom>
          <a:solidFill>
            <a:srgbClr val="FBE7E7"/>
          </a:solidFill>
          <a:ln w="1587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D93A3A"/>
                </a:solidFill>
                <a:latin typeface="Malgun Gothic"/>
                <a:ea typeface="Malgun Gothic"/>
              </a:rPr>
              <a:t>범인은 이산화탄소(CO₂)!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Malgun Gothic"/>
                <a:ea typeface="Malgun Gothic"/>
              </a:rPr>
              <a:t>석탄·석유를 태울 때 나오는 CO₂가 지구를 두꺼운 이불처럼</a:t>
            </a:r>
            <a:br/>
            <a:r>
              <a:rPr sz="1250" b="0">
                <a:solidFill>
                  <a:srgbClr val="2B2B2B"/>
                </a:solidFill>
                <a:latin typeface="Malgun Gothic"/>
                <a:ea typeface="Malgun Gothic"/>
              </a:rPr>
              <a:t>감싸서, 열을 내보내지 못하고 점점 더워져요</a:t>
            </a:r>
          </a:p>
        </p:txBody>
      </p:sp>
      <p:pic>
        <p:nvPicPr>
          <p:cNvPr id="8" name="Picture 7" descr="green_ea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956" y="1682495"/>
            <a:ext cx="1060246" cy="10972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475783" y="1754467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83044" y="1503284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3091" y="1337857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01784" y="1280160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90476" y="1337857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20523" y="1503284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27784" y="1754467"/>
            <a:ext cx="164592" cy="164592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un 15"/>
          <p:cNvSpPr/>
          <p:nvPr/>
        </p:nvSpPr>
        <p:spPr>
          <a:xfrm>
            <a:off x="8458200" y="1609344"/>
            <a:ext cx="594360" cy="594360"/>
          </a:xfrm>
          <a:prstGeom prst="sun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798064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E86A2A"/>
                </a:solidFill>
                <a:latin typeface="Malgun Gothic"/>
                <a:ea typeface="Malgun Gothic"/>
              </a:rPr>
              <a:t>CO₂ 이불이 지구를 감싸요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" y="294436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얼음이 녹아요</a:t>
            </a:r>
          </a:p>
        </p:txBody>
      </p:sp>
      <p:pic>
        <p:nvPicPr>
          <p:cNvPr id="19" name="Picture 18" descr="polar_be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301" y="3328415"/>
            <a:ext cx="1912589" cy="192024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99516" y="527608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Wikimedia (CC BY-SA 3.0)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" y="5522976"/>
            <a:ext cx="32918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얼음 집이 사라져서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북극곰이 힘들어해요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8556" y="294436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가뭄과 폭염</a:t>
            </a:r>
          </a:p>
        </p:txBody>
      </p:sp>
      <p:pic>
        <p:nvPicPr>
          <p:cNvPr id="23" name="Picture 22" descr="drough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396" y="3328415"/>
            <a:ext cx="1280160" cy="192024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311396" y="527608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Wikimedia (CC BY 3.0)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8556" y="5522976"/>
            <a:ext cx="32918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땅이 쩍쩍 갈라질 만큼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덥고 메말라가요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0436" y="294436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바닷물이 높아져요</a:t>
            </a:r>
          </a:p>
        </p:txBody>
      </p:sp>
      <p:pic>
        <p:nvPicPr>
          <p:cNvPr id="27" name="Picture 26" descr="floo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477" y="3328415"/>
            <a:ext cx="2341756" cy="192024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7923276" y="527608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NASA (PD)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0436" y="5522976"/>
            <a:ext cx="32918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바닷가 마을과 섬들이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물에 잠길 위험!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이산화탄소는 어디서 나올까?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48256"/>
            <a:ext cx="3127248" cy="1417320"/>
          </a:xfrm>
          <a:prstGeom prst="roundRect">
            <a:avLst>
              <a:gd name="adj" fmla="val 12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🔌  전기 만들기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석탄·가스를 태울 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865376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제일 많아요!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2048256"/>
            <a:ext cx="3127248" cy="1417320"/>
          </a:xfrm>
          <a:prstGeom prst="roundRect">
            <a:avLst>
              <a:gd name="adj" fmla="val 12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🚗  자동차·비행기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기름을 태울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21608"/>
            <a:ext cx="3127248" cy="1417320"/>
          </a:xfrm>
          <a:prstGeom prst="roundRect">
            <a:avLst>
              <a:gd name="adj" fmla="val 12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🏭  공장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물건을 만들 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3721608"/>
            <a:ext cx="3127248" cy="1417320"/>
          </a:xfrm>
          <a:prstGeom prst="roundRect">
            <a:avLst>
              <a:gd name="adj" fmla="val 1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🏠  집·건물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난방·요리할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682496"/>
            <a:ext cx="374903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석탄 발전소의 굴뚝 연기</a:t>
            </a:r>
          </a:p>
        </p:txBody>
      </p:sp>
      <p:pic>
        <p:nvPicPr>
          <p:cNvPr id="13" name="Picture 12" descr="smokest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532" y="2029967"/>
            <a:ext cx="3703575" cy="26517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406640" y="4709159"/>
            <a:ext cx="402335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Wikimedia (CC BY-SA 3.0)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5111496"/>
            <a:ext cx="9628632" cy="1005840"/>
          </a:xfrm>
          <a:prstGeom prst="roundRect">
            <a:avLst>
              <a:gd name="adj" fmla="val 18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전기는 점점 더 많이 필요한데, CO₂는 줄여야 해요. 어떻게 하죠?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F9E44"/>
                </a:solidFill>
                <a:latin typeface="Malgun Gothic"/>
                <a:ea typeface="Malgun Gothic"/>
              </a:rPr>
              <a:t>"전기는 많이, CO₂는 없이!" — 이게 오늘의 큰 숙제예요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62895" cy="2240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2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탄소중립이 뭐예요?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55F6E"/>
                </a:solidFill>
                <a:latin typeface="Malgun Gothic"/>
                <a:ea typeface="Malgun Gothic"/>
              </a:rPr>
              <a:t>세계의 약속, 그리고 에너지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6109" y="5394960"/>
            <a:ext cx="3840480" cy="10972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탄소중립? 어렵지 않아! 저울 하나면 이해 끝!</a:t>
            </a:r>
          </a:p>
        </p:txBody>
      </p:sp>
      <p:sp>
        <p:nvSpPr>
          <p:cNvPr id="6" name="Isosceles Triangle 5"/>
          <p:cNvSpPr/>
          <p:nvPr/>
        </p:nvSpPr>
        <p:spPr>
          <a:xfrm rot="16200000">
            <a:off x="1940077" y="5843016"/>
            <a:ext cx="256032" cy="20116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do_w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57800"/>
            <a:ext cx="100738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세계의 약속, '탄소중립'!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682496"/>
            <a:ext cx="9628632" cy="960120"/>
          </a:xfrm>
          <a:prstGeom prst="roundRect">
            <a:avLst>
              <a:gd name="adj" fmla="val 20000"/>
            </a:avLst>
          </a:prstGeom>
          <a:solidFill>
            <a:srgbClr val="E3F3E7"/>
          </a:solidFill>
          <a:ln w="1905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2F9E44"/>
                </a:solidFill>
                <a:latin typeface="Malgun Gothic"/>
                <a:ea typeface="Malgun Gothic"/>
              </a:rPr>
              <a:t>탄소중립 = 내뿜는 CO₂와 없애는 CO₂를 똑같이 맞춰서, 더해지는 양을 '0'으로!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5637276" y="4654296"/>
            <a:ext cx="914400" cy="777240"/>
          </a:xfrm>
          <a:prstGeom prst="triangle">
            <a:avLst/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6876" y="4517136"/>
            <a:ext cx="7315200" cy="164592"/>
          </a:xfrm>
          <a:prstGeom prst="roundRect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08276" y="3054096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FBE7E7"/>
          </a:solidFill>
          <a:ln w="1587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D93A3A"/>
                </a:solidFill>
                <a:latin typeface="Malgun Gothic"/>
                <a:ea typeface="Malgun Gothic"/>
              </a:rPr>
              <a:t>내뿜는 CO₂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공장 · 자동차 · 전기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46036" y="3054096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E3F3E7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F9E44"/>
                </a:solidFill>
                <a:latin typeface="Malgun Gothic"/>
                <a:ea typeface="Malgun Gothic"/>
              </a:rPr>
              <a:t>없애는 CO₂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나무 심기 · CO₂ 없는 에너지</a:t>
            </a:r>
          </a:p>
        </p:txBody>
      </p:sp>
      <p:sp>
        <p:nvSpPr>
          <p:cNvPr id="12" name="Oval 11"/>
          <p:cNvSpPr/>
          <p:nvPr/>
        </p:nvSpPr>
        <p:spPr>
          <a:xfrm>
            <a:off x="5408676" y="3282696"/>
            <a:ext cx="1371600" cy="868680"/>
          </a:xfrm>
          <a:prstGeom prst="ellipse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94381"/>
                </a:solidFill>
                <a:latin typeface="Malgun Gothic"/>
                <a:ea typeface="Malgun Gothic"/>
              </a:rPr>
              <a:t>= 0!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68696"/>
            <a:ext cx="1054303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우리나라를 포함한 세계 여러 나라가 "2050년까지 탄소중립!"을 약속했어요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1!  ⭐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OX 퀴즈! '탄소중립'은 이산화탄소를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하나도 안 만드는 것이다?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⭕  맞다!          ❌  아니다!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57216"/>
            <a:ext cx="816559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  <p:pic>
        <p:nvPicPr>
          <p:cNvPr id="9" name="Picture 8" descr="pado_w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4837176"/>
            <a:ext cx="90665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CO₂ 없이 전기를 만드는 후보 선수들!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054303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숙제를 풀려면? '태우지 않고' 전기를 만드는 선수들을 찾아라!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" y="2276856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☀️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태양광 선수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햇빛을 받아서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전기를 만들어요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2836" y="2276856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🍃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풍력 선수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바람으로 바람개비를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돌려서 만들어요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6156" y="2276856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원자력 선수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아주 작은 '원자'의 힘으로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만들어요 (곧 자세히!)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928616"/>
            <a:ext cx="9445752" cy="1097280"/>
          </a:xfrm>
          <a:prstGeom prst="roundRect">
            <a:avLst>
              <a:gd name="adj" fmla="val 16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셋 다 태우지 않으니까 CO₂ 걱정이 없어요!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F9E44"/>
                </a:solidFill>
                <a:latin typeface="Malgun Gothic"/>
                <a:ea typeface="Malgun Gothic"/>
              </a:rPr>
              <a:t>그런데 누가 얼마나 깨끗할까요? 석탄과 비교해서 확인해 봐요 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전기 만들 때 나오는 CO₂, 비교해 봐요!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36776"/>
            <a:ext cx="1054303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전기 1kWh를 만들 때 나오는 이산화탄소의 양 (그램)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642615"/>
            <a:ext cx="1325880" cy="2468880"/>
          </a:xfrm>
          <a:prstGeom prst="roundRect">
            <a:avLst/>
          </a:prstGeom>
          <a:solidFill>
            <a:srgbClr val="8D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31135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900g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석탄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3877056"/>
            <a:ext cx="1325880" cy="1234440"/>
          </a:xfrm>
          <a:prstGeom prst="roundRect">
            <a:avLst/>
          </a:prstGeom>
          <a:solidFill>
            <a:srgbClr val="C9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3465576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450g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석유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1536" y="4963363"/>
            <a:ext cx="1325880" cy="148132"/>
          </a:xfrm>
          <a:prstGeom prst="roundRect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4551883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54g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태양광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4" y="4974336"/>
            <a:ext cx="1325880" cy="137160"/>
          </a:xfrm>
          <a:prstGeom prst="roundRect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4562855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15g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풍력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32" y="4974336"/>
            <a:ext cx="1325880" cy="13716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4562855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6g!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원자력</a:t>
            </a:r>
          </a:p>
        </p:txBody>
      </p:sp>
      <p:sp>
        <p:nvSpPr>
          <p:cNvPr id="23" name="5-Point Star 22"/>
          <p:cNvSpPr/>
          <p:nvPr/>
        </p:nvSpPr>
        <p:spPr>
          <a:xfrm>
            <a:off x="9788652" y="3877056"/>
            <a:ext cx="548640" cy="548640"/>
          </a:xfrm>
          <a:prstGeom prst="star5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20240" y="5660136"/>
            <a:ext cx="8348472" cy="685800"/>
          </a:xfrm>
          <a:prstGeom prst="roundRect">
            <a:avLst>
              <a:gd name="adj" fmla="val 35000"/>
            </a:avLst>
          </a:prstGeom>
          <a:solidFill>
            <a:srgbClr val="E3F3E7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F9E44"/>
                </a:solidFill>
                <a:latin typeface="Malgun Gothic"/>
                <a:ea typeface="Malgun Gothic"/>
              </a:rPr>
              <a:t>원자력은 석탄의 150분의 1! 태양광·풍력만큼 깨끗한 에너지예요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1636776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9AA4B0"/>
                </a:solidFill>
                <a:latin typeface="Malgun Gothic"/>
                <a:ea typeface="Malgun Gothic"/>
              </a:rPr>
              <a:t>출처: 유엔유럽경제위원회(UNECE, 2021)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지구를 지키는 드림팀!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56816"/>
            <a:ext cx="6949440" cy="960120"/>
          </a:xfrm>
          <a:prstGeom prst="roundRect">
            <a:avLst>
              <a:gd name="adj" fmla="val 20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☀️  태양광   </a:t>
            </a: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깨끗해요! 하지만 해가 지면 쉬어야 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54096"/>
            <a:ext cx="6949440" cy="960120"/>
          </a:xfrm>
          <a:prstGeom prst="roundRect">
            <a:avLst>
              <a:gd name="adj" fmla="val 2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🍃  풍력   </a:t>
            </a: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깨끗해요! 하지만 바람이 멈추면 쉬어야 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151376"/>
            <a:ext cx="6949440" cy="960120"/>
          </a:xfrm>
          <a:prstGeom prst="roundRect">
            <a:avLst>
              <a:gd name="adj" fmla="val 2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⚡  원자력   </a:t>
            </a: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깨끗한데 밤낮·날씨 상관없이 24시간 듬뿍!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682496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태양광과 풍력 발전소</a:t>
            </a:r>
          </a:p>
        </p:txBody>
      </p:sp>
      <p:pic>
        <p:nvPicPr>
          <p:cNvPr id="11" name="Picture 10" descr="solar_wi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522" y="2029967"/>
            <a:ext cx="2330554" cy="3108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38160" y="5166359"/>
            <a:ext cx="338327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Wikimedia (CC BY-SA 2.0)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248656"/>
            <a:ext cx="9994392" cy="868680"/>
          </a:xfrm>
          <a:prstGeom prst="roundRect">
            <a:avLst>
              <a:gd name="adj" fmla="val 22000"/>
            </a:avLst>
          </a:prstGeom>
          <a:solidFill>
            <a:srgbClr val="E3F3E7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F9E44"/>
                </a:solidFill>
                <a:latin typeface="Malgun Gothic"/>
                <a:ea typeface="Malgun Gothic"/>
              </a:rPr>
              <a:t>서로의 부족한 점을 채워주는 드림팀! 밤에는 원자력이, 쨍쨍한 낮에는 태양광이 힘을 내요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세계가 원자력을 선택하고 있어요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56816"/>
            <a:ext cx="6675120" cy="960120"/>
          </a:xfrm>
          <a:prstGeom prst="roundRect">
            <a:avLst>
              <a:gd name="adj" fmla="val 2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🌍  세계 30여 개 나라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400기가 넘는 원자로가 지금도 전기를 만들어요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54096"/>
            <a:ext cx="6675120" cy="960120"/>
          </a:xfrm>
          <a:prstGeom prst="roundRect">
            <a:avLst>
              <a:gd name="adj" fmla="val 2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🌱  2023년 세계의 약속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"2050년까지 원자력을 3배로!" (우리나라 포함 20여 개국)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151376"/>
            <a:ext cx="6675120" cy="960120"/>
          </a:xfrm>
          <a:prstGeom prst="roundRect">
            <a:avLst>
              <a:gd name="adj" fmla="val 20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🚢  우리나라는 수출까지!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UAE에 발전소를 수출해 다른 나라 탄소중립도 도와요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82496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우주에서 본 우리 지구</a:t>
            </a:r>
          </a:p>
        </p:txBody>
      </p:sp>
      <p:pic>
        <p:nvPicPr>
          <p:cNvPr id="11" name="Picture 10" descr="ear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029967"/>
            <a:ext cx="3108960" cy="3108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863840" y="5166359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NASA (PD)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85816"/>
            <a:ext cx="1054303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탄소중립 시대, 원자력은 세계가 함께 선택한 지구 지킴이예요!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우리나라 전기의 3분의 1은 원자력!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9994392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우리나라 전기, 누가 만들까요?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093976"/>
            <a:ext cx="3177448" cy="822960"/>
          </a:xfrm>
          <a:prstGeom prst="roundRect">
            <a:avLst>
              <a:gd name="adj" fmla="val 14000"/>
            </a:avLst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원자력 약 1/3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2472" y="2093976"/>
            <a:ext cx="5488320" cy="822960"/>
          </a:xfrm>
          <a:prstGeom prst="roundRect">
            <a:avLst>
              <a:gd name="adj" fmla="val 14000"/>
            </a:avLst>
          </a:prstGeom>
          <a:solidFill>
            <a:srgbClr val="9AA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석탄·가스 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5656" y="2093976"/>
            <a:ext cx="962863" cy="822960"/>
          </a:xfrm>
          <a:prstGeom prst="roundRect">
            <a:avLst>
              <a:gd name="adj" fmla="val 14000"/>
            </a:avLst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태양광·풍력 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82696"/>
            <a:ext cx="3794760" cy="192024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2600" b="0">
                <a:solidFill>
                  <a:srgbClr val="194381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셋 중 하나는 원자력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집 전등 세 개 중 하나는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원자력이 켜는 셈!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282696"/>
            <a:ext cx="3794760" cy="192024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2600" b="0">
                <a:solidFill>
                  <a:srgbClr val="194381"/>
                </a:solidFill>
                <a:latin typeface="Malgun Gothic"/>
                <a:ea typeface="Malgun Gothic"/>
              </a:rPr>
              <a:t>🌳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CO₂를 아껴요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매년 어마어마한 숲이 하는 만큼의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CO₂를 줄이고 있어요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54096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고리 원자력발전소</a:t>
            </a:r>
          </a:p>
        </p:txBody>
      </p:sp>
      <p:pic>
        <p:nvPicPr>
          <p:cNvPr id="14" name="Picture 13" descr="ko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621938"/>
            <a:ext cx="2377440" cy="1580997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915400" y="5230368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IAEA (PD)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68696"/>
            <a:ext cx="1054303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원자력이 없다면 그만큼을 석탄·가스로 만들어야 해서 CO₂가 훨씬 늘어나요!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2!  ⭐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탄소중립 시대! 밤에도, 바람이 없어도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깨끗한 전기를 만들 수 있는 에너지는?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①  태양광          ②  원자력          ③  촛불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57216"/>
            <a:ext cx="816559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  <p:pic>
        <p:nvPicPr>
          <p:cNvPr id="9" name="Picture 8" descr="pado_w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4837176"/>
            <a:ext cx="90665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62895" cy="2240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3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400" b="1">
                <a:solidFill>
                  <a:srgbClr val="194381"/>
                </a:solidFill>
                <a:latin typeface="Malgun Gothic"/>
                <a:ea typeface="Malgun Gothic"/>
              </a:rPr>
              <a:t>원자력연구원은 어떤 일을 하나?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55F6E"/>
                </a:solidFill>
                <a:latin typeface="Malgun Gothic"/>
                <a:ea typeface="Malgun Gothic"/>
              </a:rPr>
              <a:t>원자력으로 사람들을 돕는 연구소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6109" y="5394960"/>
            <a:ext cx="3840480" cy="10972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내가 사는 곳이야! 우리 연구원을 소개할게!</a:t>
            </a:r>
          </a:p>
        </p:txBody>
      </p:sp>
      <p:sp>
        <p:nvSpPr>
          <p:cNvPr id="6" name="Isosceles Triangle 5"/>
          <p:cNvSpPr/>
          <p:nvPr/>
        </p:nvSpPr>
        <p:spPr>
          <a:xfrm rot="16200000">
            <a:off x="1940077" y="5843016"/>
            <a:ext cx="256032" cy="20116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do_w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57800"/>
            <a:ext cx="100738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한국원자력연구원은 이런 일을 해요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🔩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새 원자로 연구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더 안전하고 똑똑한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원자로를 설계해요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2716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💊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아픈 사람 돕는 약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방사성의약품으로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아픈 곳을 찾아 치료해요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연구용 원자로 하나로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우리 손으로 만든 원자로로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신기한 재료를 연구해요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0555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🏰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안전 연구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원자력을 언제나 안전하게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쓰는 방법을 연구해요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82896"/>
            <a:ext cx="10543032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대전에 있는 우리나라 최대 원자력 연구소! 수천 명의 과학자가</a:t>
            </a:r>
            <a:br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'원자력으로 사람들을 안전하게 돕는 방법'을 연구하고 있어요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자랑스러운 역사: 배우던 나라에서 수출하는 나라로!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32461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1942 · 세계 최초 원자로 CP-1</a:t>
            </a:r>
          </a:p>
        </p:txBody>
      </p:sp>
      <p:pic>
        <p:nvPicPr>
          <p:cNvPr id="8" name="Picture 7" descr="cp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904" y="2002536"/>
            <a:ext cx="2682551" cy="210312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4133088"/>
            <a:ext cx="352043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아르곤연구소 (PD)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25696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미국 시카고 운동장 아래에서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세계 최초의 원자로 탄생!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24527" y="2962656"/>
            <a:ext cx="274320" cy="365760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636776"/>
            <a:ext cx="32461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1978 · 우리나라 최초 고리 1호기</a:t>
            </a:r>
          </a:p>
        </p:txBody>
      </p:sp>
      <p:pic>
        <p:nvPicPr>
          <p:cNvPr id="13" name="Picture 12" descr="kor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046" y="2002536"/>
            <a:ext cx="3162586" cy="210312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89119" y="4133088"/>
            <a:ext cx="352043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IAEA (PD)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4425696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외국의 도움을 받아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첫 발전소를 지었어요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90688" y="2962656"/>
            <a:ext cx="274320" cy="365760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36776"/>
            <a:ext cx="32461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2018~ · 수출! UAE 바라카</a:t>
            </a:r>
          </a:p>
        </p:txBody>
      </p:sp>
      <p:pic>
        <p:nvPicPr>
          <p:cNvPr id="18" name="Picture 17" descr="baraka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9214" y="2002536"/>
            <a:ext cx="2612571" cy="210312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955279" y="4133088"/>
            <a:ext cx="352043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Wikiemirati (CC BY-SA 4.0)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425696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이제는 우리 기술을 수출해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다른 나라 탄소중립도 도와요!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340096"/>
            <a:ext cx="9262872" cy="777240"/>
          </a:xfrm>
          <a:prstGeom prst="roundRect">
            <a:avLst>
              <a:gd name="adj" fmla="val 30000"/>
            </a:avLst>
          </a:prstGeom>
          <a:solidFill>
            <a:srgbClr val="E3F3E7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F9E44"/>
                </a:solidFill>
                <a:latin typeface="Malgun Gothic"/>
                <a:ea typeface="Malgun Gothic"/>
              </a:rPr>
              <a:t>40여 년 만에 100% 우리 기술 완성! 이 모든 과정을 원자력연구원이 함께했어요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연구용 원자로 '하나로' — 전기 대신 연구를!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73936"/>
            <a:ext cx="4663440" cy="3977639"/>
          </a:xfrm>
          <a:prstGeom prst="roundRect">
            <a:avLst>
              <a:gd name="adj" fmla="val 7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000" b="0">
                <a:solidFill>
                  <a:srgbClr val="194381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'하나로'는 이런 원자로!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1995년, 우리 과학자들이 100% 우리 손으로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만든 연구용 원자로예요.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2B2B2B"/>
                </a:solidFill>
                <a:latin typeface="Malgun Gothic"/>
                <a:ea typeface="Malgun Gothic"/>
              </a:rPr>
              <a:t>🚗 튼튼한 재료 연구   📱 반도체 개선</a:t>
            </a:r>
            <a:br/>
            <a:r>
              <a:rPr sz="1250" b="0">
                <a:solidFill>
                  <a:srgbClr val="2B2B2B"/>
                </a:solidFill>
                <a:latin typeface="Malgun Gothic"/>
                <a:ea typeface="Malgun Gothic"/>
              </a:rPr>
              <a:t>💊 약 재료 만들기   🔍 속 들여다보기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82496"/>
            <a:ext cx="548640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875D1"/>
                </a:solidFill>
                <a:latin typeface="Malgun Gothic"/>
                <a:ea typeface="Malgun Gothic"/>
              </a:rPr>
              <a:t>연구용 원자로가 내는 신비한 푸른빛!</a:t>
            </a:r>
          </a:p>
        </p:txBody>
      </p:sp>
      <p:pic>
        <p:nvPicPr>
          <p:cNvPr id="9" name="Picture 8" descr="research_reac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4" y="2048256"/>
            <a:ext cx="4530810" cy="301752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806440" y="5093208"/>
            <a:ext cx="5760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미국 INL (CC BY 2.0)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385816"/>
            <a:ext cx="54864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원자로 속 물이 내는 '체렌코프 빛'! 하나로에서도 볼 수 있어요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(사진은 미국의 연구용 원자로)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34456"/>
            <a:ext cx="1054303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아시아 최초로 국제원자력기구(IAEA)의 국제 연구센터로 뽑힌 자랑스러운 원자로!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62895" cy="2240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4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원자력 기초실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55F6E"/>
                </a:solidFill>
                <a:latin typeface="Malgun Gothic"/>
                <a:ea typeface="Malgun Gothic"/>
              </a:rPr>
              <a:t>위대한 실험들과 원자력의 원리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6109" y="5394960"/>
            <a:ext cx="3840480" cy="10972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과학자 선생님들의 실험 이야기, 진짜 재밌어!</a:t>
            </a:r>
          </a:p>
        </p:txBody>
      </p:sp>
      <p:sp>
        <p:nvSpPr>
          <p:cNvPr id="6" name="Isosceles Triangle 5"/>
          <p:cNvSpPr/>
          <p:nvPr/>
        </p:nvSpPr>
        <p:spPr>
          <a:xfrm rot="16200000">
            <a:off x="1940077" y="5843016"/>
            <a:ext cx="256032" cy="20116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do_w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57800"/>
            <a:ext cx="100738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모든 것의 블록, 원자!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19656"/>
            <a:ext cx="5669280" cy="1965960"/>
          </a:xfrm>
          <a:prstGeom prst="roundRect">
            <a:avLst>
              <a:gd name="adj" fmla="val 1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🎲 세상 모든 것은 원자로!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레고 블록으로 뭐든 만들 수 있듯이, 책도 사과도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강아지도 우리 몸도 전부 '원자'로 만들어졌어요!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014215"/>
            <a:ext cx="5669280" cy="1965960"/>
          </a:xfrm>
          <a:prstGeom prst="roundRect">
            <a:avLst>
              <a:gd name="adj" fmla="val 10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🔬 얼마나 작냐면요!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 1억 개를 한 줄로 세우면 겨우 1cm!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원자가 축구장이라면 원자핵은 축구공, 전자는 개미!</a:t>
            </a:r>
          </a:p>
        </p:txBody>
      </p:sp>
      <p:sp>
        <p:nvSpPr>
          <p:cNvPr id="9" name="Oval 8"/>
          <p:cNvSpPr/>
          <p:nvPr/>
        </p:nvSpPr>
        <p:spPr>
          <a:xfrm>
            <a:off x="7269479" y="1773936"/>
            <a:ext cx="3931920" cy="3657600"/>
          </a:xfrm>
          <a:prstGeom prst="ellipse">
            <a:avLst/>
          </a:prstGeom>
          <a:solidFill>
            <a:srgbClr val="F4F9FE"/>
          </a:solidFill>
          <a:ln w="1905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42631" y="2945511"/>
            <a:ext cx="3785615" cy="131445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3600000">
            <a:off x="7342631" y="2945511"/>
            <a:ext cx="3785615" cy="131445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7200000">
            <a:off x="7342631" y="2945511"/>
            <a:ext cx="3785615" cy="131445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46362" y="3276752"/>
            <a:ext cx="441655" cy="441655"/>
          </a:xfrm>
          <a:prstGeom prst="ellipse">
            <a:avLst/>
          </a:prstGeom>
          <a:solidFill>
            <a:srgbClr val="19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2861" y="3276752"/>
            <a:ext cx="441655" cy="441655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14612" y="3529126"/>
            <a:ext cx="441655" cy="441655"/>
          </a:xfrm>
          <a:prstGeom prst="ellipse">
            <a:avLst/>
          </a:prstGeom>
          <a:solidFill>
            <a:srgbClr val="19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05521" y="3445002"/>
            <a:ext cx="210311" cy="210311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07624" y="3655314"/>
            <a:ext cx="210311" cy="210311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25128" y="2577465"/>
            <a:ext cx="210311" cy="210311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69664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원자핵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093976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875D1"/>
                </a:solidFill>
                <a:latin typeface="Malgun Gothic"/>
                <a:ea typeface="Malgun Gothic"/>
              </a:rPr>
              <a:t>전자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5522976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E"/>
                </a:solidFill>
                <a:latin typeface="Malgun Gothic"/>
                <a:ea typeface="Malgun Gothic"/>
              </a:rPr>
              <a:t>원자의 속 모습 (그림)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53328"/>
            <a:ext cx="10543032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이 작은 원자핵이 변할 때 나오는 어마어마한 힘이 바로 '원자력'!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원자력을 발견한 위대한 과학자들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entg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03" y="1819656"/>
            <a:ext cx="1525584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4652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1895 · 뢴트겐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X선 발견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(뼈 사진의 시작!)</a:t>
            </a:r>
          </a:p>
        </p:txBody>
      </p:sp>
      <p:pic>
        <p:nvPicPr>
          <p:cNvPr id="10" name="Picture 9" descr="curi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864" y="1819656"/>
            <a:ext cx="1447687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455164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1898 · 퀴리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164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라듐 발견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'방사능' 이름 짓기</a:t>
            </a:r>
          </a:p>
        </p:txBody>
      </p:sp>
      <p:pic>
        <p:nvPicPr>
          <p:cNvPr id="13" name="Picture 12" descr="einste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213" y="1819656"/>
            <a:ext cx="1588012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265676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1905 · 아인슈타인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5676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E=mc²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에너지의 비밀</a:t>
            </a:r>
          </a:p>
        </p:txBody>
      </p:sp>
      <p:pic>
        <p:nvPicPr>
          <p:cNvPr id="16" name="Picture 15" descr="rutherfo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326" y="1819656"/>
            <a:ext cx="1454810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076188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1911 · 러더포드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6188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원자핵 발견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(금박 실험!)</a:t>
            </a:r>
          </a:p>
        </p:txBody>
      </p:sp>
      <p:pic>
        <p:nvPicPr>
          <p:cNvPr id="19" name="Picture 18" descr="chadwic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3860" y="1819656"/>
            <a:ext cx="1572768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886700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1932 · 채드윅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6700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중성자 발견</a:t>
            </a:r>
          </a:p>
        </p:txBody>
      </p:sp>
      <p:pic>
        <p:nvPicPr>
          <p:cNvPr id="22" name="Picture 21" descr="hahn_meitn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0742" y="1819656"/>
            <a:ext cx="1500027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697212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1938 · 한&amp;마이트너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7212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핵분열 발견!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5020056"/>
            <a:ext cx="9079992" cy="1051560"/>
          </a:xfrm>
          <a:prstGeom prst="roundRect">
            <a:avLst>
              <a:gd name="adj" fmla="val 18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과학자들이 릴레이 달리기처럼 발견을 이어온 덕분에 오늘의 원자력이 있어요!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(사진: 위키미디어 공용, 퍼블릭 도메인 / 채드윅: LANL)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실험 ① 뢴트겐 — 뼈가 보이는 빛을 찾다! (1895)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entg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0" y="2002536"/>
            <a:ext cx="2270638" cy="292608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" y="4956048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36776"/>
            <a:ext cx="21031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875D1"/>
                </a:solidFill>
                <a:latin typeface="Malgun Gothic"/>
                <a:ea typeface="Malgun Gothic"/>
              </a:rPr>
              <a:t>세계 최초의 엑스레이!</a:t>
            </a:r>
          </a:p>
        </p:txBody>
      </p:sp>
      <p:pic>
        <p:nvPicPr>
          <p:cNvPr id="10" name="Picture 9" descr="xray_ha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493" y="2002536"/>
            <a:ext cx="1998133" cy="292608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291840" y="4956048"/>
            <a:ext cx="237743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뢴트겐 촬영 (PD)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911095"/>
            <a:ext cx="557784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/>
          <a:lstStyle/>
          <a:p>
            <a:pPr algn="ctr"/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🔦  이상한 빛 발견!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검은 종이로 꽁꽁 감싼 유리관에서 나온 빛이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멀리 있는 스크린을 빛나게 했어요!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282696"/>
            <a:ext cx="557784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/>
          <a:lstStyle/>
          <a:p>
            <a:pPr algn="ctr"/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✋  종이·나무는 뚫는데 뼈는 못 뚫어요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이름을 몰라 수수께끼 'X'를 붙여 'X선'!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아내의 손을 찍자 뼈와 반지가 그대로!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4654296"/>
            <a:ext cx="557784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/>
          <a:lstStyle/>
          <a:p>
            <a:pPr algn="ctr"/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🏆  세계 최초의 노벨 물리학상!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1901년 첫 노벨상 수상.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지금도 병원 엑스레이가 바로 이 빛이에요!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25896"/>
            <a:ext cx="105430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E"/>
                </a:solidFill>
                <a:latin typeface="Malgun Gothic"/>
                <a:ea typeface="Malgun Gothic"/>
              </a:rPr>
              <a:t>빌헬름 뢴트겐 (1845~1923) — 보이지 않는 것을 보이게 한 과학자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실험 ② 퀴리 부부 — 빛나는 돌을 찾아라! (1898)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30175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875D1"/>
                </a:solidFill>
                <a:latin typeface="Malgun Gothic"/>
                <a:ea typeface="Malgun Gothic"/>
              </a:rPr>
              <a:t>실험실의 마리 &amp; 피에르 퀴리</a:t>
            </a:r>
          </a:p>
        </p:txBody>
      </p:sp>
      <p:pic>
        <p:nvPicPr>
          <p:cNvPr id="8" name="Picture 7" descr="curie_lab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38" y="2002536"/>
            <a:ext cx="2843283" cy="22860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4315968"/>
            <a:ext cx="329183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4791456"/>
            <a:ext cx="10972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55F6E"/>
                </a:solidFill>
                <a:latin typeface="Malgun Gothic"/>
                <a:ea typeface="Malgun Gothic"/>
              </a:rPr>
              <a:t>88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E8A500"/>
                </a:solidFill>
                <a:latin typeface="Malgun Gothic"/>
                <a:ea typeface="Malgun Gothic"/>
              </a:rPr>
              <a:t>Ra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55F6E"/>
                </a:solidFill>
                <a:latin typeface="Malgun Gothic"/>
                <a:ea typeface="Malgun Gothic"/>
              </a:rPr>
              <a:t>라듐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4882896"/>
            <a:ext cx="17373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주기율표</a:t>
            </a:r>
            <a:br/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88번!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911095"/>
            <a:ext cx="672084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/>
          <a:lstStyle/>
          <a:p>
            <a:pPr algn="ctr"/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🍯  돌덩이 8톤을 끓이고 저으며!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낡은 창고 실험실에서 4년 동안,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커다란 솥에 광석을 끓이며 실험했어요.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82696"/>
            <a:ext cx="672084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/>
          <a:lstStyle/>
          <a:p>
            <a:pPr algn="ctr"/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✨  어둠 속에서 빛나는 라듐 발견!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밤에 실험실 문을 열면 새 원소 '라듐'이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푸르스름하게 반짝반짝 빛났대요!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654296"/>
            <a:ext cx="672084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/>
          <a:lstStyle/>
          <a:p>
            <a:pPr algn="ctr"/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🏆  '방사능' 이름 짓기 + 노벨상 2번!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여성 최초, 두 분야(물리·화학) 수상!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딸 이렌 부부도 노벨상을 받은 과학 가족!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980176"/>
            <a:ext cx="6720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A500"/>
                </a:solidFill>
                <a:latin typeface="Malgun Gothic"/>
                <a:ea typeface="Malgun Gothic"/>
              </a:rPr>
              <a:t>"두려워할 것은 없다. 이해해야 할 것만 있을 뿐!" — 마리 퀴리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실험 ③ 러더포드 — 금박에 알갱이를 쏘다! (1911)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therfo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002536"/>
            <a:ext cx="2368296" cy="32004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" y="523036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Bain News Service (PD)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1865376"/>
            <a:ext cx="76809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E8A500"/>
                </a:solidFill>
                <a:latin typeface="Malgun Gothic"/>
                <a:ea typeface="Malgun Gothic"/>
              </a:rPr>
              <a:t>금박 실험: 아주 얇은 금종이에 알갱이 쏘기!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459736"/>
            <a:ext cx="128016" cy="1463040"/>
          </a:xfrm>
          <a:prstGeom prst="rect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389120" y="2551176"/>
            <a:ext cx="2468880" cy="164592"/>
          </a:xfrm>
          <a:prstGeom prst="rightArrow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389120" y="2916936"/>
            <a:ext cx="2468880" cy="164592"/>
          </a:xfrm>
          <a:prstGeom prst="rightArrow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389120" y="3602736"/>
            <a:ext cx="2468880" cy="164592"/>
          </a:xfrm>
          <a:prstGeom prst="rightArrow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9300000">
            <a:off x="5577840" y="3191256"/>
            <a:ext cx="1554480" cy="182880"/>
          </a:xfrm>
          <a:prstGeom prst="rightArrow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505456"/>
            <a:ext cx="34747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2875D1"/>
                </a:solidFill>
                <a:latin typeface="Malgun Gothic"/>
                <a:ea typeface="Malgun Gothic"/>
              </a:rPr>
              <a:t>대부분은 슝~ 통과!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3A3A"/>
                </a:solidFill>
                <a:latin typeface="Malgun Gothic"/>
                <a:ea typeface="Malgun Gothic"/>
              </a:rPr>
              <a:t>가끔 텅! 튕겨 나옴 → 원자핵 발견!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4425696"/>
            <a:ext cx="7680960" cy="685800"/>
          </a:xfrm>
          <a:prstGeom prst="roundRect">
            <a:avLst>
              <a:gd name="adj" fmla="val 3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🎯  </a:t>
            </a: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"휴지에 쏜 대포알이 튕겨 나온 것만큼 놀라운 일!" — 러더포드가 남긴 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0" y="5230368"/>
            <a:ext cx="7680960" cy="685800"/>
          </a:xfrm>
          <a:prstGeom prst="roundRect">
            <a:avLst>
              <a:gd name="adj" fmla="val 3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⚽  </a:t>
            </a: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결론: 원자 속은 거의 텅 비어 있고, 한가운데 아주 작고 단단한 '원자핵'이 있다!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25896"/>
            <a:ext cx="105430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E"/>
                </a:solidFill>
                <a:latin typeface="Malgun Gothic"/>
                <a:ea typeface="Malgun Gothic"/>
              </a:rPr>
              <a:t>어니스트 러더포드 (1871~1937) — 원자핵의 아버지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실험 ④ 마지막 퍼즐을 맞춘 사람들! (1932·1938)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219456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875D1"/>
                </a:solidFill>
                <a:latin typeface="Malgun Gothic"/>
                <a:ea typeface="Malgun Gothic"/>
              </a:rPr>
              <a:t>제임스 채드윅</a:t>
            </a:r>
          </a:p>
        </p:txBody>
      </p:sp>
      <p:pic>
        <p:nvPicPr>
          <p:cNvPr id="8" name="Picture 7" descr="chadwi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002536"/>
            <a:ext cx="1901952" cy="237744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4407408"/>
            <a:ext cx="246887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LANL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636776"/>
            <a:ext cx="246888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D93A3A"/>
                </a:solidFill>
                <a:latin typeface="Malgun Gothic"/>
                <a:ea typeface="Malgun Gothic"/>
              </a:rPr>
              <a:t>오토 한 &amp; 리제 마이트너</a:t>
            </a:r>
          </a:p>
        </p:txBody>
      </p:sp>
      <p:pic>
        <p:nvPicPr>
          <p:cNvPr id="11" name="Picture 10" descr="hahn_meitn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726" y="2002536"/>
            <a:ext cx="1813986" cy="237744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246120" y="440740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36776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A500"/>
                </a:solidFill>
                <a:latin typeface="Malgun Gothic"/>
                <a:ea typeface="Malgun Gothic"/>
              </a:rPr>
              <a:t>1938년 핵분열 실험 장치!</a:t>
            </a:r>
          </a:p>
        </p:txBody>
      </p:sp>
      <p:pic>
        <p:nvPicPr>
          <p:cNvPr id="14" name="Picture 13" descr="fission_tab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322576"/>
            <a:ext cx="2743200" cy="20574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943600" y="4407408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독일박물관 (CC BY-SA 2.0)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002536"/>
            <a:ext cx="2377440" cy="2377440"/>
          </a:xfrm>
          <a:prstGeom prst="roundRect">
            <a:avLst>
              <a:gd name="adj" fmla="val 10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2F9E44"/>
                </a:solidFill>
                <a:latin typeface="Malgun Gothic"/>
                <a:ea typeface="Malgun Gothic"/>
              </a:rPr>
              <a:t>💪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포기하지 않은</a:t>
            </a:r>
            <a:br/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마이트너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109번 원소 이름이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'마이트너륨'이 됐어요!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745736"/>
            <a:ext cx="10268712" cy="658368"/>
          </a:xfrm>
          <a:prstGeom prst="roundRect">
            <a:avLst>
              <a:gd name="adj" fmla="val 3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🔵 채드윅 (1932)   </a:t>
            </a: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원자핵에 알갱이를 쏘는 실험으로 전기가 없는 알갱이 '중성자'를 발견! 핵분열의 열쇠가 됐어요.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522976"/>
            <a:ext cx="10268712" cy="658368"/>
          </a:xfrm>
          <a:prstGeom prst="roundRect">
            <a:avLst>
              <a:gd name="adj" fmla="val 30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💥 한 &amp; 마이트너 (1938)   </a:t>
            </a: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책상 크기의 저 장치로 우라늄에 중성자를 쏘는 실험을 하다가, 원자핵이 쪼개진 것을 발견! '핵분열'이에요.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3!  ⭐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러더포드의 금박 실험! 알갱이 '대부분'이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금종이를 그냥 슝~ 통과한 까닭은?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①  원자 속이 거의 텅 비어 있어서      ②  금종이가 찢어져서      ③  알갱이가 아주 빨라서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57216"/>
            <a:ext cx="816559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  <p:pic>
        <p:nvPicPr>
          <p:cNvPr id="9" name="Picture 8" descr="pado_w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4837176"/>
            <a:ext cx="90665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핵분열: 쪼개지면 엄청난 힘이!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916936"/>
            <a:ext cx="365760" cy="36576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28415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E"/>
                </a:solidFill>
                <a:latin typeface="Malgun Gothic"/>
                <a:ea typeface="Malgun Gothic"/>
              </a:rPr>
              <a:t>중성자 콩!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00200" y="2962656"/>
            <a:ext cx="411480" cy="310896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4560" y="2368296"/>
            <a:ext cx="1463040" cy="1463040"/>
          </a:xfrm>
          <a:prstGeom prst="ellipse">
            <a:avLst/>
          </a:prstGeom>
          <a:solidFill>
            <a:srgbClr val="E8A500"/>
          </a:solidFill>
          <a:ln w="19050">
            <a:solidFill>
              <a:srgbClr val="E86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우라늄</a:t>
            </a:r>
            <a:br/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원자핵</a:t>
            </a:r>
          </a:p>
        </p:txBody>
      </p:sp>
      <p:sp>
        <p:nvSpPr>
          <p:cNvPr id="11" name="Explosion 10"/>
          <p:cNvSpPr/>
          <p:nvPr/>
        </p:nvSpPr>
        <p:spPr>
          <a:xfrm>
            <a:off x="3931920" y="2414015"/>
            <a:ext cx="1371600" cy="1371600"/>
          </a:xfrm>
          <a:prstGeom prst="irregularSeal1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쫙!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0680" y="2962656"/>
            <a:ext cx="411480" cy="310896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0" y="2276856"/>
            <a:ext cx="868680" cy="868680"/>
          </a:xfrm>
          <a:prstGeom prst="ellipse">
            <a:avLst/>
          </a:prstGeom>
          <a:solidFill>
            <a:srgbClr val="FFD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0" y="3282696"/>
            <a:ext cx="868680" cy="868680"/>
          </a:xfrm>
          <a:prstGeom prst="ellipse">
            <a:avLst/>
          </a:prstGeom>
          <a:solidFill>
            <a:srgbClr val="FFD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0" y="2414015"/>
            <a:ext cx="320040" cy="32004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3008375"/>
            <a:ext cx="320040" cy="32004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3602735"/>
            <a:ext cx="320040" cy="32004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7863840" y="2459736"/>
            <a:ext cx="1554480" cy="1554480"/>
          </a:xfrm>
          <a:prstGeom prst="star5">
            <a:avLst/>
          </a:prstGeom>
          <a:solidFill>
            <a:srgbClr val="E8A500"/>
          </a:solidFill>
          <a:ln w="19050">
            <a:solidFill>
              <a:srgbClr val="E86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에너지!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42816"/>
            <a:ext cx="4114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두 조각으로 쪼개지며 열이 팡! 중성자도 톡톡!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91456"/>
            <a:ext cx="9994392" cy="123444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도미노처럼 계속돼요!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튀어나온 중성자가 옆의 원자핵을 또 쪼개고, 또 쪼개고... 큰 에너지가 계속 나와요.</a:t>
            </a:r>
            <a:br/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사탕만 한 우라늄 하나가 코끼리 무게만큼의 석탄과 같은 힘을 내요!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원자력발전소 = 아주 커다란 주전자!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3524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💥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원자핵이 쪼개져요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핵분열로 아주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뜨거운 열이!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77540" y="2916936"/>
            <a:ext cx="347472" cy="420624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5012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💨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물을 끓여요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펄펄! 수증기가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칙칙~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39028" y="2916936"/>
            <a:ext cx="347472" cy="420624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86500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🌀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바람개비가 돌아요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수증기가 터빈을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빙글빙글!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00516" y="2916936"/>
            <a:ext cx="347472" cy="420624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7988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전기가 반짝!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발전기가 돌면서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전기가 나와요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654296"/>
            <a:ext cx="9445752" cy="1371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주전자 물이 끓으면 뚜껑이 달그락달그락! 그 수증기의 힘으로 전기를 만들어요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F9E44"/>
                </a:solidFill>
                <a:latin typeface="Malgun Gothic"/>
                <a:ea typeface="Malgun Gothic"/>
              </a:rPr>
              <a:t>중요한 것! 석탄처럼 '태우는' 게 아니라 핵분열의 열로 끓이기 때문에 연기가 안 나요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발전소는 다섯 겹 갑옷으로 튼튼하게!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79" y="2002536"/>
            <a:ext cx="3657600" cy="3657600"/>
          </a:xfrm>
          <a:prstGeom prst="ellipse">
            <a:avLst/>
          </a:prstGeom>
          <a:solidFill>
            <a:srgbClr val="C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39" y="2368296"/>
            <a:ext cx="2926080" cy="2926080"/>
          </a:xfrm>
          <a:prstGeom prst="ellipse">
            <a:avLst/>
          </a:prstGeom>
          <a:solidFill>
            <a:srgbClr val="AA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799" y="2734056"/>
            <a:ext cx="2194560" cy="2194560"/>
          </a:xfrm>
          <a:prstGeom prst="ellipse">
            <a:avLst/>
          </a:prstGeom>
          <a:solidFill>
            <a:srgbClr val="86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4559" y="3099816"/>
            <a:ext cx="1463040" cy="1463040"/>
          </a:xfrm>
          <a:prstGeom prst="ellipse">
            <a:avLst/>
          </a:prstGeom>
          <a:solidFill>
            <a:srgbClr val="5E9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37460" y="3442716"/>
            <a:ext cx="777240" cy="777240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3630168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연료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819656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① 단단한 알갱이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연료를 사탕처럼 단단하게 구워요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670048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② 튼튼한 금속 막대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알갱이를 금속 막대 속에 쏙!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520440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③ 두꺼운 강철통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막대들을 25cm 강철통 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370832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④ 강철판 벽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강철통을 강철판이 또 감싸요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5221224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⑤ 초대형 콘크리트 건물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1m 20cm 두께! 교실 벽의 6배!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17336"/>
            <a:ext cx="1054303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겨울에 옷을 다섯 겹 껴입듯이! 과학자들이 24시간 지키고 있어 언제나 안심이에요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방사선? 알고 보면 우리 곁의 친구!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65376"/>
            <a:ext cx="3657600" cy="3749039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💡 전구로 이해해요!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E8A500"/>
                </a:solidFill>
                <a:latin typeface="Malgun Gothic"/>
                <a:ea typeface="Malgun Gothic"/>
              </a:rPr>
              <a:t>전구의 빛 = 방사선</a:t>
            </a:r>
            <a:br/>
            <a:r>
              <a:rPr sz="1350" b="1">
                <a:solidFill>
                  <a:srgbClr val="E8A500"/>
                </a:solidFill>
                <a:latin typeface="Malgun Gothic"/>
                <a:ea typeface="Malgun Gothic"/>
              </a:rPr>
              <a:t>빛을 내는 능력 = 방사능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눈에 안 보이는 에너지 빛이에요.</a:t>
            </a:r>
            <a:br/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(스파이더맨과 헐크는 영화 속 상상!)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865376"/>
            <a:ext cx="3657600" cy="3749039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🍌 어디에나 조금씩!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햇빛에도, 바나나에도, 땅과 돌에도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원래부터 아주 조금씩 있어요.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F9E44"/>
                </a:solidFill>
                <a:latin typeface="Malgun Gothic"/>
                <a:ea typeface="Malgun Gothic"/>
              </a:rPr>
              <a:t>공항 가방 검사, 감자 오래 보관까지</a:t>
            </a:r>
            <a:br/>
            <a:r>
              <a:rPr sz="1200" b="1">
                <a:solidFill>
                  <a:srgbClr val="2F9E44"/>
                </a:solidFill>
                <a:latin typeface="Malgun Gothic"/>
                <a:ea typeface="Malgun Gothic"/>
              </a:rPr>
              <a:t>우리를 돕는 고마운 친구!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82496"/>
            <a:ext cx="2651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4381"/>
                </a:solidFill>
                <a:latin typeface="Malgun Gothic"/>
                <a:ea typeface="Malgun Gothic"/>
              </a:rPr>
              <a:t>병원 엑스레이도 방사선!</a:t>
            </a:r>
          </a:p>
        </p:txBody>
      </p:sp>
      <p:pic>
        <p:nvPicPr>
          <p:cNvPr id="10" name="Picture 9" descr="xray_ha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50" y="2029967"/>
            <a:ext cx="2185458" cy="32004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49640" y="5257800"/>
            <a:ext cx="292607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뢴트겐 촬영 (PD)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43016"/>
            <a:ext cx="10543032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과학자들이 특별한 기계로 늘 재면서 우리를 안전하게 지켜주고 있어요. 안심!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62895" cy="2240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5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미래의 원자력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55F6E"/>
                </a:solidFill>
                <a:latin typeface="Malgun Gothic"/>
                <a:ea typeface="Malgun Gothic"/>
              </a:rPr>
              <a:t>그리고 지구를 지킬 여러분!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6109" y="5394960"/>
            <a:ext cx="3840480" cy="10972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미래의 원자력은 더 멋져! 마지막까지 가 보자!</a:t>
            </a:r>
          </a:p>
        </p:txBody>
      </p:sp>
      <p:sp>
        <p:nvSpPr>
          <p:cNvPr id="6" name="Isosceles Triangle 5"/>
          <p:cNvSpPr/>
          <p:nvPr/>
        </p:nvSpPr>
        <p:spPr>
          <a:xfrm rot="16200000">
            <a:off x="1940077" y="5843016"/>
            <a:ext cx="256032" cy="20116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do_w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57800"/>
            <a:ext cx="100738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미래 기술 ① 작지만 야무진 SMR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9" y="1728216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875D1"/>
                </a:solidFill>
                <a:latin typeface="Malgun Gothic"/>
                <a:ea typeface="Malgun Gothic"/>
              </a:rPr>
              <a:t>미래형 소형 원자로(SMR)의 속 모습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139696"/>
            <a:ext cx="2651760" cy="3566160"/>
          </a:xfrm>
          <a:prstGeom prst="roundRect">
            <a:avLst>
              <a:gd name="adj" fmla="val 25000"/>
            </a:avLst>
          </a:prstGeom>
          <a:solidFill>
            <a:srgbClr val="EAF3FB"/>
          </a:solidFill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49640" y="2459736"/>
            <a:ext cx="1645920" cy="2926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0" y="2734056"/>
            <a:ext cx="1005840" cy="868680"/>
          </a:xfrm>
          <a:prstGeom prst="roundRect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증기</a:t>
            </a:r>
            <a:br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발생기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288536"/>
            <a:ext cx="1005840" cy="868680"/>
          </a:xfrm>
          <a:prstGeom prst="roundRect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연료</a:t>
            </a:r>
            <a:br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(노심)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048256"/>
            <a:ext cx="621792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📦  장치를 한 통에 쏙!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큰 파이프가 없어서 고장 걱정이</a:t>
            </a:r>
            <a:br/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줄고, 크기는 작아 더 안전해요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419856"/>
            <a:ext cx="621792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🚚  필요한 곳에 쏙!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작으니까 전기가 필요한 곳 가까이</a:t>
            </a:r>
            <a:br/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지을 수 있어요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791456"/>
            <a:ext cx="621792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🚰  물도 만들어요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우리 연구원의 'SMART'는 전기와 함께</a:t>
            </a:r>
            <a:br/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바닷물을 마실 물로 바꿔요 (세계 최초 인증!)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미래 기술 ② 인공태양과 우주 원자력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28216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D93A3A"/>
                </a:solidFill>
                <a:latin typeface="Malgun Gothic"/>
                <a:ea typeface="Malgun Gothic"/>
              </a:rPr>
              <a:t>우리나라 인공태양 KSTAR</a:t>
            </a:r>
          </a:p>
        </p:txBody>
      </p:sp>
      <p:pic>
        <p:nvPicPr>
          <p:cNvPr id="8" name="Picture 7" descr="kst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093976"/>
            <a:ext cx="3657600" cy="27432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68680" y="4864608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M. Maccagnan (CC BY-SA 3.0)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57216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태양처럼 원자핵을 '합쳐서'(핵융합) 힘을 얻어요.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1억 도의 불덩이로 세계 기록! 연료는 바닷물에서, 거의 무한!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28216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875D1"/>
                </a:solidFill>
                <a:latin typeface="Malgun Gothic"/>
                <a:ea typeface="Malgun Gothic"/>
              </a:rPr>
              <a:t>화성 탐사 로버 큐리오시티</a:t>
            </a:r>
          </a:p>
        </p:txBody>
      </p:sp>
      <p:pic>
        <p:nvPicPr>
          <p:cNvPr id="12" name="Picture 11" descr="curiosi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24" y="2093976"/>
            <a:ext cx="1990711" cy="27432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46520" y="4864608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NASA (PD)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157216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화성에서 10년 넘게 달리는 비결은 '원자력 전지'!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우리나라도 세계 세 번째로 만들었어요. 달 탐사선에도 실릴 거예요!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4!  ⭐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우리나라 인공태양 'KSTAR'의 온도는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몇 도까지 올라갔을까요?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①  100도          ②  1만 도          ③  1억 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57216"/>
            <a:ext cx="816559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  <p:pic>
        <p:nvPicPr>
          <p:cNvPr id="9" name="Picture 8" descr="pado_w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4837176"/>
            <a:ext cx="90665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지구를 지키는 어린이 연구원의 약속!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전기를 아껴요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안 쓰는 불 끄기, 플러그 뽑기!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작지만 진짜 탄소중립 실천이에요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2716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❓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질문왕이 돼요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"왜?", "어떻게?"라고 묻는 순간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과학자의 꿈이 시작돼요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📚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과학과 친해져요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오늘 배운 이야기를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가족에게 설명해 봐요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0555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🌟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크게 꿈꿔요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인공태양을 완성할 미래의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박사님이 바로 여러분!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74336"/>
            <a:ext cx="10543032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퀴리 부인도, 아인슈타인도 여러분만 한 어린이였어요. 다음 차례는 여러분!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9646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오늘의 이야기, 기억해 주세요!</a:t>
            </a:r>
          </a:p>
        </p:txBody>
      </p:sp>
      <p:pic>
        <p:nvPicPr>
          <p:cNvPr id="4" name="Picture 3" descr="pado_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18" y="109728"/>
            <a:ext cx="1049536" cy="1078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819656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🌍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지구가 뜨거워지고 있어요. 범인은 이산화탄소(CO₂)!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532888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🌱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탄소중립 = 내뿜는 CO₂와 없애는 CO₂를 맞춰 '0'으로 만드는 세계의 약속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246120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⚡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원자력은 태우지 않아서 CO₂가 석탄의 150분의 1! (약 6g)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959352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☀️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태양광·풍력·원자력은 서로를 채워주는 지구 지킴이 드림팀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672584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🚀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SMR, 인공태양, 우주 전지... 미래의 원자력이 자라고 있어요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5385816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🌟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그리고 전기를 아끼는 여러분이 바로 탄소중립의 주인공!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63056"/>
            <a:ext cx="10543032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지구 지킴이 어린이 연구원 여러분, 수료를 축하합니다! 고마워요, 안녕!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