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(밝게 인사하며)</a:t>
            </a:r>
          </a:p>
          <a:p>
            <a:r>
              <a:t>안녕하세요, 여러분! 저는 한국원자력연구원에서 온 연구원 ○○○입니다.</a:t>
            </a:r>
          </a:p>
          <a:p>
            <a:r>
              <a:t>오늘의 주제는 '원자력과 탄소중립'이에요. 말이 조금 어렵죠?</a:t>
            </a:r>
          </a:p>
          <a:p>
            <a:r>
              <a:t>쉽게 말하면 "뜨거워진 지구를 지키는 깨끗한 에너지 이야기"랍니다.</a:t>
            </a:r>
          </a:p>
          <a:p>
            <a:r>
              <a:t>오늘 여러분은 하루 동안 '어린이 연구원'이 되어 저와 함께 그 비밀을 찾아볼 거예요.</a:t>
            </a:r>
          </a:p>
          <a:p>
            <a:r>
              <a:t>준비됐나요? 큰 소리로 "네!" 하고 외쳐 볼까요? 자, 출발~!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이야기는 네 부분으로 되어 있어요.</a:t>
            </a:r>
          </a:p>
          <a:p>
            <a:r>
              <a:t>파트 1, 지구가 보내는 SOS! 지구가 왜 뜨거워지는지, 탄소중립이 뭔지 알아봐요.</a:t>
            </a:r>
          </a:p>
          <a:p>
            <a:r>
              <a:t>파트 2, 원자력이 뭐예요? 세상에서 제일 작은 원자가 만드는 큰 힘의 비밀을 배워요.</a:t>
            </a:r>
          </a:p>
          <a:p>
            <a:r>
              <a:t>파트 3, 오늘의 하이라이트! 원자력이 어떻게 지구를 지키는지, 탄소중립과 원자력 이야기예요.</a:t>
            </a:r>
          </a:p>
          <a:p>
            <a:r>
              <a:t>파트 4, 미래의 원자력 기술과 여러분이 할 일을 알아봐요.</a:t>
            </a:r>
          </a:p>
          <a:p>
            <a:r>
              <a:t>중간중간 깜짝 퀴즈가 나오니까 집중! 다 맞히면 '지구 지킴이 어린이 연구원'으로 수료할 수 있어요. 출발~!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첫 번째 이야기를 시작할게요.</a:t>
            </a:r>
          </a:p>
          <a:p>
            <a:r>
              <a:t>여러분, 요즘 여름이 정말 덥죠? 뉴스에서 '지구온난화'라는 말 들어봤나요?</a:t>
            </a:r>
          </a:p>
          <a:p>
            <a:r>
              <a:t>지금 지구가 우리에게 SOS, 도와달라는 신호를 보내고 있대요.</a:t>
            </a:r>
          </a:p>
          <a:p>
            <a:r>
              <a:t>무슨 일인지 함께 알아봐요!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지구가 왜 뜨거워질까요? 범인은 바로 '이산화탄소', 영어로 CO₂(씨오투)예요.</a:t>
            </a:r>
          </a:p>
          <a:p>
            <a:r>
              <a:t>석탄이나 석유를 태울 때 뿜어져 나오는데, 하늘에 모여서 지구를 두꺼운 이불처럼 감싸요.</a:t>
            </a:r>
          </a:p>
          <a:p>
            <a:r>
              <a:t>여름에 두꺼운 이불을 덮고 자면 어떨까요? 너무 덥겠죠! 지구가 지금 딱 그런 상태예요.</a:t>
            </a:r>
          </a:p>
          <a:p>
            <a:r>
              <a:t>그래서 북극의 얼음이 녹아 북극곰의 집이 사라지고 있고요,</a:t>
            </a:r>
          </a:p>
          <a:p>
            <a:r>
              <a:t>여름은 너무 덥고, 비가 갑자기 쏟아지거나 가뭄이 들고, 날씨가 이상해졌어요.</a:t>
            </a:r>
          </a:p>
          <a:p>
            <a:r>
              <a:t>녹은 얼음 때문에 바닷물이 높아져서 바닷가 마을과 섬들도 위험해지고 있죠.</a:t>
            </a:r>
          </a:p>
          <a:p>
            <a:r>
              <a:t>지난 100년 동안 지구는 약 1도나 뜨거워졌어요. "겨우 1도?" 싶지만, 우리가 열이 나면 1도만 올라도 아프죠? 지구도 똑같아요.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이 이산화탄소는 어디서 나올까요?</a:t>
            </a:r>
          </a:p>
          <a:p>
            <a:r>
              <a:t>자동차와 비행기가 기름을 태울 때, 공장에서 물건을 만들 때, 집에서 난방할 때도 나와요.</a:t>
            </a:r>
          </a:p>
          <a:p>
            <a:r>
              <a:t>그런데 제일 큰 범인 중 하나는 바로... 전기 만들기예요!</a:t>
            </a:r>
          </a:p>
          <a:p>
            <a:r>
              <a:t>석탄이나 가스를 태워서 전기를 만들 때 이산화탄소가 아주아주 많이 나오거든요.</a:t>
            </a:r>
          </a:p>
          <a:p>
            <a:r>
              <a:t>그렇다고 전기를 안 쓸 수 있나요? TV, 에어컨, 냉장고, 게임기, 학교, 병원... 전기는 오히려 점점 더 많이 필요해요.</a:t>
            </a:r>
          </a:p>
          <a:p>
            <a:r>
              <a:t>자, 그럼 어떻게 해야 할까요? "전기는 많이 만들면서, 이산화탄소는 안 나오게!" 이게 바로 오늘의 큰 숙제랍니다.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그래서 세계가 큰 약속을 했어요. 이름하여 '탄소중립'! 다 같이 말해 볼까요? "탄소중립!"</a:t>
            </a:r>
          </a:p>
          <a:p>
            <a:r>
              <a:t>말이 어렵지만 저울을 생각하면 쉬워요. (그림 가리키며)</a:t>
            </a:r>
          </a:p>
          <a:p>
            <a:r>
              <a:t>저울 왼쪽은 우리가 내뿜는 이산화탄소예요. 공장, 자동차, 전기 만들기에서 나오죠.</a:t>
            </a:r>
          </a:p>
          <a:p>
            <a:r>
              <a:t>저울 오른쪽은 이산화탄소를 없애는 일이에요. 나무를 심고, CO₂가 안 나오는 깨끗한 에너지를 쓰는 것!</a:t>
            </a:r>
          </a:p>
          <a:p>
            <a:r>
              <a:t>이 양쪽을 딱! 맞춰서 하늘에 더해지는 CO₂를 '0'으로 만드는 게 탄소중립이에요.</a:t>
            </a:r>
          </a:p>
          <a:p>
            <a:r>
              <a:t>중요한 포인트! 하나도 안 만드는 게 아니라, 내뿜는 만큼 없애서 결과를 0으로 만드는 거예요. 그래서 이름이 '중립'!</a:t>
            </a:r>
          </a:p>
          <a:p>
            <a:r>
              <a:t>우리나라를 포함한 세계 여러 나라가 "2050년까지 탄소중립을 이루겠다!"고 약속했답니다.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자격 시험! 방금 배운 걸 떠올려 보세요.</a:t>
            </a:r>
          </a:p>
          <a:p>
            <a:r>
              <a:t>탄소중립은 이산화탄소를 하나도 안 만드는 것이다, 맞을까요? 팔로 크게! 하나, 둘, 셋!</a:t>
            </a:r>
          </a:p>
          <a:p>
            <a:r>
              <a:t>정답은... 엑스! 조금 어려웠죠?</a:t>
            </a:r>
          </a:p>
          <a:p>
            <a:r>
              <a:t>탄소중립은 내뿜는 CO₂와 없애는 CO₂를 저울처럼 딱 맞춰서 더해지는 양을 '0'으로 만드는 거예요.</a:t>
            </a:r>
          </a:p>
          <a:p>
            <a:r>
              <a:t>그래서 이름이 '중립'이랍니다. 맞힌 친구는 벌써 절반은 지구 지킴이!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숙제를 풀려면 먼저 '원자력'이 뭔지 알아야겠죠?</a:t>
            </a:r>
          </a:p>
          <a:p>
            <a:r>
              <a:t>두 번째 이야기, 원자력의 비밀을 파헤쳐 봅시다.</a:t>
            </a:r>
          </a:p>
          <a:p>
            <a:r>
              <a:t>세상에서 제일제일 작은 것이 어떻게 제일 큰 힘을 만드는지, 지금부터 공개합니다!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원자력을 알려면 먼저 '원자'부터 만나야 해요.</a:t>
            </a:r>
          </a:p>
          <a:p>
            <a:r>
              <a:t>레고 블록을 모으면 집도, 자동차도, 공룡도 만들 수 있죠? 세상 모든 것도 똑같아요.</a:t>
            </a:r>
          </a:p>
          <a:p>
            <a:r>
              <a:t>책도, 사과도, 물도, 강아지도, 우리 몸도 전부 '원자'라는 아주 작은 블록으로 만들어져 있어요.</a:t>
            </a:r>
          </a:p>
          <a:p>
            <a:r>
              <a:t>얼마나 작냐면, 원자 1억 개를 한 줄로 세워야 겨우 1센티미터! 새끼손톱 너비 정도예요.</a:t>
            </a:r>
          </a:p>
          <a:p>
            <a:r>
              <a:t>원자를 축구장만큼 튀겨보면, 한가운데 '원자핵'은 축구공만 하고, 주위를 도는 '전자'는 개미만 해요.</a:t>
            </a:r>
          </a:p>
          <a:p>
            <a:r>
              <a:t>그런데 이 작디작은 원자핵이 변신할 때 어마어마한 힘이 나와요. 그게 바로 '원자력'이랍니다!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원자력은 위대한 과학자들이 릴레이로 발견해 온 거예요. 진짜 사진과 함께 만나 볼까요?</a:t>
            </a:r>
          </a:p>
          <a:p>
            <a:r>
              <a:t>1895년 뢴트겐은 뼈가 보이는 신기한 빛 'X선'을 발견했어요. 아내 손을 찍은 사진이 세계 최초의 엑스레이!</a:t>
            </a:r>
          </a:p>
          <a:p>
            <a:r>
              <a:t>1898년 퀴리 부인은 스스로 빛나는 돌 '라듐'을 발견하고 '방사능'이라는 이름을 지었어요. 노벨상을 두 번이나 받았죠!</a:t>
            </a:r>
          </a:p>
          <a:p>
            <a:r>
              <a:t>1905년 아인슈타인은 E=mc², "작은 알갱이 속에 큰 에너지가 숨어 있다"는 비밀을 밝혔고,</a:t>
            </a:r>
          </a:p>
          <a:p>
            <a:r>
              <a:t>1911년 러더포드는 금박 실험으로 원자핵을, 1932년 채드윅은 중성자를 발견했어요.</a:t>
            </a:r>
          </a:p>
          <a:p>
            <a:r>
              <a:t>그리고 1938년, 한과 마이트너가 드디어 '핵분열'을 발견하면서 원자력 시대가 열렸답니다!</a:t>
            </a:r>
          </a:p>
          <a:p>
            <a:r>
              <a:t>이 릴레이가 하나라도 끊겼다면 오늘의 전기도 병원의 엑스레이도 없었을 거예요. 과학자들, 고마워요!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한과 마이트너가 발견한 '핵분열', 직접 볼까요? (그림 순서대로)</a:t>
            </a:r>
          </a:p>
          <a:p>
            <a:r>
              <a:t>'우라늄'이라는 아주 무거운 원자에 작은 알갱이 '중성자'가 콩! 부딪히면,</a:t>
            </a:r>
          </a:p>
          <a:p>
            <a:r>
              <a:t>우라늄 원자핵이 쫙! 두 조각으로 쪼개져요. 이게 '핵분열'!</a:t>
            </a:r>
          </a:p>
          <a:p>
            <a:r>
              <a:t>쪼개질 때 뜨거운 열이 팡! 나오고 중성자 세 개가 튀어나와요.</a:t>
            </a:r>
          </a:p>
          <a:p>
            <a:r>
              <a:t>그 중성자들이 옆의 우라늄을 또 콩! 쪼개고, 또 쪼개고... 도미노처럼 계속 이어져요.</a:t>
            </a:r>
          </a:p>
          <a:p>
            <a:r>
              <a:t>그래서 사탕만 한 우라늄 조각 하나가 코끼리 한 마리 무게의 석탄과 맞먹는 힘을 낸답니다!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자격 시험!</a:t>
            </a:r>
          </a:p>
          <a:p>
            <a:r>
              <a:t>세상 모든 것을 쪼개고 쪼개면 마지막에 남는 작은 블록은? 손가락으로! 하나, 둘, 셋!</a:t>
            </a:r>
          </a:p>
          <a:p>
            <a:r>
              <a:t>정답은 ②번, 원자! 딩동댕~</a:t>
            </a:r>
          </a:p>
          <a:p>
            <a:r>
              <a:t>책도, 사과도, 우리 몸도 전부 원자로 만들어졌다고 했죠?</a:t>
            </a:r>
          </a:p>
          <a:p>
            <a:r>
              <a:t>보너스: 원자 1억 개를 한 줄로 세우면? 맞아요, 겨우 1센티미터! 전원 통과!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'방사선'이라는 말, 어렵게 느껴지지만 전구 하나면 이해할 수 있어요.</a:t>
            </a:r>
          </a:p>
          <a:p>
            <a:r>
              <a:t>전구에서 나오는 빛이 '방사선', 전구가 빛을 낼 수 있는 능력이 '방사능'이에요. 퀴리 부인이 지은 그 이름!</a:t>
            </a:r>
          </a:p>
          <a:p>
            <a:r>
              <a:t>방사선은 눈에 안 보이는 에너지 빛이에요. 영화 속 스파이더맨과 헐크는 다~ 상상이고요!</a:t>
            </a:r>
          </a:p>
          <a:p>
            <a:r>
              <a:t>놀라운 사실! 방사선은 햇빛에도, 바나나에도, 땅과 돌에도 원래부터 조금씩 있어요. 이 정도는 우리 몸에 아무렇지도 않아요.</a:t>
            </a:r>
          </a:p>
          <a:p>
            <a:r>
              <a:t>게다가 병원 엑스레이, 공항 가방 검사, 감자·양파 오래 보관하기까지, 우리를 돕는 고마운 친구랍니다.</a:t>
            </a:r>
          </a:p>
          <a:p>
            <a:r>
              <a:t>과학자들이 특별한 기계로 늘 재면서 지켜주고 있으니 안심하세요!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원자력발전소가 전기를 만드는 방법은 간단해요. 커다란 주전자를 생각하세요!</a:t>
            </a:r>
          </a:p>
          <a:p>
            <a:r>
              <a:t>첫째, 핵분열로 아주 뜨거운 열이 나와요. 둘째, 그 열로 물을 펄펄 끓여요.</a:t>
            </a:r>
          </a:p>
          <a:p>
            <a:r>
              <a:t>셋째, 수증기가 커다란 바람개비(터빈)를 빙글빙글 돌려요. 넷째, 발전기가 돌면서 전기가 반짝!</a:t>
            </a:r>
          </a:p>
          <a:p>
            <a:r>
              <a:t>집 주전자 물이 끓으면 뚜껑이 달그락거리죠? 수증기는 그만큼 힘이 세거든요.</a:t>
            </a:r>
          </a:p>
          <a:p>
            <a:r>
              <a:t>그리고 아주 중요한 것 하나! 석탄 발전소는 석탄을 '태워서' 물을 끓이지만,</a:t>
            </a:r>
          </a:p>
          <a:p>
            <a:r>
              <a:t>원자력발전소는 태우는 게 아니라 핵분열의 열로 끓여요. 그래서 연기도, 이산화탄소도 거의 안 나온답니다.</a:t>
            </a:r>
          </a:p>
          <a:p>
            <a:r>
              <a:t>이 사실, 잠시 후에 아주 중요해져요. 기억해 두세요!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"발전소는 튼튼한가요?" 좋은 질문이에요! 발전소는 다섯 겹 갑옷을 입고 있어요.</a:t>
            </a:r>
          </a:p>
          <a:p>
            <a:r>
              <a:t>첫째, 연료를 사탕처럼 단단한 알갱이로 굽고, 둘째, 튼튼한 금속 막대 속에 넣어요.</a:t>
            </a:r>
          </a:p>
          <a:p>
            <a:r>
              <a:t>셋째, 두께 25센티미터 강철통에 넣고, 넷째, 강철판 벽이 또 감싸요.</a:t>
            </a:r>
          </a:p>
          <a:p>
            <a:r>
              <a:t>다섯째, 두께 1미터 20센티미터의 콘크리트 건물이 전체를 감싸요. 교실 벽의 여섯 배!</a:t>
            </a:r>
          </a:p>
          <a:p>
            <a:r>
              <a:t>겨울에 옷 다섯 겹을 껴입으면 찬바람이 못 들어오는 것처럼요.</a:t>
            </a:r>
          </a:p>
          <a:p>
            <a:r>
              <a:t>게다가 과학자들이 24시간 교대로 지키면서 조금이라도 이상하면 바로 멈추게 되어 있답니다. 안심!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드디어 오늘의 하이라이트! 원자력과 탄소중립 이야기예요.</a:t>
            </a:r>
          </a:p>
          <a:p>
            <a:r>
              <a:t>파트 1의 숙제 기억나요? "전기는 많이 만들면서, 이산화탄소는 안 나오게!"</a:t>
            </a:r>
          </a:p>
          <a:p>
            <a:r>
              <a:t>이 어려운 숙제를 풀어줄 해결사가 등장합니다. 두구두구두구... 바로 원자력!</a:t>
            </a:r>
          </a:p>
          <a:p>
            <a:r>
              <a:t>왜 원자력이 지구를 지키는 데 꼭 필요한지, 지금부터 하나씩 보여드릴게요.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전기를 만드는 방법마다 이산화탄소가 얼마나 나오는지 비교해 볼까요? (그래프 가리키며)</a:t>
            </a:r>
          </a:p>
          <a:p>
            <a:r>
              <a:t>전기 1을 만들 때 석탄은 약 900그램! 콜라 세 캔 무게만큼 나와요. 석유는 약 450그램.</a:t>
            </a:r>
          </a:p>
          <a:p>
            <a:r>
              <a:t>그런데 태양광은 54그램, 풍력은 15그램으로 확 줄죠?</a:t>
            </a:r>
          </a:p>
          <a:p>
            <a:r>
              <a:t>오늘의 주인공 원자력은... 겨우 6그램! 석탄의 150분의 1이에요!</a:t>
            </a:r>
          </a:p>
          <a:p>
            <a:r>
              <a:t>왜 이렇게 적을까요? 아까 배웠죠! 태우는 게 아니라 핵분열의 열로 물을 끓이니까요.</a:t>
            </a:r>
          </a:p>
          <a:p>
            <a:r>
              <a:t>원자력이 태양광·풍력과 어깨를 나란히 하는 깨끗한 에너지라는 건 세계 과학자들이 인정한 사실이랍니다.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왜 원자력은 이산화탄소가 거의 안 나올까요? 비밀은 '태우지 않는다'는 데 있어요.</a:t>
            </a:r>
          </a:p>
          <a:p>
            <a:r>
              <a:t>석탄 발전소는 석탄을 활활 태워서 물을 끓여요. 태우면 반드시 연기와 이산화탄소가 나오죠.</a:t>
            </a:r>
          </a:p>
          <a:p>
            <a:r>
              <a:t>그런데 원자력발전소는 태우는 게 아니에요! 핵분열에서 나오는 열로 물을 끓이니까,</a:t>
            </a:r>
          </a:p>
          <a:p>
            <a:r>
              <a:t>연기도, 이산화탄소도 나올 일이 없는 거예요.</a:t>
            </a:r>
          </a:p>
          <a:p>
            <a:r>
              <a:t>참, 사진에서 발전소의 큰 굴뚝처럼 생긴 곳에서 하얀 게 나오는 걸 봤을 수도 있는데요,</a:t>
            </a:r>
          </a:p>
          <a:p>
            <a:r>
              <a:t>그건 연기가 아니라 깨끗한 수증기, 그러니까 구름이랑 같은 거랍니다!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원자력의 또 다른 매력! 연료가 아주 조금만 필요하다는 거예요.</a:t>
            </a:r>
          </a:p>
          <a:p>
            <a:r>
              <a:t>사탕만 한 우라늄 한 조각이 코끼리 한 마리 무게의 석탄, 3톤과 같은 힘을 내요!</a:t>
            </a:r>
          </a:p>
          <a:p>
            <a:r>
              <a:t>그러니까 연료를 실어 나르는 트럭도, 배도 훨씬 적게 다녀도 되고요,</a:t>
            </a:r>
          </a:p>
          <a:p>
            <a:r>
              <a:t>발전소에 연료를 한 번 넣으면 1년 넘게 전기를 만들 수 있어요.</a:t>
            </a:r>
          </a:p>
          <a:p>
            <a:r>
              <a:t>게다가 우라늄은 세계 여러 나라에 골고루 있어서 구하기도 안정적이에요.</a:t>
            </a:r>
          </a:p>
          <a:p>
            <a:r>
              <a:t>적게 쓰고 크게 얻는 것, 지구의 소중한 자원을 아끼는 것도 탄소중립을 돕는 길이랍니다.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태양광, 풍력, 원자력 중에 뭐가 제일 좋을까요? 정답은... 다 같이 힘을 합치는 것!</a:t>
            </a:r>
          </a:p>
          <a:p>
            <a:r>
              <a:t>태양광은 깨끗하지만 해가 지면 쉬어야 해요. 풍력도 바람이 멈추면 쉬어야 하고요.</a:t>
            </a:r>
          </a:p>
          <a:p>
            <a:r>
              <a:t>그런데 우리는 밤에도 전기가 필요하잖아요? 냉장고는 24시간 돌아가야 하니까요!</a:t>
            </a:r>
          </a:p>
          <a:p>
            <a:r>
              <a:t>바로 그때 원자력이 활약해요. 밤낮없이, 날씨에 상관없이 24시간 전기를 듬뿍 만들거든요.</a:t>
            </a:r>
          </a:p>
          <a:p>
            <a:r>
              <a:t>해가 쨍쨍한 낮에는 태양광이, 밤과 흐린 날에는 원자력이! 서로 부족한 점을 채워주는 드림팀이에요.</a:t>
            </a:r>
          </a:p>
          <a:p>
            <a:r>
              <a:t>탄소중립은 어느 한 명의 히어로가 아니라, 깨끗한 에너지 팀 전체가 함께 이루는 거랍니다.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자격 시험! 잘 고민해 보세요.</a:t>
            </a:r>
          </a:p>
          <a:p>
            <a:r>
              <a:t>밤에도, 바람이 없어도 깨끗한 전기를 만들 수 있는 에너지는? 하나, 둘, 셋!</a:t>
            </a:r>
          </a:p>
          <a:p>
            <a:r>
              <a:t>정답은 ②번, 원자력! 태양광은 깨끗하지만 해가 지면 쉬어야 하죠.</a:t>
            </a:r>
          </a:p>
          <a:p>
            <a:r>
              <a:t>원자력은 밤낮없이, 날씨에 상관없이 24시간 깨끗한 전기를 만들 수 있어요.</a:t>
            </a:r>
          </a:p>
          <a:p>
            <a:r>
              <a:t>그래서 태양광·풍력과 원자력이 팀을 이루면 최고의 지구 지킴이가 된답니다!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이런 장점을 세계도 잘 알고 있어요.</a:t>
            </a:r>
          </a:p>
          <a:p>
            <a:r>
              <a:t>지금 세계 30여 개 나라에서 400기가 넘는 원자로가 전기를 만들고 있고요,</a:t>
            </a:r>
          </a:p>
          <a:p>
            <a:r>
              <a:t>2023년에는 우리나라를 포함한 세계 20여 개 나라가 큰 약속을 했어요.</a:t>
            </a:r>
          </a:p>
          <a:p>
            <a:r>
              <a:t>"2050년까지 원자력을 지금의 3배로 늘려서 탄소중립을 이루자!"</a:t>
            </a:r>
          </a:p>
          <a:p>
            <a:r>
              <a:t>그리고 자랑스러운 사실! 우리나라는 사막 나라 아랍에미리트에 원자력발전소를 수출해서,</a:t>
            </a:r>
          </a:p>
          <a:p>
            <a:r>
              <a:t>다른 나라의 탄소중립까지 돕고 있답니다. 어깨가 으쓱하죠?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우리나라는 어떨까요? (그래프 가리키며)</a:t>
            </a:r>
          </a:p>
          <a:p>
            <a:r>
              <a:t>지금 우리나라 전기의 약 3분의 1을 원자력이 만들고 있어요.</a:t>
            </a:r>
          </a:p>
          <a:p>
            <a:r>
              <a:t>여러분 집에 전등이 세 개 있다면, 그중 하나는 원자력이 켜고 있는 셈이죠!</a:t>
            </a:r>
          </a:p>
          <a:p>
            <a:r>
              <a:t>이 전기를 이산화탄소 없이 만들고 있으니, 원자력 덕분에 매년 어마어마하게 큰 숲이 흡수하는 만큼의 CO₂를 줄이고 있는 거예요.</a:t>
            </a:r>
          </a:p>
          <a:p>
            <a:r>
              <a:t>만약 원자력이 없다면? 그만큼의 전기를 석탄이나 가스로 만들어야 해서 이산화탄소가 훨씬 늘어나겠죠.</a:t>
            </a:r>
          </a:p>
          <a:p>
            <a:r>
              <a:t>그래서 원자력은 우리나라 탄소중립의 든든한 기둥이랍니다.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이야기! 미래의 원자력과 여러분의 역할이에요.</a:t>
            </a:r>
          </a:p>
          <a:p>
            <a:r>
              <a:t>과학자들은 지금 더 안전하고 더 신기한 미래의 원자력을 만들고 있어요.</a:t>
            </a:r>
          </a:p>
          <a:p>
            <a:r>
              <a:t>그리고 그 미래의 주인공이 누구인지도 알려드릴게요!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미래의 원자력을 만드는 곳, 바로 제가 일하는 한국원자력연구원이에요!</a:t>
            </a:r>
          </a:p>
          <a:p>
            <a:r>
              <a:t>대전에 있는 우리나라에서 제일 큰 원자력 연구소인데, 수천 명의 과학자가 일하고 있어요.</a:t>
            </a:r>
          </a:p>
          <a:p>
            <a:r>
              <a:t>첫째, 더 안전하고 똑똑한 새 원자로를 설계하고요.</a:t>
            </a:r>
          </a:p>
          <a:p>
            <a:r>
              <a:t>둘째, 아픈 곳을 콕 찾아가는 특별한 약, 방사성의약품을 만들어요. 아픈 어린이들을 위한 약도요!</a:t>
            </a:r>
          </a:p>
          <a:p>
            <a:r>
              <a:t>셋째, 우리 손으로 만든 연구용 원자로 '하나로'로 신기한 재료를 연구하고,</a:t>
            </a:r>
          </a:p>
          <a:p>
            <a:r>
              <a:t>넷째, 원자력을 언제나 안전하게 쓰는 방법을 연구해요.</a:t>
            </a:r>
          </a:p>
          <a:p>
            <a:r>
              <a:t>한마디로 '원자력으로 사람들을 안전하게 돕는 방법'을 연구하는 곳이랍니다.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 기술 첫 번째! 작지만 야무진 소형 원자로, SMR이에요. (그림 가리키며)</a:t>
            </a:r>
          </a:p>
          <a:p>
            <a:r>
              <a:t>증기발생기 같은 큰 장치들을 한 통 안에 쏙 넣어서, 커다란 파이프가 필요 없어요. 그만큼 고장 걱정이 줄고 더 안전하죠.</a:t>
            </a:r>
          </a:p>
          <a:p>
            <a:r>
              <a:t>크기가 작으니까 전기가 필요한 곳 가까이에 지을 수도 있고요.</a:t>
            </a:r>
          </a:p>
          <a:p>
            <a:r>
              <a:t>특히 우리 원자력연구원이 만든 'SMART'라는 소형 원자로는 세계 최초로 안전 인증을 받았는데,</a:t>
            </a:r>
          </a:p>
          <a:p>
            <a:r>
              <a:t>전기를 만들면서 바닷물을 마실 수 있는 물로 바꿔줄 수도 있어요. 물이 부족한 사막 나라에 딱이죠!</a:t>
            </a:r>
          </a:p>
          <a:p>
            <a:r>
              <a:t>탄소중립 시대에 세계가 SMR 개발 경주를 벌이고 있는데, 우리나라가 앞서 달리고 있답니다.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 기술 두 번째! 왼쪽 사진은 대전에 있는 우리나라 인공태양 'KSTAR'예요.</a:t>
            </a:r>
          </a:p>
          <a:p>
            <a:r>
              <a:t>태양은 원자핵을 쪼개는 게 아니라 반대로 '합쳐서' 힘을 내는데, 이걸 '핵융합'이라고 해요.</a:t>
            </a:r>
          </a:p>
          <a:p>
            <a:r>
              <a:t>KSTAR는 무려 1억 도의 불덩이를 만들어 세계 기록을 세웠어요! 연료는 바닷물에서 얻을 수 있어 거의 무한이고요.</a:t>
            </a:r>
          </a:p>
          <a:p>
            <a:r>
              <a:t>오른쪽 사진은 진짜 화성에서 찍은 거예요! 나사의 탐사 로버 '큐리오시티'인데,</a:t>
            </a:r>
          </a:p>
          <a:p>
            <a:r>
              <a:t>햇빛이 약하고 몹시 추운 화성에서 10년 넘게 달리는 비결이 바로 원자력 전지랍니다.</a:t>
            </a:r>
          </a:p>
          <a:p>
            <a:r>
              <a:t>우리나라도 이 우주용 원자력 전지를 세계 세 번째로 만들었어요. 언젠가 우리 달 탐사선에도 실릴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자격 시험!</a:t>
            </a:r>
          </a:p>
          <a:p>
            <a:r>
              <a:t>우리나라 인공태양 KSTAR의 온도는? 하나, 둘, 셋!</a:t>
            </a:r>
          </a:p>
          <a:p>
            <a:r>
              <a:t>정답은 ③번, 1억 도! 태양 한가운데보다도 몇 배나 뜨거워요.</a:t>
            </a:r>
          </a:p>
          <a:p>
            <a:r>
              <a:t>그걸 우리나라 과학자들이 해냈다는 사실!</a:t>
            </a:r>
          </a:p>
          <a:p>
            <a:r>
              <a:t>네 문제를 모두 통과한 여러분, '지구 지킴이 어린이 연구원' 자격 시험 최종 합격입니다! 큰 박수~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마지막으로, 지구를 지키는 어린이 연구원의 네 가지 약속!</a:t>
            </a:r>
          </a:p>
          <a:p>
            <a:r>
              <a:t>첫째, 전기를 아껴요. 안 쓰는 불 끄기, 안 보는 TV 끄기! 작아 보여도 진짜 탄소중립 실천이에요.</a:t>
            </a:r>
          </a:p>
          <a:p>
            <a:r>
              <a:t>둘째, 질문왕이 돼요. "왜?", "어떻게?"라고 묻는 순간 과학자의 꿈이 시작돼요. 러더포드도 그랬답니다!</a:t>
            </a:r>
          </a:p>
          <a:p>
            <a:r>
              <a:t>셋째, 과학과 친해져요. 오늘 배운 탄소중립과 원자력 이야기를 가족에게 설명해 보세요. 설명할 수 있으면 진짜 아는 거예요!</a:t>
            </a:r>
          </a:p>
          <a:p>
            <a:r>
              <a:t>넷째, 크게 꿈꿔요. 인공태양을 완성하는 사람, 화성에서 원자력 전지를 쓰는 사람, 그게 여러분일 수 있어요.</a:t>
            </a:r>
          </a:p>
          <a:p>
            <a:r>
              <a:t>퀴리 부인도, 아인슈타인도 다 여러분만 한 어린이였어요. 다음 차례는 바로 여러분입니다!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함께 외쳐 볼까요?</a:t>
            </a:r>
          </a:p>
          <a:p>
            <a:r>
              <a:t>지구가 뜨거워지는 범인은? (이산화탄소!) 탄소중립은? (내뿜는 만큼 없애서 0으로!)</a:t>
            </a:r>
          </a:p>
          <a:p>
            <a:r>
              <a:t>원자력은 태우지 않으니까 CO₂가 석탄의 150분의 1! 태양광·풍력과 함께 지구 지킴이 드림팀!</a:t>
            </a:r>
          </a:p>
          <a:p>
            <a:r>
              <a:t>SMR, 인공태양, 우주 전지 같은 미래 기술도 쑥쑥 자라고 있고요.</a:t>
            </a:r>
          </a:p>
          <a:p>
            <a:r>
              <a:t>그리고 잊지 마세요. 안 쓰는 불을 끄는 여러분이 바로 탄소중립의 진짜 주인공이에요!</a:t>
            </a:r>
          </a:p>
          <a:p>
            <a:r>
              <a:t>지구 지킴이 어린이 연구원 여러분, 모두 수료를 축하합니다!</a:t>
            </a:r>
          </a:p>
          <a:p>
            <a:r>
              <a:t>나중에 진짜 연구원이 되어 원자력연구원에서 다시 만나요. 고마워요, 안녕~! (손 흔들기)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32588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875D1"/>
                </a:solidFill>
                <a:latin typeface="Malgun Gothic"/>
                <a:ea typeface="Malgun Gothic"/>
              </a:rPr>
              <a:t>지구를 지키는 </a:t>
            </a:r>
            <a:r>
              <a:rPr sz="2600" b="1">
                <a:solidFill>
                  <a:srgbClr val="2875D1"/>
                </a:solidFill>
                <a:latin typeface="Malgun Gothic"/>
                <a:ea typeface="Malgun Gothic"/>
              </a:rPr>
              <a:t>깨끗한 에너지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877824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6800" b="1">
                <a:solidFill>
                  <a:srgbClr val="184D8F"/>
                </a:solidFill>
                <a:latin typeface="Malgun Gothic"/>
                <a:ea typeface="Malgun Gothic"/>
              </a:rPr>
              <a:t>원자력과 탄소중립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555F6E"/>
                </a:solidFill>
                <a:latin typeface="Malgun Gothic"/>
                <a:ea typeface="Malgun Gothic"/>
              </a:rPr>
              <a:t>초등학교 3~4학년 어린이 연구원 여러분과 함께</a:t>
            </a:r>
          </a:p>
        </p:txBody>
      </p:sp>
      <p:sp>
        <p:nvSpPr>
          <p:cNvPr id="4" name="Oval 3"/>
          <p:cNvSpPr/>
          <p:nvPr/>
        </p:nvSpPr>
        <p:spPr>
          <a:xfrm>
            <a:off x="7717536" y="1691640"/>
            <a:ext cx="3950208" cy="1371600"/>
          </a:xfrm>
          <a:prstGeom prst="ellipse">
            <a:avLst/>
          </a:prstGeom>
          <a:noFill/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3600000">
            <a:off x="7717536" y="1691640"/>
            <a:ext cx="3950208" cy="1371600"/>
          </a:xfrm>
          <a:prstGeom prst="ellipse">
            <a:avLst/>
          </a:prstGeom>
          <a:noFill/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7200000">
            <a:off x="7717536" y="1691640"/>
            <a:ext cx="3950208" cy="1371600"/>
          </a:xfrm>
          <a:prstGeom prst="ellipse">
            <a:avLst/>
          </a:prstGeom>
          <a:noFill/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86646" y="2037283"/>
            <a:ext cx="460857" cy="460857"/>
          </a:xfrm>
          <a:prstGeom prst="ellipse">
            <a:avLst/>
          </a:prstGeom>
          <a:solidFill>
            <a:srgbClr val="19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37776" y="2037283"/>
            <a:ext cx="460857" cy="460857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62211" y="2300630"/>
            <a:ext cx="460857" cy="460857"/>
          </a:xfrm>
          <a:prstGeom prst="ellipse">
            <a:avLst/>
          </a:prstGeom>
          <a:solidFill>
            <a:srgbClr val="194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91856" y="2212848"/>
            <a:ext cx="219456" cy="219456"/>
          </a:xfrm>
          <a:prstGeom prst="ellipse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28832" y="2432304"/>
            <a:ext cx="219456" cy="219456"/>
          </a:xfrm>
          <a:prstGeom prst="ellipse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73184" y="1307592"/>
            <a:ext cx="219456" cy="219456"/>
          </a:xfrm>
          <a:prstGeom prst="ellipse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5394960"/>
            <a:ext cx="5120640" cy="54864"/>
          </a:xfrm>
          <a:prstGeom prst="roundRect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57784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한국원자력연구원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오늘의 이야기 순서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1228" y="1911095"/>
            <a:ext cx="2514600" cy="31089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PART 1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194381"/>
                </a:solidFill>
                <a:latin typeface="Malgun Gothic"/>
                <a:ea typeface="Malgun Gothic"/>
              </a:rPr>
              <a:t>🌍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194381"/>
                </a:solidFill>
                <a:latin typeface="Malgun Gothic"/>
                <a:ea typeface="Malgun Gothic"/>
              </a:rPr>
              <a:t>지구가 보내는 SOS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지구가 뜨거워지고 있어요!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1860" y="1911095"/>
            <a:ext cx="2514600" cy="31089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PART 2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194381"/>
                </a:solidFill>
                <a:latin typeface="Malgun Gothic"/>
                <a:ea typeface="Malgun Gothic"/>
              </a:rPr>
              <a:t>🔎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194381"/>
                </a:solidFill>
                <a:latin typeface="Malgun Gothic"/>
                <a:ea typeface="Malgun Gothic"/>
              </a:rPr>
              <a:t>원자력이 뭐예요?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세상에서 제일 작은 것이 만드는 제일 큰 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2492" y="1911095"/>
            <a:ext cx="2514600" cy="310896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F9E44"/>
                </a:solidFill>
                <a:latin typeface="Malgun Gothic"/>
                <a:ea typeface="Malgun Gothic"/>
              </a:rPr>
              <a:t>PART 3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194381"/>
                </a:solidFill>
                <a:latin typeface="Malgun Gothic"/>
                <a:ea typeface="Malgun Gothic"/>
              </a:rPr>
              <a:t>🌱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194381"/>
                </a:solidFill>
                <a:latin typeface="Malgun Gothic"/>
                <a:ea typeface="Malgun Gothic"/>
              </a:rPr>
              <a:t>원자력과 탄소중립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지구를 지키는 깨끗한 에너지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3124" y="1911095"/>
            <a:ext cx="2514600" cy="31089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PART 4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194381"/>
                </a:solidFill>
                <a:latin typeface="Malgun Gothic"/>
                <a:ea typeface="Malgun Gothic"/>
              </a:rPr>
              <a:t>🚀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194381"/>
                </a:solidFill>
                <a:latin typeface="Malgun Gothic"/>
                <a:ea typeface="Malgun Gothic"/>
              </a:rPr>
              <a:t>미래와 우리의 역할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6E"/>
                </a:solidFill>
                <a:latin typeface="Malgun Gothic"/>
                <a:ea typeface="Malgun Gothic"/>
              </a:rPr>
              <a:t>미래의 원자력, 그리고 여러분!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85816"/>
            <a:ext cx="10543032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55F6E"/>
                </a:solidFill>
                <a:latin typeface="Malgun Gothic"/>
                <a:ea typeface="Malgun Gothic"/>
              </a:rPr>
              <a:t>중간중간 깜짝 퀴즈가 나와요! 다 맞히면 '지구 지킴이 어린이 연구원' 수료 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27167" y="1234440"/>
            <a:ext cx="1737360" cy="1737360"/>
          </a:xfrm>
          <a:prstGeom prst="ellipse">
            <a:avLst/>
          </a:prstGeom>
          <a:solidFill>
            <a:srgbClr val="EAF3FB"/>
          </a:solidFill>
          <a:ln w="254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27167" y="1371600"/>
            <a:ext cx="1737360" cy="14630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200" b="0">
                <a:solidFill>
                  <a:srgbClr val="194381"/>
                </a:solidFill>
                <a:latin typeface="Malgun Gothic"/>
                <a:ea typeface="Malgun Gothic"/>
              </a:rPr>
              <a:t>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794D1"/>
                </a:solidFill>
                <a:latin typeface="Malgun Gothic"/>
                <a:ea typeface="Malgun Gothic"/>
              </a:rPr>
              <a:t>PART 1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5600" b="1">
                <a:solidFill>
                  <a:srgbClr val="194381"/>
                </a:solidFill>
                <a:latin typeface="Malgun Gothic"/>
                <a:ea typeface="Malgun Gothic"/>
              </a:rPr>
              <a:t>지구가 보내는 SOS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555F6E"/>
                </a:solidFill>
                <a:latin typeface="Malgun Gothic"/>
                <a:ea typeface="Malgun Gothic"/>
              </a:rPr>
              <a:t>지구가 뜨거워지고 있어요!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지구가 점점 뜨거워지고 있어요!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82496"/>
            <a:ext cx="10543032" cy="1371600"/>
          </a:xfrm>
          <a:prstGeom prst="roundRect">
            <a:avLst>
              <a:gd name="adj" fmla="val 14000"/>
            </a:avLst>
          </a:prstGeom>
          <a:solidFill>
            <a:srgbClr val="FBE7E7"/>
          </a:solidFill>
          <a:ln w="15875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D93A3A"/>
                </a:solidFill>
                <a:latin typeface="Malgun Gothic"/>
                <a:ea typeface="Malgun Gothic"/>
              </a:rPr>
              <a:t>범인은 이산화탄소(CO₂)!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2B2B2B"/>
                </a:solidFill>
                <a:latin typeface="Malgun Gothic"/>
                <a:ea typeface="Malgun Gothic"/>
              </a:rPr>
              <a:t>석탄·석유를 태울 때 나오는 CO₂가 지구를 두꺼운 이불처럼 감싸서,</a:t>
            </a:r>
            <a:br/>
            <a:r>
              <a:rPr sz="1350" b="0">
                <a:solidFill>
                  <a:srgbClr val="2B2B2B"/>
                </a:solidFill>
                <a:latin typeface="Malgun Gothic"/>
                <a:ea typeface="Malgun Gothic"/>
              </a:rPr>
              <a:t>지구가 열을 내보내지 못하고 점점 더워지는 거예요.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" y="3282696"/>
            <a:ext cx="3383280" cy="214884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⛄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얼음이 녹아요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북극곰의 얼음 집이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점점 사라져요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2836" y="3282696"/>
            <a:ext cx="3383280" cy="2148840"/>
          </a:xfrm>
          <a:prstGeom prst="roundRect">
            <a:avLst>
              <a:gd name="adj" fmla="val 9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🔥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날씨가 이상해져요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너무 더운 여름,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갑작스러운 비와 가뭄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6156" y="3282696"/>
            <a:ext cx="3383280" cy="214884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🌊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바닷물이 높아져요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바닷가 마을과 섬들이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위험해져요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68696"/>
            <a:ext cx="10543032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지난 100년 동안 지구는 약 1도나 더 뜨거워졌어요. 지구에게는 아주 큰 열이에요!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이산화탄소는 어디서 나올까?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3796" y="1819656"/>
            <a:ext cx="2514600" cy="2377440"/>
          </a:xfrm>
          <a:prstGeom prst="roundRect">
            <a:avLst>
              <a:gd name="adj" fmla="val 9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🔌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전기 만들기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석탄·가스를 태워서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전기를 만들 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9576" y="1636776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제일 많아요!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2716" y="1819656"/>
            <a:ext cx="2514600" cy="2377440"/>
          </a:xfrm>
          <a:prstGeom prst="roundRect">
            <a:avLst>
              <a:gd name="adj" fmla="val 9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🚗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자동차·비행기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기름을 태워서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달리고 날 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19656"/>
            <a:ext cx="2514600" cy="237744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🏭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공장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물건을 만들 때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연료를 태워서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0555" y="1819656"/>
            <a:ext cx="2514600" cy="237744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🏠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집·건물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난방하고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요리할 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4517136"/>
            <a:ext cx="9079992" cy="146304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전기를 만들 때 나오는 CO₂가 아주 큰 몫을 차지해요!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그런데 TV, 에어컨, 냉장고, 학교, 병원... 전기는 계속 더 많이 필요해요.</a:t>
            </a:r>
            <a:br/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그럼 어떻게 해야 할까요? 이게 오늘의 큰 숙제예요!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세계의 약속, '탄소중립'!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1682496"/>
            <a:ext cx="9628632" cy="960120"/>
          </a:xfrm>
          <a:prstGeom prst="roundRect">
            <a:avLst>
              <a:gd name="adj" fmla="val 20000"/>
            </a:avLst>
          </a:prstGeom>
          <a:solidFill>
            <a:srgbClr val="E3F3E7"/>
          </a:solidFill>
          <a:ln w="19050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2F9E44"/>
                </a:solidFill>
                <a:latin typeface="Malgun Gothic"/>
                <a:ea typeface="Malgun Gothic"/>
              </a:rPr>
              <a:t>탄소중립 = 내뿜는 CO₂와 없애는 CO₂를 똑같이 맞춰서, 더해지는 양을 '0'으로!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5637276" y="4654296"/>
            <a:ext cx="914400" cy="777240"/>
          </a:xfrm>
          <a:prstGeom prst="triangle">
            <a:avLst/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36876" y="4517136"/>
            <a:ext cx="7315200" cy="164592"/>
          </a:xfrm>
          <a:prstGeom prst="roundRect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08276" y="3054096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FBE7E7"/>
          </a:solidFill>
          <a:ln w="15875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D93A3A"/>
                </a:solidFill>
                <a:latin typeface="Malgun Gothic"/>
                <a:ea typeface="Malgun Gothic"/>
              </a:rPr>
              <a:t>내뿜는 CO₂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공장 · 자동차 · 전기 만들기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46036" y="3054096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E3F3E7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2F9E44"/>
                </a:solidFill>
                <a:latin typeface="Malgun Gothic"/>
                <a:ea typeface="Malgun Gothic"/>
              </a:rPr>
              <a:t>없애는 CO₂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나무 심기 · CO₂ 없는 에너지</a:t>
            </a:r>
          </a:p>
        </p:txBody>
      </p:sp>
      <p:sp>
        <p:nvSpPr>
          <p:cNvPr id="11" name="Oval 10"/>
          <p:cNvSpPr/>
          <p:nvPr/>
        </p:nvSpPr>
        <p:spPr>
          <a:xfrm>
            <a:off x="5408676" y="3282696"/>
            <a:ext cx="1371600" cy="868680"/>
          </a:xfrm>
          <a:prstGeom prst="ellipse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94381"/>
                </a:solidFill>
                <a:latin typeface="Malgun Gothic"/>
                <a:ea typeface="Malgun Gothic"/>
              </a:rPr>
              <a:t>= 0!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68696"/>
            <a:ext cx="10543032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우리나라를 포함한 세계 여러 나라가 "2050년까지 탄소중립!"을 약속했어요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깜짝 퀴즈 1! 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93976"/>
            <a:ext cx="9445752" cy="26517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 w="1905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OX 퀴즈! '탄소중립'은 이산화탄소를</a:t>
            </a:r>
            <a:br/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하나도 안 만드는 것이다?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2B2B2B"/>
                </a:solidFill>
                <a:latin typeface="Malgun Gothic"/>
                <a:ea typeface="Malgun Gothic"/>
              </a:rPr>
              <a:t>⭕  맞다!          ❌  아니다!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57216"/>
            <a:ext cx="10543032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55F6E"/>
                </a:solidFill>
                <a:latin typeface="Malgun Gothic"/>
                <a:ea typeface="Malgun Gothic"/>
              </a:rPr>
              <a:t>마음속으로 정했으면 손가락으로 번호를, OX는 팔로 크게! 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27167" y="1234440"/>
            <a:ext cx="1737360" cy="1737360"/>
          </a:xfrm>
          <a:prstGeom prst="ellipse">
            <a:avLst/>
          </a:prstGeom>
          <a:solidFill>
            <a:srgbClr val="EAF3FB"/>
          </a:solidFill>
          <a:ln w="254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27167" y="1371600"/>
            <a:ext cx="1737360" cy="14630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200" b="0">
                <a:solidFill>
                  <a:srgbClr val="194381"/>
                </a:solidFill>
                <a:latin typeface="Malgun Gothic"/>
                <a:ea typeface="Malgun Gothic"/>
              </a:rPr>
              <a:t>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794D1"/>
                </a:solidFill>
                <a:latin typeface="Malgun Gothic"/>
                <a:ea typeface="Malgun Gothic"/>
              </a:rPr>
              <a:t>PART 2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5600" b="1">
                <a:solidFill>
                  <a:srgbClr val="194381"/>
                </a:solidFill>
                <a:latin typeface="Malgun Gothic"/>
                <a:ea typeface="Malgun Gothic"/>
              </a:rPr>
              <a:t>원자력이 뭐예요?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555F6E"/>
                </a:solidFill>
                <a:latin typeface="Malgun Gothic"/>
                <a:ea typeface="Malgun Gothic"/>
              </a:rPr>
              <a:t>세상에서 제일 작은 것이 만드는 제일 큰 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모든 것의 블록, 원자!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73936"/>
            <a:ext cx="5212080" cy="4023360"/>
          </a:xfrm>
          <a:prstGeom prst="roundRect">
            <a:avLst>
              <a:gd name="adj" fmla="val 7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🎲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94381"/>
                </a:solidFill>
                <a:latin typeface="Malgun Gothic"/>
                <a:ea typeface="Malgun Gothic"/>
              </a:rPr>
              <a:t>세상 모든 것은 원자로!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레고 블록으로 집도 공룡도 만들 수 있듯이,</a:t>
            </a:r>
            <a:br/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책도, 사과도, 물도, 강아지도, 우리 몸도</a:t>
            </a:r>
            <a:br/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전부 '원자'라는 작은 블록으로 만들어졌어요!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73936"/>
            <a:ext cx="5212080" cy="4023360"/>
          </a:xfrm>
          <a:prstGeom prst="roundRect">
            <a:avLst>
              <a:gd name="adj" fmla="val 7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🔬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94381"/>
                </a:solidFill>
                <a:latin typeface="Malgun Gothic"/>
                <a:ea typeface="Malgun Gothic"/>
              </a:rPr>
              <a:t>얼마나 작냐면요!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원자 1억 개를 한 줄로 세우면 겨우 1cm!</a:t>
            </a:r>
            <a:br/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/>
            </a:r>
            <a:br/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원자를 축구장만큼 키우면 가운데 '원자핵'은</a:t>
            </a:r>
            <a:br/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축구공, 주위를 도는 '전자'는 개미 크기예요.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34456"/>
            <a:ext cx="1054303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이 작은 원자핵이 변할 때 나오는 어마어마한 힘이 바로 '원자력'!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원자력을 발견한 위대한 과학자들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entg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03" y="1819656"/>
            <a:ext cx="1525584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4652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1895 · 뢴트겐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X선 발견</a:t>
            </a:r>
            <a:br/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(뼈 사진의 시작!)</a:t>
            </a:r>
          </a:p>
        </p:txBody>
      </p:sp>
      <p:pic>
        <p:nvPicPr>
          <p:cNvPr id="9" name="Picture 8" descr="curi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864" y="1819656"/>
            <a:ext cx="1447687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455164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1898 · 퀴리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5164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라듐 발견</a:t>
            </a:r>
            <a:br/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'방사능' 이름 짓기</a:t>
            </a:r>
          </a:p>
        </p:txBody>
      </p:sp>
      <p:pic>
        <p:nvPicPr>
          <p:cNvPr id="12" name="Picture 11" descr="einste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13" y="1819656"/>
            <a:ext cx="1588012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265676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1905 · 아인슈타인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676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E=mc²</a:t>
            </a:r>
            <a:br/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에너지의 비밀</a:t>
            </a:r>
          </a:p>
        </p:txBody>
      </p:sp>
      <p:pic>
        <p:nvPicPr>
          <p:cNvPr id="15" name="Picture 14" descr="rutherfo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326" y="1819656"/>
            <a:ext cx="1454810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076188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1911 · 러더포드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6188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원자핵 발견</a:t>
            </a:r>
            <a:br/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(금박 실험!)</a:t>
            </a:r>
          </a:p>
        </p:txBody>
      </p:sp>
      <p:pic>
        <p:nvPicPr>
          <p:cNvPr id="18" name="Picture 17" descr="chadwic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860" y="1819656"/>
            <a:ext cx="1572768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7886700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1932 · 채드윅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6700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중성자 발견</a:t>
            </a:r>
          </a:p>
        </p:txBody>
      </p:sp>
      <p:pic>
        <p:nvPicPr>
          <p:cNvPr id="21" name="Picture 20" descr="hahn_meitn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0742" y="1819656"/>
            <a:ext cx="1500027" cy="196596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9697212" y="3877056"/>
            <a:ext cx="1847088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4381"/>
                </a:solidFill>
                <a:latin typeface="Malgun Gothic"/>
                <a:ea typeface="Malgun Gothic"/>
              </a:rPr>
              <a:t>1938 · 한&amp;마이트너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7212" y="4197096"/>
            <a:ext cx="1847088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55F6E"/>
                </a:solidFill>
                <a:latin typeface="Malgun Gothic"/>
                <a:ea typeface="Malgun Gothic"/>
              </a:rPr>
              <a:t>핵분열 발견!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5020056"/>
            <a:ext cx="9079992" cy="1051560"/>
          </a:xfrm>
          <a:prstGeom prst="roundRect">
            <a:avLst>
              <a:gd name="adj" fmla="val 18000"/>
            </a:avLst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과학자들이 릴레이 달리기처럼 발견을 이어온 덕분에 오늘의 원자력이 있어요!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(사진: 위키미디어 공용, 퍼블릭 도메인 / 채드윅: LANL)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핵분열: 쪼개지면 엄청난 힘이!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916936"/>
            <a:ext cx="365760" cy="365760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28415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55F6E"/>
                </a:solidFill>
                <a:latin typeface="Malgun Gothic"/>
                <a:ea typeface="Malgun Gothic"/>
              </a:rPr>
              <a:t>중성자 콩!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600200" y="2962656"/>
            <a:ext cx="411480" cy="310896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94560" y="2368296"/>
            <a:ext cx="1463040" cy="1463040"/>
          </a:xfrm>
          <a:prstGeom prst="ellipse">
            <a:avLst/>
          </a:prstGeom>
          <a:solidFill>
            <a:srgbClr val="E8A500"/>
          </a:solidFill>
          <a:ln w="19050">
            <a:solidFill>
              <a:srgbClr val="E86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우라늄</a:t>
            </a:r>
            <a:br/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원자핵</a:t>
            </a:r>
          </a:p>
        </p:txBody>
      </p:sp>
      <p:sp>
        <p:nvSpPr>
          <p:cNvPr id="10" name="Explosion 9"/>
          <p:cNvSpPr/>
          <p:nvPr/>
        </p:nvSpPr>
        <p:spPr>
          <a:xfrm>
            <a:off x="3931920" y="2414015"/>
            <a:ext cx="1371600" cy="1371600"/>
          </a:xfrm>
          <a:prstGeom prst="irregularSeal1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쫙!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40680" y="2962656"/>
            <a:ext cx="411480" cy="310896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0" y="2276856"/>
            <a:ext cx="868680" cy="868680"/>
          </a:xfrm>
          <a:prstGeom prst="ellipse">
            <a:avLst/>
          </a:prstGeom>
          <a:solidFill>
            <a:srgbClr val="FFD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0" y="3282696"/>
            <a:ext cx="868680" cy="868680"/>
          </a:xfrm>
          <a:prstGeom prst="ellipse">
            <a:avLst/>
          </a:prstGeom>
          <a:solidFill>
            <a:srgbClr val="FFD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0" y="2414015"/>
            <a:ext cx="320040" cy="320040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0" y="3008375"/>
            <a:ext cx="320040" cy="320040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3602735"/>
            <a:ext cx="320040" cy="320040"/>
          </a:xfrm>
          <a:prstGeom prst="ellipse">
            <a:avLst/>
          </a:prstGeom>
          <a:solidFill>
            <a:srgbClr val="287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7863840" y="2459736"/>
            <a:ext cx="1554480" cy="1554480"/>
          </a:xfrm>
          <a:prstGeom prst="star5">
            <a:avLst/>
          </a:prstGeom>
          <a:solidFill>
            <a:srgbClr val="E8A500"/>
          </a:solidFill>
          <a:ln w="19050">
            <a:solidFill>
              <a:srgbClr val="E86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94381"/>
                </a:solidFill>
                <a:latin typeface="Malgun Gothic"/>
                <a:ea typeface="Malgun Gothic"/>
              </a:rPr>
              <a:t>에너지!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42816"/>
            <a:ext cx="4114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두 조각으로 쪼개지며 열이 팡! 중성자도 톡톡!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791456"/>
            <a:ext cx="9994392" cy="123444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도미노처럼 계속돼요!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55F6E"/>
                </a:solidFill>
                <a:latin typeface="Malgun Gothic"/>
                <a:ea typeface="Malgun Gothic"/>
              </a:rPr>
              <a:t>튀어나온 중성자가 옆의 원자핵을 또 쪼개고, 또 쪼개고... 큰 에너지가 계속 나와요.</a:t>
            </a:r>
            <a:br/>
            <a:r>
              <a:rPr sz="1300" b="0">
                <a:solidFill>
                  <a:srgbClr val="555F6E"/>
                </a:solidFill>
                <a:latin typeface="Malgun Gothic"/>
                <a:ea typeface="Malgun Gothic"/>
              </a:rPr>
              <a:t>사탕만 한 우라늄 하나가 코끼리 무게만큼의 석탄과 같은 힘을 내요!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깜짝 퀴즈 2! 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93976"/>
            <a:ext cx="9445752" cy="26517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 w="1905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세상 모든 것을 쪼개고 쪼개고 또 쪼개면,</a:t>
            </a:r>
            <a:br/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마지막에 남는 작은 블록은 무엇일까요?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2B2B2B"/>
                </a:solidFill>
                <a:latin typeface="Malgun Gothic"/>
                <a:ea typeface="Malgun Gothic"/>
              </a:rPr>
              <a:t>①  먼지          ②  원자          ③  설탕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57216"/>
            <a:ext cx="10543032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55F6E"/>
                </a:solidFill>
                <a:latin typeface="Malgun Gothic"/>
                <a:ea typeface="Malgun Gothic"/>
              </a:rPr>
              <a:t>마음속으로 정했으면 손가락으로 번호를, OX는 팔로 크게! 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방사선? 알고 보면 우리 곁의 친구!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73936"/>
            <a:ext cx="5212080" cy="3291840"/>
          </a:xfrm>
          <a:prstGeom prst="roundRect">
            <a:avLst>
              <a:gd name="adj" fmla="val 8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💡 전구로 이해해요!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8A500"/>
                </a:solidFill>
                <a:latin typeface="Malgun Gothic"/>
                <a:ea typeface="Malgun Gothic"/>
              </a:rPr>
              <a:t>전구에서 나오는 빛 = 방사선</a:t>
            </a:r>
            <a:br/>
            <a:r>
              <a:rPr sz="1500" b="1">
                <a:solidFill>
                  <a:srgbClr val="E8A500"/>
                </a:solidFill>
                <a:latin typeface="Malgun Gothic"/>
                <a:ea typeface="Malgun Gothic"/>
              </a:rPr>
              <a:t>빛을 낼 수 있는 능력 = 방사능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방사선은 눈에 안 보이는 에너지 빛이에요.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(스파이더맨과 헐크는 영화 속 상상!)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73936"/>
            <a:ext cx="5212080" cy="3291840"/>
          </a:xfrm>
          <a:prstGeom prst="roundRect">
            <a:avLst>
              <a:gd name="adj" fmla="val 8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🍌 어디에나 조금씩!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햇빛에도, 바나나에도, 땅과 돌에도</a:t>
            </a:r>
            <a:br/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원래부터 아주 조금씩 들어 있어요.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F9E44"/>
                </a:solidFill>
                <a:latin typeface="Malgun Gothic"/>
                <a:ea typeface="Malgun Gothic"/>
              </a:rPr>
              <a:t>병원 엑스레이, 공항 가방 검사,</a:t>
            </a:r>
            <a:br/>
            <a:r>
              <a:rPr sz="1250" b="1">
                <a:solidFill>
                  <a:srgbClr val="2F9E44"/>
                </a:solidFill>
                <a:latin typeface="Malgun Gothic"/>
                <a:ea typeface="Malgun Gothic"/>
              </a:rPr>
              <a:t>감자 오래 보관하기에도 쓰이는 고마운 친구!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48656"/>
            <a:ext cx="10543032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과학자들이 특별한 기계로 늘 재면서 우리를 안전하게 지켜주고 있어요. 안심!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원자력발전소 = 아주 커다란 주전자!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" y="1911095"/>
            <a:ext cx="2377440" cy="2377440"/>
          </a:xfrm>
          <a:prstGeom prst="roundRect">
            <a:avLst>
              <a:gd name="adj" fmla="val 9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💥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원자핵이 쪼개져요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핵분열로 아주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뜨거운 열이!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77540" y="2916936"/>
            <a:ext cx="347472" cy="420624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5012" y="1911095"/>
            <a:ext cx="2377440" cy="237744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💨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물을 끓여요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펄펄! 수증기가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칙칙~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39028" y="2916936"/>
            <a:ext cx="347472" cy="420624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6500" y="1911095"/>
            <a:ext cx="2377440" cy="237744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🌀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바람개비가 돌아요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수증기가 터빈을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빙글빙글!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00516" y="2916936"/>
            <a:ext cx="347472" cy="420624"/>
          </a:xfrm>
          <a:prstGeom prst="rightArrow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47988" y="1911095"/>
            <a:ext cx="2377440" cy="237744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600" b="0">
                <a:solidFill>
                  <a:srgbClr val="194381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전기가 반짝!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발전기가 돌면서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전기가 나와요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654296"/>
            <a:ext cx="9445752" cy="137160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주전자 물이 끓으면 뚜껑이 달그락달그락! 그 수증기의 힘으로 전기를 만들어요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F9E44"/>
                </a:solidFill>
                <a:latin typeface="Malgun Gothic"/>
                <a:ea typeface="Malgun Gothic"/>
              </a:rPr>
              <a:t>중요한 것! 석탄처럼 '태우는' 게 아니라 핵분열의 열로 끓이기 때문에 연기가 안 나요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발전소는 다섯 겹 갑옷으로 튼튼하게!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79" y="2002536"/>
            <a:ext cx="3657600" cy="3657600"/>
          </a:xfrm>
          <a:prstGeom prst="ellipse">
            <a:avLst/>
          </a:prstGeom>
          <a:solidFill>
            <a:srgbClr val="C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39" y="2368296"/>
            <a:ext cx="2926080" cy="2926080"/>
          </a:xfrm>
          <a:prstGeom prst="ellipse">
            <a:avLst/>
          </a:prstGeom>
          <a:solidFill>
            <a:srgbClr val="AAC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799" y="2734056"/>
            <a:ext cx="2194560" cy="2194560"/>
          </a:xfrm>
          <a:prstGeom prst="ellipse">
            <a:avLst/>
          </a:prstGeom>
          <a:solidFill>
            <a:srgbClr val="86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94559" y="3099816"/>
            <a:ext cx="1463040" cy="1463040"/>
          </a:xfrm>
          <a:prstGeom prst="ellipse">
            <a:avLst/>
          </a:prstGeom>
          <a:solidFill>
            <a:srgbClr val="5E9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37460" y="3442716"/>
            <a:ext cx="777240" cy="777240"/>
          </a:xfrm>
          <a:prstGeom prst="ellipse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39" y="3630168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연료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819656"/>
            <a:ext cx="6035040" cy="731520"/>
          </a:xfrm>
          <a:prstGeom prst="roundRect">
            <a:avLst>
              <a:gd name="adj" fmla="val 2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① 단단한 알갱이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연료를 사탕처럼 단단하게 구워요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670048"/>
            <a:ext cx="6035040" cy="731520"/>
          </a:xfrm>
          <a:prstGeom prst="roundRect">
            <a:avLst>
              <a:gd name="adj" fmla="val 2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② 튼튼한 금속 막대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알갱이를 금속 막대 속에 쏙!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3520440"/>
            <a:ext cx="6035040" cy="731520"/>
          </a:xfrm>
          <a:prstGeom prst="roundRect">
            <a:avLst>
              <a:gd name="adj" fmla="val 2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③ 두꺼운 강철통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막대들을 25cm 강철통 안에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4370832"/>
            <a:ext cx="6035040" cy="731520"/>
          </a:xfrm>
          <a:prstGeom prst="roundRect">
            <a:avLst>
              <a:gd name="adj" fmla="val 2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④ 강철판 벽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강철통을 강철판이 또 감싸요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5221224"/>
            <a:ext cx="6035040" cy="731520"/>
          </a:xfrm>
          <a:prstGeom prst="roundRect">
            <a:avLst>
              <a:gd name="adj" fmla="val 2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⑤ 초대형 콘크리트 건물   </a:t>
            </a: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1m 20cm 두께! 교실 벽의 6배!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17336"/>
            <a:ext cx="1054303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겨울에 옷을 다섯 겹 껴입듯이! 과학자들이 24시간 지키고 있어 언제나 안심이에요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27167" y="1234440"/>
            <a:ext cx="1737360" cy="1737360"/>
          </a:xfrm>
          <a:prstGeom prst="ellipse">
            <a:avLst/>
          </a:prstGeom>
          <a:solidFill>
            <a:srgbClr val="EAF3FB"/>
          </a:solidFill>
          <a:ln w="254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27167" y="1371600"/>
            <a:ext cx="1737360" cy="14630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200" b="0">
                <a:solidFill>
                  <a:srgbClr val="194381"/>
                </a:solidFill>
                <a:latin typeface="Malgun Gothic"/>
                <a:ea typeface="Malgun Gothic"/>
              </a:rPr>
              <a:t>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794D1"/>
                </a:solidFill>
                <a:latin typeface="Malgun Gothic"/>
                <a:ea typeface="Malgun Gothic"/>
              </a:rPr>
              <a:t>PART 3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5600" b="1">
                <a:solidFill>
                  <a:srgbClr val="194381"/>
                </a:solidFill>
                <a:latin typeface="Malgun Gothic"/>
                <a:ea typeface="Malgun Gothic"/>
              </a:rPr>
              <a:t>원자력과 탄소중립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555F6E"/>
                </a:solidFill>
                <a:latin typeface="Malgun Gothic"/>
                <a:ea typeface="Malgun Gothic"/>
              </a:rPr>
              <a:t>지구를 지키는 깨끗한 에너지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전기 만들 때 나오는 CO₂, 비교해 봐요!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36776"/>
            <a:ext cx="1054303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55F6E"/>
                </a:solidFill>
                <a:latin typeface="Malgun Gothic"/>
                <a:ea typeface="Malgun Gothic"/>
              </a:rPr>
              <a:t>전기 1kWh를 만들 때 나오는 이산화탄소의 양 (그램)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642615"/>
            <a:ext cx="1325880" cy="2468880"/>
          </a:xfrm>
          <a:prstGeom prst="roundRect">
            <a:avLst/>
          </a:prstGeom>
          <a:solidFill>
            <a:srgbClr val="8D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31135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약 900g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8464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석탄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3877056"/>
            <a:ext cx="1325880" cy="1234440"/>
          </a:xfrm>
          <a:prstGeom prst="roundRect">
            <a:avLst/>
          </a:prstGeom>
          <a:solidFill>
            <a:srgbClr val="C98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3465576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약 450g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518464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석유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31536" y="4963363"/>
            <a:ext cx="1325880" cy="148132"/>
          </a:xfrm>
          <a:prstGeom prst="roundRect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4551883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약 54g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518464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태양광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784" y="4974336"/>
            <a:ext cx="1325880" cy="137160"/>
          </a:xfrm>
          <a:prstGeom prst="roundRect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4562855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약 15g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1464" y="518464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풍력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4974336"/>
            <a:ext cx="1325880" cy="137160"/>
          </a:xfrm>
          <a:prstGeom prst="round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4562855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94381"/>
                </a:solidFill>
                <a:latin typeface="Malgun Gothic"/>
                <a:ea typeface="Malgun Gothic"/>
              </a:rPr>
              <a:t>약 6g!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5184648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B2B2B"/>
                </a:solidFill>
                <a:latin typeface="Malgun Gothic"/>
                <a:ea typeface="Malgun Gothic"/>
              </a:rPr>
              <a:t>원자력</a:t>
            </a:r>
          </a:p>
        </p:txBody>
      </p:sp>
      <p:sp>
        <p:nvSpPr>
          <p:cNvPr id="22" name="5-Point Star 21"/>
          <p:cNvSpPr/>
          <p:nvPr/>
        </p:nvSpPr>
        <p:spPr>
          <a:xfrm>
            <a:off x="9788652" y="3877056"/>
            <a:ext cx="548640" cy="548640"/>
          </a:xfrm>
          <a:prstGeom prst="star5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20240" y="5660136"/>
            <a:ext cx="8348472" cy="685800"/>
          </a:xfrm>
          <a:prstGeom prst="roundRect">
            <a:avLst>
              <a:gd name="adj" fmla="val 35000"/>
            </a:avLst>
          </a:prstGeom>
          <a:solidFill>
            <a:srgbClr val="E3F3E7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F9E44"/>
                </a:solidFill>
                <a:latin typeface="Malgun Gothic"/>
                <a:ea typeface="Malgun Gothic"/>
              </a:rPr>
              <a:t>원자력은 석탄의 150분의 1! 태양광·풍력만큼 깨끗한 에너지예요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1636776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9AA4B0"/>
                </a:solidFill>
                <a:latin typeface="Malgun Gothic"/>
                <a:ea typeface="Malgun Gothic"/>
              </a:rPr>
              <a:t>출처: 유엔유럽경제위원회(UNECE, 2021)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왜 원자력은 CO₂가 거의 없을까?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19656"/>
            <a:ext cx="5212080" cy="3108960"/>
          </a:xfrm>
          <a:prstGeom prst="roundRect">
            <a:avLst>
              <a:gd name="adj" fmla="val 8000"/>
            </a:avLst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  <a:latin typeface="Malgun Gothic"/>
                <a:ea typeface="Malgun Gothic"/>
              </a:rPr>
              <a:t>🏭 석탄 발전소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석탄을 활활 태워서 물을 끓여요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93A3A"/>
                </a:solidFill>
                <a:latin typeface="Malgun Gothic"/>
                <a:ea typeface="Malgun Gothic"/>
              </a:rPr>
              <a:t>태우면 → 연기와 CO₂가 모락모락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19656"/>
            <a:ext cx="5212080" cy="3108960"/>
          </a:xfrm>
          <a:prstGeom prst="roundRect">
            <a:avLst>
              <a:gd name="adj" fmla="val 8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⚡ 원자력발전소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핵분열의 열로 물을 끓여요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F9E44"/>
                </a:solidFill>
                <a:latin typeface="Malgun Gothic"/>
                <a:ea typeface="Malgun Gothic"/>
              </a:rPr>
              <a:t>태우지 않으니 → 연기도 CO₂도 없어요!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157216"/>
            <a:ext cx="9445752" cy="96012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 w="15875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발전소 굴뚝처럼 보이는 것에서 나오는 건 연기가 아니라 깨끗한 수증기(구름)예요!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작은 연료로 큰 힘! 지구 자원도 아껴요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65376"/>
            <a:ext cx="5212080" cy="2926080"/>
          </a:xfrm>
          <a:prstGeom prst="roundRect">
            <a:avLst>
              <a:gd name="adj" fmla="val 8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0">
                <a:solidFill>
                  <a:srgbClr val="194381"/>
                </a:solidFill>
                <a:latin typeface="Malgun Gothic"/>
                <a:ea typeface="Malgun Gothic"/>
              </a:rPr>
              <a:t>🍬  =  🐘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사탕만 한 우라늄 한 조각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= 코끼리 무게만큼의 석탄(3톤)과 같은 힘!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65376"/>
            <a:ext cx="5212080" cy="2926080"/>
          </a:xfrm>
          <a:prstGeom prst="roundRect">
            <a:avLst>
              <a:gd name="adj" fmla="val 8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🚛 연료 걱정도 적어요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555F6E"/>
                </a:solidFill>
                <a:latin typeface="Malgun Gothic"/>
                <a:ea typeface="Malgun Gothic"/>
              </a:rPr>
              <a:t>연료가 조금만 필요하니 실어 나르기 쉽고,</a:t>
            </a:r>
            <a:br/>
            <a:r>
              <a:rPr sz="1300" b="0">
                <a:solidFill>
                  <a:srgbClr val="555F6E"/>
                </a:solidFill>
                <a:latin typeface="Malgun Gothic"/>
                <a:ea typeface="Malgun Gothic"/>
              </a:rPr>
              <a:t>한 번 넣으면 1년 넘게 전기를 만들어요.</a:t>
            </a:r>
            <a:br/>
            <a:r>
              <a:rPr sz="1300" b="0">
                <a:solidFill>
                  <a:srgbClr val="555F6E"/>
                </a:solidFill>
                <a:latin typeface="Malgun Gothic"/>
                <a:ea typeface="Malgun Gothic"/>
              </a:rPr>
              <a:t>연료(우라늄)는 세계 여러 나라에 골고루 있어요.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65776"/>
            <a:ext cx="10543032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적게 쓰고 크게 얻으니, 지구의 소중한 자원을 아끼는 것도 탄소중립을 돕는 길!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지구를 지키는 드림팀!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9516" y="1865376"/>
            <a:ext cx="3383280" cy="228600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0">
                <a:solidFill>
                  <a:srgbClr val="194381"/>
                </a:solidFill>
                <a:latin typeface="Malgun Gothic"/>
                <a:ea typeface="Malgun Gothic"/>
              </a:rPr>
              <a:t>☀️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태양광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깨끗해요!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하지만 해가 지면 쉬어요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2836" y="1865376"/>
            <a:ext cx="3383280" cy="228600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0">
                <a:solidFill>
                  <a:srgbClr val="194381"/>
                </a:solidFill>
                <a:latin typeface="Malgun Gothic"/>
                <a:ea typeface="Malgun Gothic"/>
              </a:rPr>
              <a:t>🍃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풍력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깨끗해요!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하지만 바람이 멈추면 쉬어요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6156" y="1865376"/>
            <a:ext cx="3383280" cy="228600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0">
                <a:solidFill>
                  <a:srgbClr val="194381"/>
                </a:solidFill>
                <a:latin typeface="Malgun Gothic"/>
                <a:ea typeface="Malgun Gothic"/>
              </a:rPr>
              <a:t>⚡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194381"/>
                </a:solidFill>
                <a:latin typeface="Malgun Gothic"/>
                <a:ea typeface="Malgun Gothic"/>
              </a:rPr>
              <a:t>원자력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깨끗한데 밤낮·날씨 상관없이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24시간 전기를 듬뿍!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425696"/>
            <a:ext cx="9628632" cy="16002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9050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2F9E44"/>
                </a:solidFill>
                <a:latin typeface="Malgun Gothic"/>
                <a:ea typeface="Malgun Gothic"/>
              </a:rPr>
              <a:t>서로의 부족한 점을 채워주는 '지구 지킴이 드림팀'!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밤에도 냉장고는 돌아가야 하니까요! 해가 진 밤과 바람 없는 날에는 원자력이,</a:t>
            </a:r>
            <a:br/>
            <a:r>
              <a:rPr sz="1350" b="0">
                <a:solidFill>
                  <a:srgbClr val="555F6E"/>
                </a:solidFill>
                <a:latin typeface="Malgun Gothic"/>
                <a:ea typeface="Malgun Gothic"/>
              </a:rPr>
              <a:t>해가 쨍쨍한 낮에는 태양광이 힘을 내면서 함께 지구를 지켜요.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깜짝 퀴즈 3! 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93976"/>
            <a:ext cx="9445752" cy="26517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 w="1905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탄소중립 시대! 밤에도, 바람이 없어도</a:t>
            </a:r>
            <a:br/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깨끗한 전기를 만들 수 있는 에너지는?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2B2B2B"/>
                </a:solidFill>
                <a:latin typeface="Malgun Gothic"/>
                <a:ea typeface="Malgun Gothic"/>
              </a:rPr>
              <a:t>①  태양광          ②  원자력          ③  촛불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57216"/>
            <a:ext cx="10543032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55F6E"/>
                </a:solidFill>
                <a:latin typeface="Malgun Gothic"/>
                <a:ea typeface="Malgun Gothic"/>
              </a:rPr>
              <a:t>마음속으로 정했으면 손가락으로 번호를, OX는 팔로 크게! 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세계가 원자력을 선택하고 있어요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9516" y="1911095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0">
                <a:solidFill>
                  <a:srgbClr val="194381"/>
                </a:solidFill>
                <a:latin typeface="Malgun Gothic"/>
                <a:ea typeface="Malgun Gothic"/>
              </a:rPr>
              <a:t>🌍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세계 30여 개 나라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400기가 넘는 원자로가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지금도 전기를 만들어요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2836" y="1911095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0">
                <a:solidFill>
                  <a:srgbClr val="194381"/>
                </a:solidFill>
                <a:latin typeface="Malgun Gothic"/>
                <a:ea typeface="Malgun Gothic"/>
              </a:rPr>
              <a:t>🌱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2023년 세계의 약속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"2050년까지 원자력을 3배로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늘려 탄소중립을 이루자!"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(우리나라 포함 20여 개국)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6156" y="1911095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0">
                <a:solidFill>
                  <a:srgbClr val="194381"/>
                </a:solidFill>
                <a:latin typeface="Malgun Gothic"/>
                <a:ea typeface="Malgun Gothic"/>
              </a:rPr>
              <a:t>🚢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194381"/>
                </a:solidFill>
                <a:latin typeface="Malgun Gothic"/>
                <a:ea typeface="Malgun Gothic"/>
              </a:rPr>
              <a:t>우리나라는 수출까지!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사막 나라 UAE에 발전소를 수출해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다른 나라의 탄소중립도 도와요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74336"/>
            <a:ext cx="10543032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194381"/>
                </a:solidFill>
                <a:latin typeface="Malgun Gothic"/>
                <a:ea typeface="Malgun Gothic"/>
              </a:rPr>
              <a:t>탄소중립 시대, 원자력은 세계가 함께 선택한 지구 지킴이예요!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우리나라 전기의 3분의 1은 원자력!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28216"/>
            <a:ext cx="999439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55F6E"/>
                </a:solidFill>
                <a:latin typeface="Malgun Gothic"/>
                <a:ea typeface="Malgun Gothic"/>
              </a:rPr>
              <a:t>우리나라 전기, 누가 만들까요?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231136"/>
            <a:ext cx="3177448" cy="914400"/>
          </a:xfrm>
          <a:prstGeom prst="roundRect">
            <a:avLst>
              <a:gd name="adj" fmla="val 12000"/>
            </a:avLst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</a:rPr>
              <a:t>원자력 약 1/3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2472" y="2231136"/>
            <a:ext cx="5488320" cy="914400"/>
          </a:xfrm>
          <a:prstGeom prst="roundRect">
            <a:avLst>
              <a:gd name="adj" fmla="val 12000"/>
            </a:avLst>
          </a:prstGeom>
          <a:solidFill>
            <a:srgbClr val="9AA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</a:rPr>
              <a:t>석탄·가스 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5656" y="2231136"/>
            <a:ext cx="962863" cy="914400"/>
          </a:xfrm>
          <a:prstGeom prst="roundRect">
            <a:avLst>
              <a:gd name="adj" fmla="val 12000"/>
            </a:avLst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태양광·풍력 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" y="3511296"/>
            <a:ext cx="5166360" cy="1874519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2800" b="0">
                <a:solidFill>
                  <a:srgbClr val="194381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94381"/>
                </a:solidFill>
                <a:latin typeface="Malgun Gothic"/>
                <a:ea typeface="Malgun Gothic"/>
              </a:rPr>
              <a:t>셋 중 하나는 원자력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여러분 집 전등 세 개 중 하나는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원자력이 켜는 셈이에요!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7356" y="3511296"/>
            <a:ext cx="5166360" cy="1874519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2800" b="0">
                <a:solidFill>
                  <a:srgbClr val="194381"/>
                </a:solidFill>
                <a:latin typeface="Malgun Gothic"/>
                <a:ea typeface="Malgun Gothic"/>
              </a:rPr>
              <a:t>🌳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94381"/>
                </a:solidFill>
                <a:latin typeface="Malgun Gothic"/>
                <a:ea typeface="Malgun Gothic"/>
              </a:rPr>
              <a:t>CO₂를 아껴요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원자력 덕분에 매년 어마어마한 숲이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하는 만큼의 CO₂를 줄이고 있어요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22976"/>
            <a:ext cx="10543032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94381"/>
                </a:solidFill>
                <a:latin typeface="Malgun Gothic"/>
                <a:ea typeface="Malgun Gothic"/>
              </a:rPr>
              <a:t>원자력이 없다면 그만큼을 석탄·가스로 만들어야 해서 CO₂가 훨씬 늘어나요!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27167" y="1234440"/>
            <a:ext cx="1737360" cy="1737360"/>
          </a:xfrm>
          <a:prstGeom prst="ellipse">
            <a:avLst/>
          </a:prstGeom>
          <a:solidFill>
            <a:srgbClr val="EAF3FB"/>
          </a:solidFill>
          <a:ln w="254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27167" y="1371600"/>
            <a:ext cx="1737360" cy="14630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200" b="0">
                <a:solidFill>
                  <a:srgbClr val="194381"/>
                </a:solidFill>
                <a:latin typeface="Malgun Gothic"/>
                <a:ea typeface="Malgun Gothic"/>
              </a:rP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3794D1"/>
                </a:solidFill>
                <a:latin typeface="Malgun Gothic"/>
                <a:ea typeface="Malgun Gothic"/>
              </a:rPr>
              <a:t>PART 4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5600" b="1">
                <a:solidFill>
                  <a:srgbClr val="194381"/>
                </a:solidFill>
                <a:latin typeface="Malgun Gothic"/>
                <a:ea typeface="Malgun Gothic"/>
              </a:rPr>
              <a:t>미래와 우리의 역할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555F6E"/>
                </a:solidFill>
                <a:latin typeface="Malgun Gothic"/>
                <a:ea typeface="Malgun Gothic"/>
              </a:rPr>
              <a:t>미래의 원자력, 그리고 여러분!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한국원자력연구원은 이런 일을 해요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3796" y="1911095"/>
            <a:ext cx="2514600" cy="26517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🔩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새 원자로 연구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더 안전하고 똑똑한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원자로를 설계해요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2716" y="1911095"/>
            <a:ext cx="2514600" cy="2651760"/>
          </a:xfrm>
          <a:prstGeom prst="roundRect">
            <a:avLst>
              <a:gd name="adj" fmla="val 9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💊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아픈 사람 돕는 약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방사성의약품으로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아픈 곳을 찾아 치료해요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911095"/>
            <a:ext cx="2514600" cy="265176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🔬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연구용 원자로 하나로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우리 손으로 만든 원자로로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신기한 재료를 연구해요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0555" y="1911095"/>
            <a:ext cx="2514600" cy="265176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🏰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안전 연구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원자력을 언제나 안전하게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쓰는 방법을 연구해요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82896"/>
            <a:ext cx="10543032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대전에 있는 우리나라 최대 원자력 연구소! 수천 명의 과학자가</a:t>
            </a:r>
            <a:br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'원자력으로 사람들을 안전하게 돕는 방법'을 연구하고 있어요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미래 기술 ① 작지만 야무진 SMR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9" y="1728216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875D1"/>
                </a:solidFill>
                <a:latin typeface="Malgun Gothic"/>
                <a:ea typeface="Malgun Gothic"/>
              </a:rPr>
              <a:t>미래형 소형 원자로(SMR)의 속 모습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2139696"/>
            <a:ext cx="2651760" cy="3566160"/>
          </a:xfrm>
          <a:prstGeom prst="roundRect">
            <a:avLst>
              <a:gd name="adj" fmla="val 25000"/>
            </a:avLst>
          </a:prstGeom>
          <a:solidFill>
            <a:srgbClr val="EAF3FB"/>
          </a:solidFill>
          <a:ln w="2540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2459736"/>
            <a:ext cx="1645920" cy="2926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0" y="2734056"/>
            <a:ext cx="1005840" cy="868680"/>
          </a:xfrm>
          <a:prstGeom prst="roundRect">
            <a:avLst/>
          </a:prstGeom>
          <a:solidFill>
            <a:srgbClr val="379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증기</a:t>
            </a:r>
            <a:br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발생기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4288536"/>
            <a:ext cx="1005840" cy="868680"/>
          </a:xfrm>
          <a:prstGeom prst="roundRect">
            <a:avLst/>
          </a:prstGeom>
          <a:solidFill>
            <a:srgbClr val="E8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연료</a:t>
            </a:r>
            <a:br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(노심)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048256"/>
            <a:ext cx="621792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📦  장치를 한 통에 쏙!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큰 파이프가 없어서 고장 걱정이</a:t>
            </a:r>
            <a:br/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줄고, 크기는 작아 더 안전해요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419856"/>
            <a:ext cx="621792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🚚  필요한 곳에 쏙!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작으니까 전기가 필요한 곳 가까이</a:t>
            </a:r>
            <a:br/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지을 수 있어요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791456"/>
            <a:ext cx="6217920" cy="1234440"/>
          </a:xfrm>
          <a:prstGeom prst="roundRect">
            <a:avLst>
              <a:gd name="adj" fmla="val 14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450" b="1">
                <a:solidFill>
                  <a:srgbClr val="194381"/>
                </a:solidFill>
                <a:latin typeface="Malgun Gothic"/>
                <a:ea typeface="Malgun Gothic"/>
              </a:rPr>
              <a:t>🚰  물도 만들어요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우리 연구원의 'SMART'는 전기와 함께</a:t>
            </a:r>
            <a:br/>
            <a:r>
              <a:rPr sz="1200" b="0">
                <a:solidFill>
                  <a:srgbClr val="555F6E"/>
                </a:solidFill>
                <a:latin typeface="Malgun Gothic"/>
                <a:ea typeface="Malgun Gothic"/>
              </a:rPr>
              <a:t>바닷물을 마실 물로 바꿔요 (세계 최초 인증!)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미래 기술 ② 인공태양과 우주 원자력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28216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D93A3A"/>
                </a:solidFill>
                <a:latin typeface="Malgun Gothic"/>
                <a:ea typeface="Malgun Gothic"/>
              </a:rPr>
              <a:t>우리나라 인공태양 KSTAR</a:t>
            </a:r>
          </a:p>
        </p:txBody>
      </p:sp>
      <p:pic>
        <p:nvPicPr>
          <p:cNvPr id="7" name="Picture 6" descr="ks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093976"/>
            <a:ext cx="3657600" cy="274320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" y="4864608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M. Maccagnan (CC BY-SA 3.0)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57216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태양처럼 원자핵을 '합쳐서'(핵융합) 힘을 얻어요.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1억 도의 불덩이로 세계 기록! 연료는 바닷물에서, 거의 무한!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28216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875D1"/>
                </a:solidFill>
                <a:latin typeface="Malgun Gothic"/>
                <a:ea typeface="Malgun Gothic"/>
              </a:rPr>
              <a:t>화성 탐사 로버 큐리오시티</a:t>
            </a:r>
          </a:p>
        </p:txBody>
      </p:sp>
      <p:pic>
        <p:nvPicPr>
          <p:cNvPr id="11" name="Picture 10" descr="curios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24" y="2093976"/>
            <a:ext cx="1990711" cy="2743200"/>
          </a:xfrm>
          <a:prstGeom prst="rect">
            <a:avLst/>
          </a:prstGeom>
          <a:ln w="15875">
            <a:solidFill>
              <a:srgbClr val="BFD9F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46520" y="4864608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9AA4B0"/>
                </a:solidFill>
                <a:latin typeface="Malgun Gothic"/>
                <a:ea typeface="Malgun Gothic"/>
              </a:rPr>
              <a:t>NASA (PD)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157216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화성에서 10년 넘게 달리는 비결은 '원자력 전지'!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우리나라도 세계 세 번째로 만들었어요. 달 탐사선에도 실릴 거예요!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깜짝 퀴즈 4! 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93976"/>
            <a:ext cx="9445752" cy="265176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 w="19050">
            <a:solidFill>
              <a:srgbClr val="287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794D1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우리나라 인공태양 'KSTAR'의 온도는</a:t>
            </a:r>
            <a:br/>
            <a:r>
              <a:rPr sz="2100" b="1">
                <a:solidFill>
                  <a:srgbClr val="194381"/>
                </a:solidFill>
                <a:latin typeface="Malgun Gothic"/>
                <a:ea typeface="Malgun Gothic"/>
              </a:rPr>
              <a:t>몇 도까지 올라갔을까요?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2B2B2B"/>
                </a:solidFill>
                <a:latin typeface="Malgun Gothic"/>
                <a:ea typeface="Malgun Gothic"/>
              </a:rPr>
              <a:t>①  100도          ②  1만 도          ③  1억 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57216"/>
            <a:ext cx="10543032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55F6E"/>
                </a:solidFill>
                <a:latin typeface="Malgun Gothic"/>
                <a:ea typeface="Malgun Gothic"/>
              </a:rPr>
              <a:t>마음속으로 정했으면 손가락으로 번호를, OX는 팔로 크게! 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지구를 지키는 어린이 연구원의 약속!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3796" y="1911095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E3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전기를 아껴요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안 쓰는 불 끄기, 플러그 뽑기!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작지만 진짜 탄소중립 실천이에요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2716" y="1911095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❓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질문왕이 돼요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"왜?", "어떻게?"라고 묻는 순간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과학자의 꿈이 시작돼요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911095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FDF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📚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과학과 친해져요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오늘 배운 이야기를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가족에게 설명해 봐요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0555" y="1911095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200" b="0">
                <a:solidFill>
                  <a:srgbClr val="194381"/>
                </a:solidFill>
                <a:latin typeface="Malgun Gothic"/>
                <a:ea typeface="Malgun Gothic"/>
              </a:rPr>
              <a:t>🌟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크게 꿈꿔요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인공태양을 완성할 미래의</a:t>
            </a:r>
            <a:br/>
            <a:r>
              <a:rPr sz="1250" b="0">
                <a:solidFill>
                  <a:srgbClr val="555F6E"/>
                </a:solidFill>
                <a:latin typeface="Malgun Gothic"/>
                <a:ea typeface="Malgun Gothic"/>
              </a:rPr>
              <a:t>박사님이 바로 여러분!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74336"/>
            <a:ext cx="10543032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퀴리 부인도, 아인슈타인도 여러분만 한 어린이였어요. 다음 차례는 여러분!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4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3794D1"/>
                </a:solidFill>
                <a:latin typeface="Malgun Gothic"/>
                <a:ea typeface="Malgun Gothic"/>
              </a:rPr>
              <a:t>깨끗하고 안전한 에너지, 원자력 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6692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94381"/>
                </a:solidFill>
                <a:latin typeface="Malgun Gothic"/>
                <a:ea typeface="Malgun Gothic"/>
              </a:rPr>
              <a:t>오늘의 이야기, 기억해 주세요!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3112" cy="5257800"/>
          </a:xfrm>
          <a:prstGeom prst="roundRect">
            <a:avLst>
              <a:gd name="adj" fmla="val 55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426464"/>
            <a:ext cx="10890504" cy="5001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819656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🌍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지구가 뜨거워지고 있어요. 범인은 이산화탄소(CO₂)!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532888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🌱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탄소중립 = 내뿜는 CO₂와 없애는 CO₂를 맞춰 '0'으로 만드는 세계의 약속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246120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⚡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원자력은 태우지 않아서 CO₂가 석탄의 150분의 1! (약 6g)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959352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☀️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태양광·풍력·원자력은 서로를 채워주는 지구 지킴이 드림팀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672584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🚀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SMR, 인공태양, 우주 전지... 미래의 원자력이 자라고 있어요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5385816"/>
            <a:ext cx="9811512" cy="603504"/>
          </a:xfrm>
          <a:prstGeom prst="roundRect">
            <a:avLst>
              <a:gd name="adj" fmla="val 32000"/>
            </a:avLst>
          </a:prstGeom>
          <a:solidFill>
            <a:srgbClr val="E1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00" b="0">
                <a:solidFill>
                  <a:srgbClr val="2875D1"/>
                </a:solidFill>
                <a:latin typeface="Malgun Gothic"/>
                <a:ea typeface="Malgun Gothic"/>
              </a:rPr>
              <a:t>🌟  </a:t>
            </a:r>
            <a:r>
              <a:rPr sz="1350" b="1">
                <a:solidFill>
                  <a:srgbClr val="194381"/>
                </a:solidFill>
                <a:latin typeface="Malgun Gothic"/>
                <a:ea typeface="Malgun Gothic"/>
              </a:rPr>
              <a:t>그리고 전기를 아끼는 여러분이 바로 탄소중립의 주인공!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63056"/>
            <a:ext cx="10543032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94381"/>
                </a:solidFill>
                <a:latin typeface="Malgun Gothic"/>
                <a:ea typeface="Malgun Gothic"/>
              </a:rPr>
              <a:t>지구 지킴이 어린이 연구원 여러분, 수료를 축하합니다! 고마워요, 안녕!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