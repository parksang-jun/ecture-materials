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(반갑게 인사하며)</a:t>
            </a:r>
          </a:p>
          <a:p>
            <a:r>
              <a:t>안녕하세요, 여러분! 저는 한국원자력연구원에서 온 연구원 ○○○입니다.</a:t>
            </a:r>
          </a:p>
          <a:p>
            <a:r>
              <a:t>오늘 여러분에게 아주 특별한 자격을 드리려고 해요. 바로... '1일 어린이 연구원'!</a:t>
            </a:r>
          </a:p>
          <a:p>
            <a:r>
              <a:t>지금부터 여러분은 하루 동안 원자력연구원의 진짜 연구원이 되어서,</a:t>
            </a:r>
          </a:p>
          <a:p>
            <a:r>
              <a:t>연구원이 무슨 일을 하는지, 원자력을 발견한 위대한 과학자들은 누구인지, 미래의 원자력은 어떤 모습인지 다섯 구역을 견학할 거예요.</a:t>
            </a:r>
          </a:p>
          <a:p>
            <a:r>
              <a:t>어린이 연구원 여러분, 준비됐나요? 큰 소리로 "네!" 하고 대답해 볼까요? 자, 견학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견학할 곳은 모두 다섯 구역이에요.</a:t>
            </a:r>
          </a:p>
          <a:p>
            <a:r>
              <a:t>1구역에서는 원자력연구원이 무슨 일을 하는 곳인지 알아보고,</a:t>
            </a:r>
          </a:p>
          <a:p>
            <a:r>
              <a:t>2구역 '원자력 기초실'에서는 원자력을 발견한 진짜 과학자들의 사진과 이야기를 만나요. 뢴트겐, 퀴리 부인, 아인슈타인 같은 분들이요!</a:t>
            </a:r>
          </a:p>
          <a:p>
            <a:r>
              <a:t>3구역 '원자력 이용관'에서는 발전소, 병원, 공항 곳곳에서 원자력이 어떻게 쓰이는지,</a:t>
            </a:r>
          </a:p>
          <a:p>
            <a:r>
              <a:t>4구역 '미래 기술관'에서는 화성 탐사 로버와 인공태양 같은 신기한 미래 기술을 구경해요.</a:t>
            </a:r>
          </a:p>
          <a:p>
            <a:r>
              <a:t>그리고 마지막 5구역! 미래를 위해 어린이 연구원 여러분이 해야 할 멋진 역할을 알려드릴게요.</a:t>
            </a:r>
          </a:p>
          <a:p>
            <a:r>
              <a:t>구역을 옮길 때마다 깜짝 퀴즈가 나오니까 집중! 다 통과하면 수료증을 드립니다. 출발~!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견학 구역에 들어왔어요!</a:t>
            </a:r>
          </a:p>
          <a:p>
            <a:r>
              <a:t>여러분, '한국원자력연구원'이라는 곳을 들어본 적 있나요?</a:t>
            </a:r>
          </a:p>
          <a:p>
            <a:r>
              <a:t>대전에 있는 우리나라에서 제일 큰 원자력 연구소인데요, 수천 명의 과학자 선생님들이 일하고 있어요.</a:t>
            </a:r>
          </a:p>
          <a:p>
            <a:r>
              <a:t>그런데 도대체 여기서 무슨 일을 하는 걸까요? 지금부터 공개합니다!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원자력연구원에서 하는 일, 대공개합니다!</a:t>
            </a:r>
          </a:p>
          <a:p>
            <a:r>
              <a:t>첫째, 새로운 원자로 만들기! 더 안전하고 더 똑똑한 원자로를 설계하고 연구해요.</a:t>
            </a:r>
          </a:p>
          <a:p>
            <a:r>
              <a:t>둘째, 아픈 사람을 돕는 특별한 약, '방사성의약품'을 만들어요.</a:t>
            </a:r>
          </a:p>
          <a:p>
            <a:r>
              <a:t>셋째, '하나로'라는 연구용 원자로를 운영해요. 우리나라 과학자들이 직접 설계하고 만든 원자로예요.</a:t>
            </a:r>
          </a:p>
          <a:p>
            <a:r>
              <a:t>넷째, 우주에서 쓰는 원자력 전지 같은 미래 기술도 연구해요!</a:t>
            </a:r>
          </a:p>
          <a:p>
            <a:r>
              <a:t>한마디로 원자력연구원은 '원자력으로 사람들을 돕는 방법'을 연구하는 곳이에요.</a:t>
            </a:r>
          </a:p>
          <a:p>
            <a:r>
              <a:t>그럼 지금부터 이 네 가지를 하나씩 자세히 들여다볼 거예요. 첫 번째, 원자로 이야기부터 출발!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원자로가 어떻게 발전해 왔는지, 진짜 사진으로 보여드릴게요!</a:t>
            </a:r>
          </a:p>
          <a:p>
            <a:r>
              <a:t>(첫 번째 그림) 1942년, 세계 최초의 원자로 'CP-1'이에요. 놀랍게도 미국 시카고대학교 운동장 관중석 아래에 만들어졌어요! 과학자들이 처음으로 핵분열을 사람의 힘으로 조절하는 데 성공한 역사적인 순간이죠.</a:t>
            </a:r>
          </a:p>
          <a:p>
            <a:r>
              <a:t>(두 번째 사진) 그리고 1978년, 우리나라 최초의 원자력발전소 '고리 1호기'가 전기를 만들기 시작했어요. 이때는 외국의 도움을 받아야 했지만, 우리 과학자들이 열심히 배웠죠.</a:t>
            </a:r>
          </a:p>
          <a:p>
            <a:r>
              <a:t>(세 번째 사진) 그리고 지금! 이건 사막 나라 아랍에미리트에 있는 바라카 발전소예요. 우리나라가 만든 APR1400이라는 원자로가 돌아가고 있어요. 배우던 나라에서 수출하는 나라가 된 거예요!</a:t>
            </a:r>
          </a:p>
          <a:p>
            <a:r>
              <a:t>그리고 지금 원자력연구원은 더 작고 더 안전한 미래 원자로, SMART와 SMR을 연구하고 있어요. 이건 4구역 미래 기술관에서 자세히 만나요!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첫 번째 어린이 연구원 자격 시험!</a:t>
            </a:r>
          </a:p>
          <a:p>
            <a:r>
              <a:t>원자력연구원에서 하는 일이 아닌 것은? 손가락으로 번호! 하나, 둘, 셋!</a:t>
            </a:r>
          </a:p>
          <a:p>
            <a:r>
              <a:t>정답은 ③번, 치킨 배달! 하하, 연구원에서 치킨은 배달시켜 먹기만 해요.</a:t>
            </a:r>
          </a:p>
          <a:p>
            <a:r>
              <a:t>새로운 원자로 연구와 아픈 사람을 돕는 약 만들기는 진짜로 하는 일이죠.</a:t>
            </a:r>
          </a:p>
          <a:p>
            <a:r>
              <a:t>전원 통과! 계속 견학합니다~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이번엔 연구원이 만드는 특별한 약, 방사성의약품을 자세히 볼게요.</a:t>
            </a:r>
          </a:p>
          <a:p>
            <a:r>
              <a:t>이 약은 한마디로 '몸속 내비게이션'이에요. 몸 안에 들어가면 아픈 곳만 콕! 찾아가거든요.</a:t>
            </a:r>
          </a:p>
          <a:p>
            <a:r>
              <a:t>약이 아픈 곳에 도착하면 아주 약한 신호를 보내요. 그 신호를 특별한 카메라로 찍으면, 의사 선생님이 몸을 열어보지 않고도 어디가 아픈지 사진처럼 볼 수 있어요.</a:t>
            </a:r>
          </a:p>
          <a:p>
            <a:r>
              <a:t>그리고 찾기만 하는 게 아니라, 나쁜 세포(암)만 골라서 공격하는 치료 약도 있어요!</a:t>
            </a:r>
          </a:p>
          <a:p>
            <a:r>
              <a:t>특히 원자력연구원은 아픈 어린이들을 치료하는 귀한 약을 안전하게 만들어서 병원에 보내주고 있어요.</a:t>
            </a:r>
          </a:p>
          <a:p>
            <a:r>
              <a:t>2001년에는 우리나라 최초의 방사성 신약 '밀리칸주'도 연구원이 만들었답니다. 약으로 사람을 살리는 원자력, 멋지죠?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이번엔 연구원의 보물, 연구용 원자로 '하나로'를 자세히 소개할게요.</a:t>
            </a:r>
          </a:p>
          <a:p>
            <a:r>
              <a:t>하나로는 1995년에 우리나라 과학자들이 100% 우리 손으로 설계하고 만든 원자로예요. 이름처럼 '하나'뿐인 소중한 원자로죠.</a:t>
            </a:r>
          </a:p>
          <a:p>
            <a:r>
              <a:t>그런데 발전소 원자로와는 달라요. 전기를 만드는 게 아니라, 핵분열에서 나오는 '중성자'라는 알갱이로 연구를 해요.</a:t>
            </a:r>
          </a:p>
          <a:p>
            <a:r>
              <a:t>중성자는 물질 속을 잘 통과해서, 물건을 부수지 않고 속을 들여다볼 수 있게 해줘요.</a:t>
            </a:r>
          </a:p>
          <a:p>
            <a:r>
              <a:t>하나로에서는 자동차와 배에 쓰는 튼튼한 재료도 연구하고, 반도체도 더 좋게 만들고, 병원에서 쓰는 약 재료도 만들어요.</a:t>
            </a:r>
          </a:p>
          <a:p>
            <a:r>
              <a:t>그리고 아시아 최초로 국제원자력기구(IAEA)가 뽑은 국제 연구센터가 됐답니다. 세계가 인정한 우리 원자로예요!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자격 시험!</a:t>
            </a:r>
          </a:p>
          <a:p>
            <a:r>
              <a:t>연구용 원자로 하나로는 무엇을 하기 위한 원자로일까요? 하나, 둘, 셋!</a:t>
            </a:r>
          </a:p>
          <a:p>
            <a:r>
              <a:t>정답은 ②번! 하나로는 전기를 만드는 게 아니라 신기한 재료와 약을 연구하는 원자로예요.</a:t>
            </a:r>
          </a:p>
          <a:p>
            <a:r>
              <a:t>라면은... 집에서 끓여 먹어요. 하하.</a:t>
            </a:r>
          </a:p>
          <a:p>
            <a:r>
              <a:t>1구역 견학 완료! 이제 위대한 과학자들을 만나러 갑시다!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구역, '원자력 기초실'에 들어왔어요!</a:t>
            </a:r>
          </a:p>
          <a:p>
            <a:r>
              <a:t>여기서는 원자력을 발견한 진짜 과학자들을 사진으로 만날 거예요.</a:t>
            </a:r>
          </a:p>
          <a:p>
            <a:r>
              <a:t>100년도 더 전에, 보이지도 않는 원자의 비밀을 밝혀낸 대단한 분들이에요.</a:t>
            </a:r>
          </a:p>
          <a:p>
            <a:r>
              <a:t>이분들이 없었다면 오늘의 전기도, 병원의 엑스레이도 없었을지 몰라요. 자, 만나러 가 볼까요!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원자력은 어느 날 뚝딱 나타난 게 아니에요. 과학자들이 릴레이 달리기처럼 발견을 이어왔죠.</a:t>
            </a:r>
          </a:p>
          <a:p>
            <a:r>
              <a:t>1895년 뢴트겐이 X선을 발견하고, 1898년 퀴리 부부가 라듐을 발견하면서 '방사능'이라는 이름을 지었어요.</a:t>
            </a:r>
          </a:p>
          <a:p>
            <a:r>
              <a:t>1905년 아인슈타인은 작은 알갱이에도 큰 에너지가 숨어 있다는 비밀(E=mc²)을 알아냈고,</a:t>
            </a:r>
          </a:p>
          <a:p>
            <a:r>
              <a:t>1911년 러더포드가 원자핵을, 1932년 채드윅이 중성자를 발견했어요.</a:t>
            </a:r>
          </a:p>
          <a:p>
            <a:r>
              <a:t>그리고 1938년, 한과 마이트너가 드디어 핵분열을 발견했답니다!</a:t>
            </a:r>
          </a:p>
          <a:p>
            <a:r>
              <a:t>이 릴레이가 하나라도 끊겼다면 오늘의 전기도, 병원의 엑스레이도 없었을 거예요.</a:t>
            </a:r>
          </a:p>
          <a:p>
            <a:r>
              <a:t>지금부터 이 위대한 과학자들을 한 분씩, 진짜 사진으로 만나 봅시다!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과학자, 뢴트겐 박사님입니다! (사진 가리키며) 멋진 수염의 이분이 진짜 뢴트겐이에요.</a:t>
            </a:r>
          </a:p>
          <a:p>
            <a:r>
              <a:t>1895년 어느 날, 뢴트겐은 실험실에서 이상한 빛을 발견했어요. 손으로 가려도 뚫고 지나가는 신기한 빛이었죠!</a:t>
            </a:r>
          </a:p>
          <a:p>
            <a:r>
              <a:t>이름을 몰라서 수학에서 모르는 것을 뜻하는 'X'를 붙여 'X선'이라고 지었어요.</a:t>
            </a:r>
          </a:p>
          <a:p>
            <a:r>
              <a:t>그리고 아내의 손을 이 빛으로 찍어봤는데... (옆 사진 가리키며) 짜잔! 뼈와 결혼반지가 그대로 보였어요! 이게 바로 세계 최초의 엑스레이 사진이에요. 무려 130년 전 사진이랍니다.</a:t>
            </a:r>
          </a:p>
          <a:p>
            <a:r>
              <a:t>이 발견으로 뢴트겐은 1901년 세계 최초의 노벨 물리학상을 받았어요.</a:t>
            </a:r>
          </a:p>
          <a:p>
            <a:r>
              <a:t>여러분이 병원에서 찍는 엑스레이가 바로 이분 덕분이에요. 고마워요, 뢴트겐 박사님!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자격 시험!</a:t>
            </a:r>
          </a:p>
          <a:p>
            <a:r>
              <a:t>퀴리 부인은 노벨상을 몇 번 받았을까요? 하나, 둘, 셋!</a:t>
            </a:r>
          </a:p>
          <a:p>
            <a:r>
              <a:t>정답은 ②번, 두 번! 그것도 물리학상과 화학상, 서로 다른 두 분야에서요.</a:t>
            </a:r>
          </a:p>
          <a:p>
            <a:r>
              <a:t>여성 과학자 최초의 노벨상이었고, 두 분야에서 받은 건 지금까지도 아주 드문 기록이에요.</a:t>
            </a:r>
          </a:p>
          <a:p>
            <a:r>
              <a:t>포기하지 않고 연구한 퀴리 부인처럼, 우리도 화이팅!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과학자는 세계에서 제일 유명한 여성 과학자, 마리 퀴리! 퀴리 부인이라고도 불러요.</a:t>
            </a:r>
          </a:p>
          <a:p>
            <a:r>
              <a:t>(사진 가리키며) 퀴리 부인은 낡은 창고 실험실에서 무려 4년 동안 커다란 돌덩이들을 끓이고 저으며 연구했어요.</a:t>
            </a:r>
          </a:p>
          <a:p>
            <a:r>
              <a:t>그렇게 해서 어둠 속에서 스스로 푸르스름하게 빛나는 신기한 돌, '라듐'을 발견했죠!</a:t>
            </a:r>
          </a:p>
          <a:p>
            <a:r>
              <a:t>그리고 이런 성질에 '방사능'이라는 이름을 처음 붙인 사람이 바로 퀴리 부인이에요.</a:t>
            </a:r>
          </a:p>
          <a:p>
            <a:r>
              <a:t>노벨상을 두 번이나 받았는데, 여성 최초였고, 물리학상과 화학상 서로 다른 두 분야에서 받았어요. 지금까지도 깨지지 않는 대단한 기록이에요!</a:t>
            </a:r>
          </a:p>
          <a:p>
            <a:r>
              <a:t>게다가 딸 이렌도 나중에 노벨상을 받았어요. 세상에서 제일 대단한 과학 모녀죠.</a:t>
            </a:r>
          </a:p>
          <a:p>
            <a:r>
              <a:t>퀴리 부인이 남긴 유명한 말이 있어요. "인생에서 두려워할 것은 없다, 이해해야 할 것만 있을 뿐!" 우리도 무서워하지 말고 궁금해하기로 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과학자는 여러분도 이름을 들어봤을 거예요. 천재 하면 떠오르는 그 이름, 아인슈타인!</a:t>
            </a:r>
          </a:p>
          <a:p>
            <a:r>
              <a:t>(사진 가리키며) 1905년, 겨우 스물여섯 살의 아인슈타인은 세상을 깜짝 놀라게 한 공식을 발표해요.</a:t>
            </a:r>
          </a:p>
          <a:p>
            <a:r>
              <a:t>바로 E=mc²! "이 = 엠씨제곱"이라고 읽어요.</a:t>
            </a:r>
          </a:p>
          <a:p>
            <a:r>
              <a:t>뜻은 간단해요. "아주 작은 알갱이 속에도 어마어마한 에너지가 숨어 있다!"</a:t>
            </a:r>
          </a:p>
          <a:p>
            <a:r>
              <a:t>나중에 과학자들이 핵분열을 발견했을 때, 왜 그렇게 큰 에너지가 나오는지 설명해 준 게 바로 이 공식이에요. 미래를 미리 내다본 셈이죠!</a:t>
            </a:r>
          </a:p>
          <a:p>
            <a:r>
              <a:t>아인슈타인은 혀를 쑥 내민 장난스러운 사진으로도 유명해요. 천재이면서도 유쾌한 박사님이었답니다.</a:t>
            </a:r>
          </a:p>
          <a:p>
            <a:r>
              <a:t>어려운 공식은 못 외워도 괜찮아요. "작은 것 속에 큰 힘이 숨어 있다!" 이것만 기억하면 여러분도 아인슈타인 제자!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자격 시험!</a:t>
            </a:r>
          </a:p>
          <a:p>
            <a:r>
              <a:t>러더포드가 금박 실험으로 발견한 원자의 심장은? 하나, 둘, 셋!</a:t>
            </a:r>
          </a:p>
          <a:p>
            <a:r>
              <a:t>정답은 ①번, 원자핵! 알갱이가 가끔 텅! 하고 튕겨 나오는 걸 보고</a:t>
            </a:r>
          </a:p>
          <a:p>
            <a:r>
              <a:t>"원자 속에 단단한 심장이 있구나!" 하고 알아냈죠.</a:t>
            </a:r>
          </a:p>
          <a:p>
            <a:r>
              <a:t>과학자다운 멋진 추리였어요. 모두 통과~!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과학자, 러더포드 박사님! (사진 가리키며) 원자핵의 아버지라고 불리는 분이에요.</a:t>
            </a:r>
          </a:p>
          <a:p>
            <a:r>
              <a:t>러더포드는 아주 기발한 실험을 했어요. 종이보다 훨씬 얇은 금종이에 아주 작은 알갱이들을 총알처럼 쏘아본 거예요.</a:t>
            </a:r>
          </a:p>
          <a:p>
            <a:r>
              <a:t>(그림 가리키며) 그랬더니 알갱이 대부분은 슝~ 하고 그냥 통과했어요. 원자 속이 거의 텅 비어 있으니까요.</a:t>
            </a:r>
          </a:p>
          <a:p>
            <a:r>
              <a:t>그런데! 아주 가끔, 알갱이가 텅! 하고 튕겨 나오는 게 아니겠어요?</a:t>
            </a:r>
          </a:p>
          <a:p>
            <a:r>
              <a:t>러더포드는 깜짝 놀라서 이렇게 말했대요. "휴지에 대포를 쐈는데 대포알이 튕겨 나온 것만큼 놀라운 일이다!"</a:t>
            </a:r>
          </a:p>
          <a:p>
            <a:r>
              <a:t>그리고 멋진 추리를 했죠. "원자 속에 아주 작고 단단한 심장이 있구나!" 그게 바로 원자핵 발견의 순간이에요!</a:t>
            </a:r>
          </a:p>
          <a:p>
            <a:r>
              <a:t>축구장과 축구공 이야기 들어봤나요? 원자가 축구장이라면 원자핵은 축구공만 하다는 그 비밀, 바로 러더포드가 알아낸 거랍니다.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발견 릴레이의 마지막 주자들이에요!</a:t>
            </a:r>
          </a:p>
          <a:p>
            <a:r>
              <a:t>(왼쪽 사진) 1932년, 채드윅이 원자핵 속에 숨어 있던 '중성자'를 발견했어요.</a:t>
            </a:r>
          </a:p>
          <a:p>
            <a:r>
              <a:t>중성자는 나중에 배울 텐데요, 원자핵을 콩! 하고 쪼개는 아주 중요한 알갱이예요. 채드윅의 발견이 핵분열의 문을 여는 열쇠가 된 거죠.</a:t>
            </a:r>
          </a:p>
          <a:p>
            <a:r>
              <a:t>(오른쪽 사진) 그리고 이 두 분, 오토 한과 리제 마이트너예요. 실험실에서 30년 넘게 함께 연구한 단짝 콤비죠.</a:t>
            </a:r>
          </a:p>
          <a:p>
            <a:r>
              <a:t>1938년, 드디어 두 사람은 우라늄 원자핵이 쪼개진다는 것, '핵분열'을 발견했어요! 이 순간 원자력 시대가 활짝 열린 거예요.</a:t>
            </a:r>
          </a:p>
          <a:p>
            <a:r>
              <a:t>특히 마이트너 박사님은 여성이라는 이유로, 또 전쟁 때문에 연구실에서 쫓겨나는 힘든 일이 많았어요. 그래도 끝까지 연구를 포기하지 않았죠.</a:t>
            </a:r>
          </a:p>
          <a:p>
            <a:r>
              <a:t>과학자들은 나중에 109번째 원소에 '마이트너륨'이라는 이름을 붙여서 이분을 기념했답니다.</a:t>
            </a:r>
          </a:p>
          <a:p>
            <a:r>
              <a:t>포기하지 않는 마음, 그게 진짜 과학자의 힘이에요!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3~4분)</a:t>
            </a:r>
          </a:p>
          <a:p>
            <a:r>
              <a:t>방금 만난 과학자들 중에 누가 제일 기억에 남아요? (대답 듣기)</a:t>
            </a:r>
          </a:p>
          <a:p>
            <a:r>
              <a:t>더 궁금한 친구들을 위해 영상 시청실을 준비했어요!</a:t>
            </a:r>
          </a:p>
          <a:p>
            <a:r>
              <a:t>왼쪽 카드는 퀴리 부인, 오른쪽 카드는 아인슈타인의 이야기를 4분 이내 짧은 영상으로 골라 보여줘요.</a:t>
            </a:r>
          </a:p>
          <a:p>
            <a:r>
              <a:t>(수업 전에 미리 하나 골라 두세요. 시간이 없으면 이 슬라이드는 '집에서 보기' 숙제로 내줘도 좋아요.)</a:t>
            </a:r>
          </a:p>
          <a:p>
            <a:r>
              <a:t>과학자들도 처음엔 다 어린이였다는 것, 잊지 마세요!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과학자들이 발견한 '원자', 이제 우리도 자세히 알아봐요.</a:t>
            </a:r>
          </a:p>
          <a:p>
            <a:r>
              <a:t>여러분, 레고 블록 좋아하죠? 작은 블록을 모으면 집도, 자동차도, 공룡도 만들 수 있잖아요.</a:t>
            </a:r>
          </a:p>
          <a:p>
            <a:r>
              <a:t>세상 모든 것도 똑같아요! 책도, 사과도, 물도, 강아지도, 우리 몸도 전부 아주아주 작은 블록으로 만들어져 있어요. 그 블록의 이름이 바로 '원자'예요.</a:t>
            </a:r>
          </a:p>
          <a:p>
            <a:r>
              <a:t>얼마나 작냐면요, 원자 1억 개를 한 줄로 쭉 세워야 겨우 1센티미터예요. 새끼손톱 너비 정도!</a:t>
            </a:r>
          </a:p>
          <a:p>
            <a:r>
              <a:t>원자를 축구장만큼 뻥 튀겨보면, 한가운데 있는 '원자핵'은 축구공만 하고, 주위를 쌩쌩 도는 '전자'는 개미만 해요.</a:t>
            </a:r>
          </a:p>
          <a:p>
            <a:r>
              <a:t>그 원자핵이 바로 아까 러더포드가 금박 실험으로 발견한 원자의 심장이에요!</a:t>
            </a:r>
          </a:p>
          <a:p>
            <a:r>
              <a:t>이 작디작은 심장이 변신할 때 나오는 어마어마한 힘, 그게 바로 '원자력'이랍니다.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한과 마이트너가 발견한 '핵분열', 직접 볼까요? (그림 순서대로 가리키며)</a:t>
            </a:r>
          </a:p>
          <a:p>
            <a:r>
              <a:t>'우라늄'이라는 아주 무거운 원자가 있어요. 여기에 채드윅이 발견한 그 알갱이, '중성자'가 콩! 하고 부딪히면...</a:t>
            </a:r>
          </a:p>
          <a:p>
            <a:r>
              <a:t>우라늄 원자핵이 쫙! 하고 두 조각으로 쪼개져요. 이게 바로 '핵분열'!</a:t>
            </a:r>
          </a:p>
          <a:p>
            <a:r>
              <a:t>쪼개질 때 뜨거운 열이 팡! 나오고, 중성자 친구들 세 개가 튀어나와요.</a:t>
            </a:r>
          </a:p>
          <a:p>
            <a:r>
              <a:t>그 중성자들이 옆의 다른 우라늄을 또 콩! 쪼개고, 거기서 나온 중성자가 또 쪼개고...</a:t>
            </a:r>
          </a:p>
          <a:p>
            <a:r>
              <a:t>도미노처럼 계속 이어져요! 그래서 아주아주 큰 에너지가 계속 나오는 거예요.</a:t>
            </a:r>
          </a:p>
          <a:p>
            <a:r>
              <a:t>이 에너지가 바로 아인슈타인의 E=mc²가 미리 알려준 그 에너지랍니다. 과학자들의 발견이 전부 연결되죠?</a:t>
            </a:r>
          </a:p>
          <a:p>
            <a:r>
              <a:t>사탕만 한 우라늄 조각 하나가 코끼리 무게만큼의 석탄과 같은 힘을 낸다는 사실!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 자격 시험!</a:t>
            </a:r>
          </a:p>
          <a:p>
            <a:r>
              <a:t>세상 모든 것을 쪼개고 쪼개면 마지막에 남는 작은 블록은? 하나, 둘, 셋!</a:t>
            </a:r>
          </a:p>
          <a:p>
            <a:r>
              <a:t>정답은 ②번, 원자! 딩동댕~</a:t>
            </a:r>
          </a:p>
          <a:p>
            <a:r>
              <a:t>보너스: 원자 1억 개를 한 줄로 세우면? 맞아요, 겨우 1센티미터!</a:t>
            </a:r>
          </a:p>
          <a:p>
            <a:r>
              <a:t>다들 기억력이 대단한데요? 전원 통과!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'방사선', '방사능'... 어려운 말 같지만 전구 하나면 이해할 수 있어요!</a:t>
            </a:r>
          </a:p>
          <a:p>
            <a:r>
              <a:t>전구에서 나오는 빛이 '방사선'이에요. 그리고 전구가 빛을 낼 수 있는 능력이 '방사능'이고요.</a:t>
            </a:r>
          </a:p>
          <a:p>
            <a:r>
              <a:t>'방사능'이라는 이름, 누가 지었다고 했죠? 맞아요, 퀴리 부인!</a:t>
            </a:r>
          </a:p>
          <a:p>
            <a:r>
              <a:t>방사선은 눈에 보이지 않는 에너지 빛이에요. 영화에서처럼 스파이더맨이 되거나 헐크가 되는 건 다~ 상상이고요!</a:t>
            </a:r>
          </a:p>
          <a:p>
            <a:r>
              <a:t>놀라운 사실! 방사선은 원래부터 우리 주변 어디에나 조금씩 있어요. 하늘의 햇빛 속에도, 땅과 돌에도, 심지어 우리가 먹는 바나나에도요.</a:t>
            </a:r>
          </a:p>
          <a:p>
            <a:r>
              <a:t>이 정도 방사선은 우리 몸에 아무렇지도 않아요. 옛날 사람들도 다 이 속에서 건강하게 살아왔거든요.</a:t>
            </a:r>
          </a:p>
          <a:p>
            <a:r>
              <a:t>게다가 과학자들이 특별한 기계로 방사선을 늘 재면서 우리를 지켜주고 있으니 안심!</a:t>
            </a:r>
          </a:p>
          <a:p>
            <a:r>
              <a:t>그럼 이 방사선이 우리 생활에서 어떤 멋진 일을 하는지, 다음 구역에서 확인해 봅시다!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3~4분)</a:t>
            </a:r>
          </a:p>
          <a:p>
            <a:r>
              <a:t>기초실 견학을 마치기 전에, 영상 시청실에 들렀다 갈게요!</a:t>
            </a:r>
          </a:p>
          <a:p>
            <a:r>
              <a:t>왼쪽 카드를 누르면 한국원자력연구원의 공식 유튜브 '과학하는 원연이' 채널로 가요. 귀여운 캐릭터가 원자력 이야기를 들려줘요.</a:t>
            </a:r>
          </a:p>
          <a:p>
            <a:r>
              <a:t>오른쪽 카드를 누르면 어린이 눈높이의 4분 이내 짧은 영상만 골라서 보여줘요.</a:t>
            </a:r>
          </a:p>
          <a:p>
            <a:r>
              <a:t>(수업 전에 미리 영상을 하나 골라 두세요. 3~4분짜리 영상 하나면 충분해요.)</a:t>
            </a:r>
          </a:p>
          <a:p>
            <a:r>
              <a:t>영상 다 봤나요? 그럼 다음 구역, 원자력 이용관으로 출발!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구역, '원자력 이용관'입니다!</a:t>
            </a:r>
          </a:p>
          <a:p>
            <a:r>
              <a:t>과학자들이 발견한 원자력이 지금 우리 생활 곳곳에서 얼마나 대활약하고 있는지 보여드릴게요.</a:t>
            </a:r>
          </a:p>
          <a:p>
            <a:r>
              <a:t>전기를 만드는 발전소부터, 병원, 공항, 농장까지! 자, 들어가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 이용의 대표 선수, 발전소부터 볼게요. 발전소는 사실 아주 커다란 주전자예요!</a:t>
            </a:r>
          </a:p>
          <a:p>
            <a:r>
              <a:t>첫째, 핵분열! 원자핵이 쪼개지면서 아주아주 뜨거운 열이 나와요.</a:t>
            </a:r>
          </a:p>
          <a:p>
            <a:r>
              <a:t>둘째, 그 열로 물을 펄펄 끓여요. 그러면 수증기가 생기죠!</a:t>
            </a:r>
          </a:p>
          <a:p>
            <a:r>
              <a:t>셋째, 그 수증기가 커다란 바람개비(어른들은 '터빈'이라고 불러요)를 빙글빙글~ 돌려요.</a:t>
            </a:r>
          </a:p>
          <a:p>
            <a:r>
              <a:t>넷째, 바람개비에 붙은 발전기가 돌면서 전기가 반짝! 만들어져요.</a:t>
            </a:r>
          </a:p>
          <a:p>
            <a:r>
              <a:t>이 전기가 전선을 타고 우리 집까지 와요. 석탄처럼 태우는 게 아니라서 연기 없이 깨끗하고요, 지금 우리나라 전기의 약 3분의 1을 원자력이 만들고 있어요.</a:t>
            </a:r>
          </a:p>
          <a:p>
            <a:r>
              <a:t>그리고 발전소는 다섯 겹 갑옷(방호벽)을 입고 있고, 과학자들이 24시간 지키고 있어서 안심이랍니다!</a:t>
            </a:r>
          </a:p>
          <a:p>
            <a:r>
              <a:t>다음 장에서 영상으로 직접 확인해 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3~5분)</a:t>
            </a:r>
          </a:p>
          <a:p>
            <a:r>
              <a:t>방금 배운 '커다란 주전자' 이야기를 영상으로 확인해 볼까요?</a:t>
            </a:r>
          </a:p>
          <a:p>
            <a:r>
              <a:t>왼쪽 카드를 클릭하면 서울특별시교육청 융합과학교육원에서 만든 '원자력 발전의 원리와 발전소의 구조' 영상이 나와요. 교육청 선생님들이 학생들을 위해 만든 공식 영상이라 우리 눈높이에 딱 맞아요.</a:t>
            </a:r>
          </a:p>
          <a:p>
            <a:r>
              <a:t>영상을 보면서 아까 배운 네 단계(쪼개지고 → 끓이고 → 돌리고 → 반짝!)를 찾아보세요.</a:t>
            </a:r>
          </a:p>
          <a:p>
            <a:r>
              <a:t>(수업 전에 링크가 잘 열리는지 확인하고, 길면 필요한 부분만 보여줘도 좋아요.)</a:t>
            </a:r>
          </a:p>
          <a:p>
            <a:r>
              <a:t>영상 속에서 바람개비(터빈)를 찾은 어린이 연구원, 손! 관찰력이 대단한데요?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원자력이 제일 멋지게 활약하는 곳, 바로 병원이에요!</a:t>
            </a:r>
          </a:p>
          <a:p>
            <a:r>
              <a:t>병원에서 뼈 사진 찍어본 친구 있나요? 그게 바로 뢴트겐 박사님이 발견한 X선이에요. 130년 전의 발견이 지금도 우리를 돕고 있는 거죠!</a:t>
            </a:r>
          </a:p>
          <a:p>
            <a:r>
              <a:t>그리고 원자력연구원이 만드는 '방사성의약품', 아까 배웠죠? 몸속에서 아픈 곳만 콕 찾아가는 똑똑한 약!</a:t>
            </a:r>
          </a:p>
          <a:p>
            <a:r>
              <a:t>또, 방사선으로 나쁜 세포(암)만 겨냥해서 물리치는 치료도 해요.</a:t>
            </a:r>
          </a:p>
          <a:p>
            <a:r>
              <a:t>원자력은 아픈 사람들을 살리는 병원의 슈퍼 히어로인 셈이죠!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번째 자격 시험!</a:t>
            </a:r>
          </a:p>
          <a:p>
            <a:r>
              <a:t>원자력발전소는 무엇을 펄펄 끓여서 전기를 만들까요? 하나, 둘, 셋!</a:t>
            </a:r>
          </a:p>
          <a:p>
            <a:r>
              <a:t>정답은 ②번, 물! 핵분열의 뜨거운 열로 물을 끓이고,</a:t>
            </a:r>
          </a:p>
          <a:p>
            <a:r>
              <a:t>수증기로 바람개비(터빈)를 빙글빙글 돌려서 전기를 만든다고 했어요.</a:t>
            </a:r>
          </a:p>
          <a:p>
            <a:r>
              <a:t>커다란 주전자, 기억나죠? 참 잘했어요!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병원 말고도 방사선의 활약은 계속돼요!</a:t>
            </a:r>
          </a:p>
          <a:p>
            <a:r>
              <a:t>공항에서는 가방을 열지 않고도 속에 뭐가 들었는지 검사할 수 있어요. 비행기를 안전하게 지켜주죠.</a:t>
            </a:r>
          </a:p>
          <a:p>
            <a:r>
              <a:t>농장에서는 감자나 양파에 싹이 나지 않게 해서 오래오래 보관하게 도와줘요.</a:t>
            </a:r>
          </a:p>
          <a:p>
            <a:r>
              <a:t>공장에서는 큰 기계나 다리에 금이 갔는지 부수지 않고 검사해요. '비파괴 검사'라고 하는데, 부수지 않고 속을 본다는 뜻이에요.</a:t>
            </a:r>
          </a:p>
          <a:p>
            <a:r>
              <a:t>그리고 스마트폰에 들어가는 반도체나 새로운 재료를 만드는 데도 방사선 기술이 쓰인답니다.</a:t>
            </a:r>
          </a:p>
          <a:p>
            <a:r>
              <a:t>칼도 요리사가 조심해서 쓰면 맛있는 요리를 만들듯이, 방사선도 잘 알고 쓰면 이렇게 고마운 친구가 돼요!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이번엔 원자력연구원의 자랑, '가속기'를 소개할게요. 한마디로 알갱이 슈퍼 경주장이에요!</a:t>
            </a:r>
          </a:p>
          <a:p>
            <a:r>
              <a:t>원자핵 속에 있던 빨간 알갱이, '양성자' 기억나죠? 가속기는 이 양성자 선수를 빛의 속도 가까이까지 엄청나게 빠르게 달리게 하는 장치예요. 경주로 길이가 75미터나 된답니다!</a:t>
            </a:r>
          </a:p>
          <a:p>
            <a:r>
              <a:t>이렇게 빨라진 양성자가 다른 물질에 꽝! 부딪히면 신기한 일이 벌어져요.</a:t>
            </a:r>
          </a:p>
          <a:p>
            <a:r>
              <a:t>손톱으로도 긁히는 약한 플라스틱을 강철처럼 단단하게 만들 수도 있고요,</a:t>
            </a:r>
          </a:p>
          <a:p>
            <a:r>
              <a:t>병을 치료하는 약의 재료를 만들 수도 있어요. 우리나라에서 처음으로 이런 약 재료를 만들어 외국에 수출까지 했답니다!</a:t>
            </a:r>
          </a:p>
          <a:p>
            <a:r>
              <a:t>이 거대한 경주장이 경주와 정읍의 원자력연구원에 진짜로 있어요. 나중에 꼭 구경 와요!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번째 자격 시험!</a:t>
            </a:r>
          </a:p>
          <a:p>
            <a:r>
              <a:t>가속기 경주장에서 빛처럼 빨리 달리는 선수는? 하나, 둘, 셋!</a:t>
            </a:r>
          </a:p>
          <a:p>
            <a:r>
              <a:t>정답은 ②번, 양성자! 원자핵 속에 있던 그 빨간 알갱이 친구예요.</a:t>
            </a:r>
          </a:p>
          <a:p>
            <a:r>
              <a:t>치타도 빠르지만 양성자에 비하면 거북이 수준이죠. 하하.</a:t>
            </a:r>
          </a:p>
          <a:p>
            <a:r>
              <a:t>3구역 견학 완료! 미래 기술관으로 출발~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구역, '미래 기술관'입니다!</a:t>
            </a:r>
          </a:p>
          <a:p>
            <a:r>
              <a:t>지금 과학자들은 더 안전하고 더 신기한 미래의 원자력을 만들고 있어요.</a:t>
            </a:r>
          </a:p>
          <a:p>
            <a:r>
              <a:t>화성에서 달리는 로버? 땅 위의 태양? 상상이 현실이 되는 곳, 들어가 볼까요!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기술관에 어서 오세요! 여기엔 네 가지 놀라운 기술이 전시되어 있어요.</a:t>
            </a:r>
          </a:p>
          <a:p>
            <a:r>
              <a:t>첫째, 우주에서 10년 넘게 작동하는 원자력 전지, '우주 배터리'!</a:t>
            </a:r>
          </a:p>
          <a:p>
            <a:r>
              <a:t>둘째, 작지만 야무진 미니 발전소 'SMR'! 필요한 곳에 쏙 지을 수 있고 작아서 더 안전해요.</a:t>
            </a:r>
          </a:p>
          <a:p>
            <a:r>
              <a:t>셋째, 전기도 만들면서 바닷물을 마실 물로 바꿔주는 'SMART' 원자로! 물이 부족한 사막 나라에 딱이죠.</a:t>
            </a:r>
          </a:p>
          <a:p>
            <a:r>
              <a:t>넷째, 태양의 비밀을 그대로 흉내 낸 '인공태양'!</a:t>
            </a:r>
          </a:p>
          <a:p>
            <a:r>
              <a:t>전부 원자력연구원과 우리나라 과학자들이 연구하고 있는 진짜 기술이에요.</a:t>
            </a:r>
          </a:p>
          <a:p>
            <a:r>
              <a:t>이 중에서 제일 신기한 두 가지, 우주 배터리와 인공태양을 지금부터 사진과 함께 자세히 보여드릴게요!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(사진 가리키며) 여러분, 이 사진 어디서 찍은 것 같아요? 놀라지 마세요. 진짜 화성이에요!</a:t>
            </a:r>
          </a:p>
          <a:p>
            <a:r>
              <a:t>미국 나사(NASA)의 화성 탐사 로버 '큐리오시티'가 화성에서 직접 찍은 셀카랍니다.</a:t>
            </a:r>
          </a:p>
          <a:p>
            <a:r>
              <a:t>그런데 큐리오시티의 심장이 뭔지 아세요? 바로 원자력 전지예요!</a:t>
            </a:r>
          </a:p>
          <a:p>
            <a:r>
              <a:t>화성은 햇빛이 지구의 절반도 안 되고, 밤에는 영하 90도까지 떨어져요. 보통 배터리는 하루도 못 버티죠.</a:t>
            </a:r>
          </a:p>
          <a:p>
            <a:r>
              <a:t>그런데 원자력 전지는 방사선이 내는 따뜻한 열을 전기로 바꿔서, 10년 넘게 로버를 씽씽 달리게 해줘요!</a:t>
            </a:r>
          </a:p>
          <a:p>
            <a:r>
              <a:t>그리고 자랑스러운 소식! 우리나라도 원자력연구원이 세계 세 번째로 우주용 원자력 전지를 만들었어요.</a:t>
            </a:r>
          </a:p>
          <a:p>
            <a:r>
              <a:t>언젠가 우리나라 달 탐사선에도 우리가 만든 원자력 전지가 실려서 날아갈 거예요. 멋지죠?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여덟 번째 자격 시험!</a:t>
            </a:r>
          </a:p>
          <a:p>
            <a:r>
              <a:t>화성 로버 큐리오시티가 쓰는 전기는 어디서 나올까요? 하나, 둘, 셋!</a:t>
            </a:r>
          </a:p>
          <a:p>
            <a:r>
              <a:t>정답은 ①번, 원자력 전지! AA 건전지였으면 하루도 못 버텼겠죠? 하하.</a:t>
            </a:r>
          </a:p>
          <a:p>
            <a:r>
              <a:t>원자력 전지 덕분에 10년 넘게 화성을 씽씽 달리고 있는 거예요.</a:t>
            </a:r>
          </a:p>
          <a:p>
            <a:r>
              <a:t>우리나라도 이 기술을 세계 세 번째로 만들었다는 것, 기억하죠? 통과~!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 기술관의 하이라이트! 땅 위의 태양, 인공태양이에요.</a:t>
            </a:r>
          </a:p>
          <a:p>
            <a:r>
              <a:t>(사진 가리키며) 이게 바로 대전에 있는 우리나라 인공태양 'KSTAR(케이스타)'의 진짜 모습이에요. 거대한 도넛 모양 장치죠?</a:t>
            </a:r>
          </a:p>
          <a:p>
            <a:r>
              <a:t>하늘의 태양은 원자핵을 쪼개는 게 아니라 반대로 '합쳐서' 힘을 내요. 이걸 '핵융합'이라고 해요.</a:t>
            </a:r>
          </a:p>
          <a:p>
            <a:r>
              <a:t>KSTAR는 이 태양의 비밀을 그대로 흉내 내서, 무려 1억 도나 되는 뜨거운 불덩이를 만들어 세계 최고 기록을 세웠어요!</a:t>
            </a:r>
          </a:p>
          <a:p>
            <a:r>
              <a:t>1억 도가 얼마나 뜨겁냐면, 태양 한가운데보다도 몇 배나 더 뜨거운 온도예요.</a:t>
            </a:r>
          </a:p>
          <a:p>
            <a:r>
              <a:t>게다가 핵융합의 연료는 바닷물에서 얻을 수 있어서 거의 무한! 그야말로 꿈의 에너지죠.</a:t>
            </a:r>
          </a:p>
          <a:p>
            <a:r>
              <a:t>이 인공태양이 완성되는 날, 세계의 에너지 걱정이 사라질 거예요. 그날을 만들 주인공이 어쩌면 지금 이 교실에 있을지도 몰라요!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(영상 시청 시간, 2~4분)</a:t>
            </a:r>
          </a:p>
          <a:p>
            <a:r>
              <a:t>사진만으로는 아쉽죠? 진짜 인공태양을 영상으로 보여드릴게요!</a:t>
            </a:r>
          </a:p>
          <a:p>
            <a:r>
              <a:t>왼쪽은 우리나라 인공태양 KSTAR가 세계 기록을 세웠다는 약 2분짜리 뉴스 영상이고, 오른쪽 카드는 4분 이내의 짧은 KSTAR 영상만 골라서 보여줘요.</a:t>
            </a:r>
          </a:p>
          <a:p>
            <a:r>
              <a:t>(수업 전에 영상을 미리 골라 두세요. 뉴스 영상은 2분 정도로 짧아서 보여주기 좋아요.)</a:t>
            </a:r>
          </a:p>
          <a:p>
            <a:r>
              <a:t>영상 잘 봤나요? 이제 대망의 마지막 구역으로 갑니다!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아홉 번째 자격 시험!</a:t>
            </a:r>
          </a:p>
          <a:p>
            <a:r>
              <a:t>우리나라 인공태양 KSTAR의 온도는? 하나, 둘, 셋!</a:t>
            </a:r>
          </a:p>
          <a:p>
            <a:r>
              <a:t>정답은 ③번, 1억 도! 태양 한가운데보다도 몇 배나 뜨거워요.</a:t>
            </a:r>
          </a:p>
          <a:p>
            <a:r>
              <a:t>그걸 우리나라 과학자들이 해냈다는 사실! 자랑스럽죠?</a:t>
            </a:r>
          </a:p>
          <a:p>
            <a:r>
              <a:t>이제 마지막 구역만 남았어요. 출발~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드디어 마지막 다섯 번째 구역이에요.</a:t>
            </a:r>
          </a:p>
          <a:p>
            <a:r>
              <a:t>지금까지 연구원이 하는 일, 위대한 과학자들, 원자력의 이용, 미래 기술까지 다 견학했는데요.</a:t>
            </a:r>
          </a:p>
          <a:p>
            <a:r>
              <a:t>사실 이 견학에는 숨겨진 진짜 목적이 있었어요.</a:t>
            </a:r>
          </a:p>
          <a:p>
            <a:r>
              <a:t>바로... 미래의 원자력을 이끌어 갈 주인공을 찾는 것! 그 주인공이 누구냐고요?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미래의 원자력을 이끌어 갈 주인공은... 바로 여러분이에요!</a:t>
            </a:r>
          </a:p>
          <a:p>
            <a:r>
              <a:t>그래서 어린이 연구원 여러분에게 네 가지 임무를 드릴게요.</a:t>
            </a:r>
          </a:p>
          <a:p>
            <a:r>
              <a:t>첫째, 질문왕이 되세요! "왜 그럴까?", "어떻게 될까?" 하고 묻는 순간, 과학자의 꿈이 시작돼요. 러더포드도, 퀴리 부인도 다 질문에서 시작했답니다.</a:t>
            </a:r>
          </a:p>
          <a:p>
            <a:r>
              <a:t>둘째, 과학과 친해지세요! 책도 읽고 영상도 보고, 오늘 배운 걸 가족들에게 설명해 주세요. 설명할 수 있으면 진짜 아는 거예요!</a:t>
            </a:r>
          </a:p>
          <a:p>
            <a:r>
              <a:t>셋째, 에너지를 아끼세요! 안 쓰는 불 끄기, 안 보는 TV 끄기. 작아 보여도 지구를 지키는 첫걸음이에요.</a:t>
            </a:r>
          </a:p>
          <a:p>
            <a:r>
              <a:t>넷째, 크게 꿈꾸세요! 인공태양을 완성하는 사람, 화성에서 원자력 전지를 쓰는 사람, 그게 바로 여러분일 수 있어요.</a:t>
            </a:r>
          </a:p>
          <a:p>
            <a:r>
              <a:t>오늘 만난 과학자들도 모두 여러분만 한 어린이였다는 것, 잊지 마세요. 다음 차례는 여러분입니다!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 번째는 OX 시험!</a:t>
            </a:r>
          </a:p>
          <a:p>
            <a:r>
              <a:t>안 쓰는 불을 끄고 전기를 아끼는 것도 지구를 지키는 일이다? 팔로 크게! 하나, 둘, 셋!</a:t>
            </a:r>
          </a:p>
          <a:p>
            <a:r>
              <a:t>정답은... 동그라미! 전기를 만드는 데는 늘 소중한 에너지가 쓰여요.</a:t>
            </a:r>
          </a:p>
          <a:p>
            <a:r>
              <a:t>안 쓰는 불 끄기, 안 보는 TV 끄기! 작아 보여도 지구를 지키는 진짜 멋진 일이에요.</a:t>
            </a:r>
          </a:p>
          <a:p>
            <a:r>
              <a:t>어린이 연구원의 첫 번째 임무, 잊지 마세요!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견학을 마친 어린이 연구원들을 위한 선물, 영상 꾸러미입니다!</a:t>
            </a:r>
          </a:p>
          <a:p>
            <a:r>
              <a:t>'과학하는 원연이'는 오늘 견학한 한국원자력연구원이 직접 만드는 공식 유튜브 채널이에요. 귀여운 캐릭터가 나와요.</a:t>
            </a:r>
          </a:p>
          <a:p>
            <a:r>
              <a:t>'EBS 클립뱅크'는 5분 이내의 짧은 교육 영상만 모아둔 EBS 공식 채널이고, '아꿈선 초등3분과학'은 초등학교 선생님들이 만든 3분짜리 과학 영상 채널이라 눈높이에 딱 맞아요.</a:t>
            </a:r>
          </a:p>
          <a:p>
            <a:r>
              <a:t>검색 카드에는 모두 '4분 이내 영상만 보기' 필터가 걸려 있어서 짧고 쉬운 영상만 나와요.</a:t>
            </a:r>
          </a:p>
          <a:p>
            <a:r>
              <a:t>집에 가서 부모님과 함께 보면 더 좋아요! (이 슬라이드는 인쇄해서 나눠주거나, 학급 게시판에 공유해도 좋습니다.)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드디어 마지막 자격 시험! 아주 중요한 문제예요.</a:t>
            </a:r>
          </a:p>
          <a:p>
            <a:r>
              <a:t>나도 미래의 원자력 박사가 될 수 있다? 팔로 크게! 하나, 둘, 셋!</a:t>
            </a:r>
          </a:p>
          <a:p>
            <a:r>
              <a:t>정답은... 당연히 동그라미!!! 엑스 든 친구들, 다시 들어 볼까요? 동그라미!</a:t>
            </a:r>
          </a:p>
          <a:p>
            <a:r>
              <a:t>퀴리 부인도, 아인슈타인도 다 여러분만 한 어린이였던 시절이 있었어요.</a:t>
            </a:r>
          </a:p>
          <a:p>
            <a:r>
              <a:t>열한 개 시험을 모두 통과한 여러분, 어린이 연구원 자격 시험 최종 합격입니다! 큰 박수~ 짝짝짝!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이제 수료식 시간입니다! 오늘 배운 것을 함께 외쳐 볼까요?</a:t>
            </a:r>
          </a:p>
          <a:p>
            <a:r>
              <a:t>원자력연구원은? (원자력으로 사람들을 돕는 방법을 연구하는 곳!)</a:t>
            </a:r>
          </a:p>
          <a:p>
            <a:r>
              <a:t>원자력을 만든 위대한 과학자들, 누가 기억나요? (뢴트겐! 퀴리 부인! 아인슈타인! 러더포드! 채드윅! 한과 마이트너!)</a:t>
            </a:r>
          </a:p>
          <a:p>
            <a:r>
              <a:t>원자력은 발전소에서 전기를 만들고, 병원에서 아픈 사람을 돕고, 공항과 농장에서도 대활약하고 있어요.</a:t>
            </a:r>
          </a:p>
          <a:p>
            <a:r>
              <a:t>그리고 화성 로버의 원자력 전지, 1억 도 인공태양 같은 미래 기술이 쑥쑥 자라고 있죠.</a:t>
            </a:r>
          </a:p>
          <a:p>
            <a:r>
              <a:t>그 미래를 완성할 주인공은 바로 여러분!</a:t>
            </a:r>
          </a:p>
          <a:p>
            <a:r>
              <a:t>1일 어린이 연구원 여러분, 모두 수료를 축하합니다! 나중에 진짜 연구원이 되어 원자력연구원에서 다시 만나요!</a:t>
            </a:r>
          </a:p>
          <a:p>
            <a:r>
              <a:t>끝까지 함께해 줘서 고마워요. 안녕~! (손 흔들기)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results?search_query=%ED%80%B4%EB%A6%AC%20%EB%B6%80%EC%9D%B8%20%EC%96%B4%EB%A6%B0%EC%9D%B4&amp;sp=EgIYAQ%3D%3D" TargetMode="External"/><Relationship Id="rId3" Type="http://schemas.openxmlformats.org/officeDocument/2006/relationships/hyperlink" Target="https://www.youtube.com/results?search_query=%EC%95%84%EC%9D%B8%EC%8A%88%ED%83%80%EC%9D%B8%20%EC%9D%B4%EC%95%BC%EA%B8%B0%20%EC%96%B4%EB%A6%B0%EC%9D%B4&amp;sp=EgIYAQ%3D%3D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channel/UClh6ZbnWKnDAy50FOdg0SCA" TargetMode="External"/><Relationship Id="rId3" Type="http://schemas.openxmlformats.org/officeDocument/2006/relationships/hyperlink" Target="https://www.youtube.com/results?search_query=%EC%9B%90%EC%9E%90%EB%9E%80%20%EB%AC%B4%EC%97%87%EC%9D%BC%EA%B9%8C%20%EC%96%B4%EB%A6%B0%EC%9D%B4&amp;sp=EgIYAQ%3D%3D" TargetMode="Externa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mI6Tg3nrLyo" TargetMode="External"/><Relationship Id="rId3" Type="http://schemas.openxmlformats.org/officeDocument/2006/relationships/hyperlink" Target="https://www.youtube.com/channel/UClh6ZbnWKnDAy50FOdg0SCA" TargetMode="Externa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PlO5HHvMtu0" TargetMode="External"/><Relationship Id="rId3" Type="http://schemas.openxmlformats.org/officeDocument/2006/relationships/hyperlink" Target="https://www.youtube.com/results?search_query=%EC%9D%B8%EA%B3%B5%ED%83%9C%EC%96%91%20KSTAR&amp;sp=EgIYAQ%3D%3D" TargetMode="External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channel/UClh6ZbnWKnDAy50FOdg0SCA" TargetMode="External"/><Relationship Id="rId3" Type="http://schemas.openxmlformats.org/officeDocument/2006/relationships/hyperlink" Target="https://www.youtube.com/channel/UCs6Hup0lsGloYm6f3e7aqZw" TargetMode="External"/><Relationship Id="rId4" Type="http://schemas.openxmlformats.org/officeDocument/2006/relationships/hyperlink" Target="https://www.youtube.com/ikhnp" TargetMode="External"/><Relationship Id="rId5" Type="http://schemas.openxmlformats.org/officeDocument/2006/relationships/hyperlink" Target="https://www.youtube.com/c/EBSClipbank" TargetMode="External"/><Relationship Id="rId6" Type="http://schemas.openxmlformats.org/officeDocument/2006/relationships/hyperlink" Target="https://www.youtube.com/channel/UCWwNg2FT5WoHS5RmWageH-w" TargetMode="External"/><Relationship Id="rId7" Type="http://schemas.openxmlformats.org/officeDocument/2006/relationships/hyperlink" Target="https://www.youtube.com/results?search_query=%EC%83%9D%ED%99%9C%20%EC%86%8D%20%EB%B0%A9%EC%82%AC%EC%84%A0%20%EC%96%B4%EB%A6%B0%EC%9D%B4&amp;sp=EgIYAQ%3D%3D" TargetMode="External"/><Relationship Id="rId8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70064" y="1634490"/>
            <a:ext cx="4279392" cy="1485900"/>
          </a:xfrm>
          <a:prstGeom prst="ellipse">
            <a:avLst/>
          </a:prstGeom>
          <a:noFill/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3600000">
            <a:off x="7370064" y="1634490"/>
            <a:ext cx="4279392" cy="1485900"/>
          </a:xfrm>
          <a:prstGeom prst="ellipse">
            <a:avLst/>
          </a:prstGeom>
          <a:noFill/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7200000">
            <a:off x="7370064" y="1634490"/>
            <a:ext cx="4279392" cy="1485900"/>
          </a:xfrm>
          <a:prstGeom prst="ellipse">
            <a:avLst/>
          </a:prstGeom>
          <a:noFill/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69933" y="2008936"/>
            <a:ext cx="499262" cy="499262"/>
          </a:xfrm>
          <a:prstGeom prst="ellipse">
            <a:avLst/>
          </a:prstGeom>
          <a:solidFill>
            <a:srgbClr val="FF9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50324" y="2008936"/>
            <a:ext cx="499262" cy="499262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60128" y="2294229"/>
            <a:ext cx="499262" cy="499262"/>
          </a:xfrm>
          <a:prstGeom prst="ellipse">
            <a:avLst/>
          </a:prstGeom>
          <a:solidFill>
            <a:srgbClr val="FF9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67244" y="2199132"/>
            <a:ext cx="237744" cy="23774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73968" y="2436876"/>
            <a:ext cx="237744" cy="23774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72016" y="1218438"/>
            <a:ext cx="237744" cy="237744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7680960" cy="3291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5FD3F3"/>
                </a:solidFill>
                <a:latin typeface="Malgun Gothic"/>
                <a:ea typeface="Malgun Gothic"/>
              </a:rPr>
              <a:t>오늘 여러분을 특별히 임명합니다!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  <a:latin typeface="Malgun Gothic"/>
                <a:ea typeface="Malgun Gothic"/>
              </a:rPr>
              <a:t>1일 어린이 연구원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원자력연구원 탐방기 🔬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C5CDE8"/>
                </a:solidFill>
                <a:latin typeface="Malgun Gothic"/>
                <a:ea typeface="Malgun Gothic"/>
              </a:rPr>
              <a:t>연구원이 하는 일부터 위대한 과학자들, 미래의 원자력까지!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8D97C4"/>
                </a:solidFill>
                <a:latin typeface="Malgun Gothic"/>
                <a:ea typeface="Malgun Gothic"/>
              </a:rPr>
              <a:t>한국원자력연구원  |  초등학교 3~4학년 어린이 연구원 여러분과 함께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오늘의 견학 지도 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1431" y="16002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5FD3F3"/>
                </a:solidFill>
                <a:latin typeface="Malgun Gothic"/>
                <a:ea typeface="Malgun Gothic"/>
              </a:rPr>
              <a:t>1구역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0">
                <a:solidFill>
                  <a:srgbClr val="5FD3F3"/>
                </a:solidFill>
                <a:latin typeface="Malgun Gothic"/>
                <a:ea typeface="Malgun Gothic"/>
              </a:rPr>
              <a:t>🏢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연구원은 무엇을 하는 곳?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7431" y="16002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2구역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0">
                <a:solidFill>
                  <a:srgbClr val="FFD43B"/>
                </a:solidFill>
                <a:latin typeface="Malgun Gothic"/>
                <a:ea typeface="Malgun Gothic"/>
              </a:rPr>
              <a:t>🔎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원자력 기초실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53431" y="16002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F9457"/>
                </a:solidFill>
                <a:latin typeface="Malgun Gothic"/>
                <a:ea typeface="Malgun Gothic"/>
              </a:rPr>
              <a:t>3구역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0">
                <a:solidFill>
                  <a:srgbClr val="FF9457"/>
                </a:solidFill>
                <a:latin typeface="Malgun Gothic"/>
                <a:ea typeface="Malgun Gothic"/>
              </a:rPr>
              <a:t>🏭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원자력 이용관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39431" y="16002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B197FC"/>
                </a:solidFill>
                <a:latin typeface="Malgun Gothic"/>
                <a:ea typeface="Malgun Gothic"/>
              </a:rPr>
              <a:t>4구역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0">
                <a:solidFill>
                  <a:srgbClr val="B197FC"/>
                </a:solidFill>
                <a:latin typeface="Malgun Gothic"/>
                <a:ea typeface="Malgun Gothic"/>
              </a:rPr>
              <a:t>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미래 기술관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25431" y="1600200"/>
            <a:ext cx="2084831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69DB7C"/>
                </a:solidFill>
                <a:latin typeface="Malgun Gothic"/>
                <a:ea typeface="Malgun Gothic"/>
              </a:rPr>
              <a:t>5구역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0">
                <a:solidFill>
                  <a:srgbClr val="69DB7C"/>
                </a:solidFill>
                <a:latin typeface="Malgun Gothic"/>
                <a:ea typeface="Malgun Gothic"/>
              </a:rPr>
              <a:t>🌟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여러분의 차례!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29200"/>
            <a:ext cx="11002975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C5CDE8"/>
                </a:solidFill>
                <a:latin typeface="Malgun Gothic"/>
                <a:ea typeface="Malgun Gothic"/>
              </a:rPr>
              <a:t>구역을 옮길 때마다 깜짝 퀴즈가 나와요! 다 통과하면 '미래 과학자 수료증'을 드려요 🏆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8D97C4"/>
                </a:solidFill>
                <a:latin typeface="Malgun Gothic"/>
                <a:ea typeface="Malgun Gothic"/>
              </a:rPr>
              <a:t>실제 과학자들의 사진과 재미있는 영상도 가득 준비되어 있어요 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44287" y="1051560"/>
            <a:ext cx="2103120" cy="2103120"/>
          </a:xfrm>
          <a:prstGeom prst="ellipse">
            <a:avLst/>
          </a:prstGeom>
          <a:solidFill>
            <a:srgbClr val="2A3268"/>
          </a:solidFill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44287" y="1234440"/>
            <a:ext cx="21031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6000" b="0">
                <a:solidFill>
                  <a:srgbClr val="5FD3F3"/>
                </a:solidFill>
                <a:latin typeface="Malgun Gothic"/>
                <a:ea typeface="Malgun Gothic"/>
              </a:rPr>
              <a:t>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2895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5FD3F3"/>
                </a:solidFill>
                <a:latin typeface="Malgun Gothic"/>
                <a:ea typeface="Malgun Gothic"/>
              </a:rPr>
              <a:t>견학 1구역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연구원은 무엇을 하는 곳?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5CDE8"/>
                </a:solidFill>
                <a:latin typeface="Malgun Gothic"/>
                <a:ea typeface="Malgun Gothic"/>
              </a:rPr>
              <a:t>수천 명의 과학자가 일하는 신기한 연구소!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원자력연구원에서 하는 일 대공개!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150876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🔩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새로운 원자로 만들기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더 안전하고 더 똑똑한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원자로를 설계하고 연구해요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9787" y="150876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💊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아픈 사람 돕는 약 만들기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방사성의약품으로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아픈 곳을 찾아 치료해요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50876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연구용 원자로 '하나로'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우리 손으로 만든 원자로로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신기한 재료를 연구해요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1947" y="150876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우주·미래 기술 연구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우주에서 쓰는 원자력 전지도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연구원이 만들었어요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D43B"/>
                </a:solidFill>
                <a:latin typeface="Malgun Gothic"/>
                <a:ea typeface="Malgun Gothic"/>
              </a:rPr>
              <a:t>지금부터 하나씩 자세히 들여다볼 거예요. 첫 번째, 원자로 이야기부터! 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자세히 보기 ① 원자로는 이렇게 발전해 왔어요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070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1942년 · 세계 최초 원자로 CP-1</a:t>
            </a:r>
          </a:p>
        </p:txBody>
      </p:sp>
      <p:pic>
        <p:nvPicPr>
          <p:cNvPr id="5" name="Picture 4" descr="c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11" y="1600200"/>
            <a:ext cx="2915816" cy="228600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3922776"/>
            <a:ext cx="35661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그림: M. Miller, 아르곤 국립연구소 (퍼블릭 도메인)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미국 시카고의 운동장 아래에서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세계 최초의 원자로가 탄생!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32503" y="2606040"/>
            <a:ext cx="365760" cy="457200"/>
          </a:xfrm>
          <a:prstGeom prst="rightArrow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2070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1978년 · 우리나라 최초 고리 1호기</a:t>
            </a:r>
          </a:p>
        </p:txBody>
      </p:sp>
      <p:pic>
        <p:nvPicPr>
          <p:cNvPr id="10" name="Picture 9" descr="ko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697126"/>
            <a:ext cx="3291840" cy="2189073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315968" y="3922776"/>
            <a:ext cx="35661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IAEA Imagebank (퍼블릭 도메인)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429768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외국의 도움을 받아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우리나라 첫 발전소 완성!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99832" y="2606040"/>
            <a:ext cx="365760" cy="457200"/>
          </a:xfrm>
          <a:prstGeom prst="rightArrow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2070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2018년~ · 수출! UAE 바라카 발전소</a:t>
            </a:r>
          </a:p>
        </p:txBody>
      </p:sp>
      <p:pic>
        <p:nvPicPr>
          <p:cNvPr id="15" name="Picture 14" descr="baraka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500" y="1600200"/>
            <a:ext cx="2839751" cy="228600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083296" y="3922776"/>
            <a:ext cx="35661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Wikiemirati (CC BY-SA 4.0)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429768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이제는 우리 기술(APR1400)을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다른 나라에 수출해요!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349240"/>
            <a:ext cx="9265615" cy="960120"/>
          </a:xfrm>
          <a:prstGeom prst="roundRect">
            <a:avLst>
              <a:gd name="adj" fmla="val 35000"/>
            </a:avLst>
          </a:prstGeom>
          <a:solidFill>
            <a:srgbClr val="333D7A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그리고 지금은? 더 작고 더 안전한 미래 원자로(SMART·SMR)를 연구 중! (4구역에서 만나요)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1!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원자력연구원에서 하는 일이 아닌 것은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새로운 원자로 연구      ②  아픈 사람 돕는 약 만들기      ③  치킨 배달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자세히 보기 ② 아픈 곳을 찾아가는 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587" y="1508760"/>
            <a:ext cx="342900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algun Gothic"/>
                <a:ea typeface="Malgun Gothic"/>
              </a:rPr>
              <a:t>📍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몸속 내비게이션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방사성의약품은 몸속에서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아픈 곳만 콕! 찾아가는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똑똑한 약이에요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347" y="1508760"/>
            <a:ext cx="342900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algun Gothic"/>
                <a:ea typeface="Malgun Gothic"/>
              </a:rPr>
              <a:t>📸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찾으면 알려줘요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약이 도착한 곳에서 신호를 보내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의사 선생님이 아픈 곳을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사진처럼 볼 수 있어요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6107" y="1508760"/>
            <a:ext cx="342900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algun Gothic"/>
                <a:ea typeface="Malgun Gothic"/>
              </a:rPr>
              <a:t>💚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치료도 해요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나쁜 세포(암)만 골라서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공격하는 치료 약도 있어요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아픈 어린이들을 위한 약도!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D43B"/>
                </a:solidFill>
                <a:latin typeface="Malgun Gothic"/>
                <a:ea typeface="Malgun Gothic"/>
              </a:rPr>
              <a:t>우리나라 최초의 방사성 신약도 원자력연구원이 만들었어요! (2001년 '밀리칸주') 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자세히 보기 ③ 연구용 원자로 '하나로'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FFD43B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'하나로'는 이런 원자로!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1995년, 우리나라 과학자들이 100% 우리 손으로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설계하고 만든 연구용 원자로예요.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/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전기를 만드는 게 아니라 핵분열에서 나오는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'중성자'로 연구를 하는 특별한 원자로!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여기서 하는 일 ✨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🚗  자동차·배에 쓰는 튼튼한 재료 연구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/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📱  반도체를 더 좋게 만들기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/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💊  병원에서 쓰는 약 재료 만들기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/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🔍  물건 속을 부수지 않고 들여다보기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760720"/>
            <a:ext cx="110029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아시아 최초로 국제원자력기구(IAEA)의 국제 연구센터로 뽑힌 자랑스러운 원자로예요! 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2!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연구용 원자로 '하나로'는 무엇을 하기 위한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원자로일까요?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전기를 팔기 위해      ②  신기한 재료와 약을 연구하기 위해      ③  라면을 끓이기 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44287" y="1051560"/>
            <a:ext cx="2103120" cy="2103120"/>
          </a:xfrm>
          <a:prstGeom prst="ellipse">
            <a:avLst/>
          </a:prstGeom>
          <a:solidFill>
            <a:srgbClr val="2A3268"/>
          </a:solidFill>
          <a:ln w="3175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44287" y="1234440"/>
            <a:ext cx="21031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6000" b="0">
                <a:solidFill>
                  <a:srgbClr val="FFD43B"/>
                </a:solidFill>
                <a:latin typeface="Malgun Gothic"/>
                <a:ea typeface="Malgun Gothic"/>
              </a:rPr>
              <a:t>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2895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D43B"/>
                </a:solidFill>
                <a:latin typeface="Malgun Gothic"/>
                <a:ea typeface="Malgun Gothic"/>
              </a:rPr>
              <a:t>견학 2구역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원자력 기초실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5CDE8"/>
                </a:solidFill>
                <a:latin typeface="Malgun Gothic"/>
                <a:ea typeface="Malgun Gothic"/>
              </a:rPr>
              <a:t>원자력을 발견한 위대한 과학자들을 만나요!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D43B"/>
                </a:solidFill>
                <a:latin typeface="Malgun Gothic"/>
                <a:ea typeface="Malgun Gothic"/>
              </a:rPr>
              <a:t>위대한 발견 릴레이! 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863" y="1554480"/>
            <a:ext cx="1755648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5FD3F3"/>
                </a:solidFill>
                <a:latin typeface="Malgun Gothic"/>
                <a:ea typeface="Malgun Gothic"/>
              </a:rPr>
              <a:t>📸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5FD3F3"/>
                </a:solidFill>
                <a:latin typeface="Malgun Gothic"/>
                <a:ea typeface="Malgun Gothic"/>
              </a:rPr>
              <a:t>1895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뢴트겐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X선 발견!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2527" y="1554480"/>
            <a:ext cx="1755648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FFD43B"/>
                </a:solidFill>
                <a:latin typeface="Malgun Gothic"/>
                <a:ea typeface="Malgun Gothic"/>
              </a:rPr>
              <a:t>✨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D43B"/>
                </a:solidFill>
                <a:latin typeface="Malgun Gothic"/>
                <a:ea typeface="Malgun Gothic"/>
              </a:rPr>
              <a:t>1898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퀴리 부부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라듐 발견</a:t>
            </a:r>
            <a:br/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'방사능' 이름 짓기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191" y="1554480"/>
            <a:ext cx="1755648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 w="22225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B197FC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B197FC"/>
                </a:solidFill>
                <a:latin typeface="Malgun Gothic"/>
                <a:ea typeface="Malgun Gothic"/>
              </a:rPr>
              <a:t>1905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아인슈타인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E=mc²</a:t>
            </a:r>
            <a:br/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에너지의 비밀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9855" y="1554480"/>
            <a:ext cx="1755648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 w="22225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FF9457"/>
                </a:solidFill>
                <a:latin typeface="Malgun Gothic"/>
                <a:ea typeface="Malgun Gothic"/>
              </a:rPr>
              <a:t>🎯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9457"/>
                </a:solidFill>
                <a:latin typeface="Malgun Gothic"/>
                <a:ea typeface="Malgun Gothic"/>
              </a:rPr>
              <a:t>1911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러더포드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원자핵 발견!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3519" y="1554480"/>
            <a:ext cx="1755648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69DB7C"/>
                </a:solidFill>
                <a:latin typeface="Malgun Gothic"/>
                <a:ea typeface="Malgun Gothic"/>
              </a:rPr>
              <a:t>🔵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69DB7C"/>
                </a:solidFill>
                <a:latin typeface="Malgun Gothic"/>
                <a:ea typeface="Malgun Gothic"/>
              </a:rPr>
              <a:t>1932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채드윅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중성자 발견!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7183" y="1554480"/>
            <a:ext cx="1755648" cy="3017520"/>
          </a:xfrm>
          <a:prstGeom prst="roundRect">
            <a:avLst>
              <a:gd name="adj" fmla="val 10000"/>
            </a:avLst>
          </a:prstGeom>
          <a:solidFill>
            <a:srgbClr val="2A3268"/>
          </a:solidFill>
          <a:ln w="22225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0">
                <a:solidFill>
                  <a:srgbClr val="FF7B7B"/>
                </a:solidFill>
                <a:latin typeface="Malgun Gothic"/>
                <a:ea typeface="Malgun Gothic"/>
              </a:rPr>
              <a:t>💥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1938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한·마이트너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5CDE8"/>
                </a:solidFill>
                <a:latin typeface="Malgun Gothic"/>
                <a:ea typeface="Malgun Gothic"/>
              </a:rPr>
              <a:t>핵분열 발견!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9204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C5CDE8"/>
                </a:solidFill>
                <a:latin typeface="Malgun Gothic"/>
                <a:ea typeface="Malgun Gothic"/>
              </a:rPr>
              <a:t>과학자들이 릴레이 달리기처럼 발견을 이어온 덕분에 오늘의 원자력이 있어요!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D43B"/>
                </a:solidFill>
                <a:latin typeface="Malgun Gothic"/>
                <a:ea typeface="Malgun Gothic"/>
              </a:rPr>
              <a:t>지금부터 한 분씩 진짜 사진으로 만나 봅시다 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과학자 ① 뢴트겐 — 뼈가 보이는 신기한 빛!</a:t>
            </a:r>
          </a:p>
        </p:txBody>
      </p:sp>
      <p:pic>
        <p:nvPicPr>
          <p:cNvPr id="4" name="Picture 3" descr="roentg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6" y="1554480"/>
            <a:ext cx="2554467" cy="329184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4882896"/>
            <a:ext cx="2834639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퍼블릭 도메인 (Wikimedia)</a:t>
            </a:r>
          </a:p>
        </p:txBody>
      </p:sp>
      <p:pic>
        <p:nvPicPr>
          <p:cNvPr id="6" name="Picture 5" descr="xray_ha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490" y="1554479"/>
            <a:ext cx="2247900" cy="329184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383280" y="4882896"/>
            <a:ext cx="256032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뢴트겐이 찍은 사진 (퍼블릭 도메인)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188720"/>
            <a:ext cx="22860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D43B"/>
                </a:solidFill>
                <a:latin typeface="Malgun Gothic"/>
                <a:ea typeface="Malgun Gothic"/>
              </a:rPr>
              <a:t>세계 최초의 엑스레이 사진!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349240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🔦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실험실에서 이상한 빛을 발견! 이름을 몰라서 수수께끼라는 뜻의 'X선'이라 지었어요.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51760"/>
            <a:ext cx="5349240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💍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아내의 손을 찍었더니... 뼈와 반지가 그대로! 세계 최초의 엑스레이 사진이에요.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49039"/>
            <a:ext cx="5349240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🏆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이 발견으로 1901년, 세계 최초의 노벨 물리학상을 받았어요.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846320"/>
            <a:ext cx="5349240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🏥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지금도 병원에서 뼈를 볼 때 쓰는 바로 그 X선이랍니다!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100297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D97C4"/>
                </a:solidFill>
                <a:latin typeface="Malgun Gothic"/>
                <a:ea typeface="Malgun Gothic"/>
              </a:rPr>
              <a:t>빌헬름 뢴트겐 (독일, 1845~1923) — 보이지 않는 것을 보이게 한 과학자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3!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퀴리 부인은 노벨상을 몇 번 받았을까요?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한 번      ②  두 번      ③  백 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과학자 ② 마리 퀴리 — 포기를 모르는 과학자!</a:t>
            </a:r>
          </a:p>
        </p:txBody>
      </p:sp>
      <p:pic>
        <p:nvPicPr>
          <p:cNvPr id="4" name="Picture 3" descr="cu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39" y="1554480"/>
            <a:ext cx="2828041" cy="384048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431536"/>
            <a:ext cx="31089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퍼블릭 도메인 (Wikimedia)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554480"/>
            <a:ext cx="7498079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✨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낡은 창고 실험실에서 4년 동안 연구해서, 스스로 빛을 내는 신기한 돌 '라듐'을 발견했어요!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651760"/>
            <a:ext cx="7498079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📛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'방사능'이라는 이름을 처음 지은 과학자예요. 방사선 연구의 어머니!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3749039"/>
            <a:ext cx="7498079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🏆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노벨상을 두 번이나 받았어요! 여성 최초 + 서로 다른 두 분야(물리·화학) 수상!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846320"/>
            <a:ext cx="7498079" cy="960120"/>
          </a:xfrm>
          <a:prstGeom prst="roundRect">
            <a:avLst>
              <a:gd name="adj" fmla="val 2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👩‍🔬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딸 이렌도 노벨상을 받았어요. 세상에서 제일 대단한 과학 모녀!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943600"/>
            <a:ext cx="7498079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8C45C"/>
                </a:solidFill>
                <a:latin typeface="Malgun Gothic"/>
                <a:ea typeface="Malgun Gothic"/>
              </a:rPr>
              <a:t>"인생에서 두려워할 것은 없다. 이해해야 할 것만 있을 뿐!" — 마리 퀴리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과학자 ③ 아인슈타인 — 에너지의 비밀을 풀다!</a:t>
            </a:r>
          </a:p>
        </p:txBody>
      </p:sp>
      <p:pic>
        <p:nvPicPr>
          <p:cNvPr id="4" name="Picture 3" descr="einste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5675"/>
            <a:ext cx="2834640" cy="3509284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431536"/>
            <a:ext cx="31089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퍼블릭 도메인 (Wikimedia)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554480"/>
            <a:ext cx="7498079" cy="1371600"/>
          </a:xfrm>
          <a:prstGeom prst="roundRect">
            <a:avLst>
              <a:gd name="adj" fmla="val 15000"/>
            </a:avLst>
          </a:prstGeom>
          <a:solidFill>
            <a:srgbClr val="141833"/>
          </a:solidFill>
          <a:ln w="25400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1">
                <a:solidFill>
                  <a:srgbClr val="B197FC"/>
                </a:solidFill>
                <a:latin typeface="Malgun Gothic"/>
                <a:ea typeface="Malgun Gothic"/>
              </a:rPr>
              <a:t>E = mc²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"아주 작은 알갱이 속에도 어마어마한 에너지가 숨어 있다!"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3154680"/>
            <a:ext cx="7498079" cy="868680"/>
          </a:xfrm>
          <a:prstGeom prst="roundRect">
            <a:avLst>
              <a:gd name="adj" fmla="val 2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⭐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1905년, 스물여섯 살에 세상을 놀라게 한 공식을 발표했어요.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160520"/>
            <a:ext cx="7498079" cy="868680"/>
          </a:xfrm>
          <a:prstGeom prst="roundRect">
            <a:avLst>
              <a:gd name="adj" fmla="val 2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⚡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원자핵이 변할 때 왜 큰 에너지가 나오는지, 이 공식이 미리 알려줬어요!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5166360"/>
            <a:ext cx="7498079" cy="868680"/>
          </a:xfrm>
          <a:prstGeom prst="roundRect">
            <a:avLst>
              <a:gd name="adj" fmla="val 2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😝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혀를 쑥 내민 사진으로도 유명한, 유쾌한 천재 박사님이랍니다.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989320"/>
            <a:ext cx="7498079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D97C4"/>
                </a:solidFill>
                <a:latin typeface="Malgun Gothic"/>
                <a:ea typeface="Malgun Gothic"/>
              </a:rPr>
              <a:t>알베르트 아인슈타인 (1879~1955) — 20세기 최고의 물리학자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4!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러더포드가 금박 실험으로 발견한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'원자의 심장'은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원자핵      ②  솜사탕      ③  씨앗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과학자 ④ 러더포드 — 원자의 심장을 찾아라!</a:t>
            </a:r>
          </a:p>
        </p:txBody>
      </p:sp>
      <p:pic>
        <p:nvPicPr>
          <p:cNvPr id="4" name="Picture 3" descr="rutherf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64365"/>
            <a:ext cx="2834640" cy="3830594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431536"/>
            <a:ext cx="31089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Bain News Service (퍼블릭 도메인)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554480"/>
            <a:ext cx="7498079" cy="2514600"/>
          </a:xfrm>
          <a:prstGeom prst="roundRect">
            <a:avLst>
              <a:gd name="adj" fmla="val 8000"/>
            </a:avLst>
          </a:prstGeom>
          <a:solidFill>
            <a:srgbClr val="141833"/>
          </a:solidFill>
          <a:ln w="22225">
            <a:solidFill>
              <a:srgbClr val="E8C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E8C45C"/>
                </a:solidFill>
                <a:latin typeface="Malgun Gothic"/>
                <a:ea typeface="Malgun Gothic"/>
              </a:rPr>
              <a:t>⭐ 금박 실험: 아주 얇은 금종이에 알갱이 쏘기!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2148840"/>
            <a:ext cx="146304" cy="1600200"/>
          </a:xfrm>
          <a:prstGeom prst="rect">
            <a:avLst/>
          </a:prstGeom>
          <a:solidFill>
            <a:srgbClr val="E8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754880" y="2286000"/>
            <a:ext cx="2651760" cy="182880"/>
          </a:xfrm>
          <a:prstGeom prst="rightArrow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754880" y="2697480"/>
            <a:ext cx="2651760" cy="182880"/>
          </a:xfrm>
          <a:prstGeom prst="rightArrow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754880" y="3474720"/>
            <a:ext cx="2651760" cy="182880"/>
          </a:xfrm>
          <a:prstGeom prst="rightArrow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 rot="9300000">
            <a:off x="5943600" y="2971800"/>
            <a:ext cx="1645920" cy="219456"/>
          </a:xfrm>
          <a:prstGeom prst="rightArrow">
            <a:avLst/>
          </a:prstGeom>
          <a:solidFill>
            <a:srgbClr val="FF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240280"/>
            <a:ext cx="32918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5FD3F3"/>
                </a:solidFill>
                <a:latin typeface="Malgun Gothic"/>
                <a:ea typeface="Malgun Gothic"/>
              </a:rPr>
              <a:t>대부분은 슝~ 통과!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7B7B"/>
                </a:solidFill>
                <a:latin typeface="Malgun Gothic"/>
                <a:ea typeface="Malgun Gothic"/>
              </a:rPr>
              <a:t>가끔 텅! 튕겨 나옴 → 심장 발견!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4297680"/>
            <a:ext cx="7498079" cy="822960"/>
          </a:xfrm>
          <a:prstGeom prst="roundRect">
            <a:avLst>
              <a:gd name="adj" fmla="val 2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🎯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1911년, 이 실험으로 원자 속 단단한 심장, '원자핵'을 발견했어요!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5257800"/>
            <a:ext cx="7498079" cy="822960"/>
          </a:xfrm>
          <a:prstGeom prst="roundRect">
            <a:avLst>
              <a:gd name="adj" fmla="val 2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⚽  </a:t>
            </a: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원자가 축구장이라면 원자핵은 축구공! 그 비밀을 처음 알아낸 분이에요.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6217920"/>
            <a:ext cx="749807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D97C4"/>
                </a:solidFill>
                <a:latin typeface="Malgun Gothic"/>
                <a:ea typeface="Malgun Gothic"/>
              </a:rPr>
              <a:t>어니스트 러더포드 (1871~1937) — 원자핵의 아버지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과학자 ⑤ 마지막 퍼즐을 맞춘 사람들</a:t>
            </a:r>
          </a:p>
        </p:txBody>
      </p:sp>
      <p:pic>
        <p:nvPicPr>
          <p:cNvPr id="4" name="Picture 3" descr="chadwi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43100"/>
            <a:ext cx="2286000" cy="285750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4837176"/>
            <a:ext cx="256032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LANL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2860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FD3F3"/>
                </a:solidFill>
                <a:latin typeface="Malgun Gothic"/>
                <a:ea typeface="Malgun Gothic"/>
              </a:rPr>
              <a:t>제임스 채드윅</a:t>
            </a:r>
          </a:p>
        </p:txBody>
      </p:sp>
      <p:pic>
        <p:nvPicPr>
          <p:cNvPr id="7" name="Picture 6" descr="hahn_meit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816" y="1783080"/>
            <a:ext cx="2302367" cy="301752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108960" y="4837176"/>
            <a:ext cx="2926079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퍼블릭 도메인 (Wikimedia)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17320"/>
            <a:ext cx="265176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7B7B"/>
                </a:solidFill>
                <a:latin typeface="Malgun Gothic"/>
                <a:ea typeface="Malgun Gothic"/>
              </a:rPr>
              <a:t>오토 한 &amp; 리제 마이트너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1371600"/>
          </a:xfrm>
          <a:prstGeom prst="roundRect">
            <a:avLst>
              <a:gd name="adj" fmla="val 1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🔵  채드윅 (1932년)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원자핵 속 '중성자'를 발견!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핵분열의 문을 여는 열쇠가 됐어요.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90672"/>
            <a:ext cx="5257800" cy="1371600"/>
          </a:xfrm>
          <a:prstGeom prst="roundRect">
            <a:avLst>
              <a:gd name="adj" fmla="val 1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💥  한 &amp; 마이트너 (1938년)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드디어 '핵분열'을 발견!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원자력 시대가 활짝 열렸어요.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626864"/>
            <a:ext cx="5257800" cy="1371600"/>
          </a:xfrm>
          <a:prstGeom prst="roundRect">
            <a:avLst>
              <a:gd name="adj" fmla="val 15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💪  포기하지 않은 마이트너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여성이라서, 전쟁 때문에 힘든 일이 많았지만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끝까지 연구를 포기하지 않은 멋진 과학자예요!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26480"/>
            <a:ext cx="110029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이 발견의 릴레이 덕분에, 지금 우리가 원자력으로 전기를 만들 수 있는 거예요!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🎬 영상 시청실  &lt;과학자들의 이야기&gt;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"퀴리 부인 이야기"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포기를 모르는 퀴리 부인의 삶을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짧은 영상으로 만나요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"아인슈타인 이야기"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유쾌한 천재 아인슈타인의 이야기를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짧은 영상으로 만나요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8D97C4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모든 것의 블록, 원자! 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5FD3F3"/>
                </a:solidFill>
                <a:latin typeface="Malgun Gothic"/>
                <a:ea typeface="Malgun Gothic"/>
              </a:rPr>
              <a:t>🎲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세상 모든 것은</a:t>
            </a:r>
            <a:br/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원자 블록으로!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레고 블록으로 집도 공룡도 만들 수 있듯이,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책도, 사과도, 물도, 강아지도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그리고 우리 몸도 전부 원자로 만들어졌어요!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0876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FFD43B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</a:rPr>
              <a:t>얼마나 작냐면요!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원자 1억 개를 한 줄로 세우면 겨우 1cm!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/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원자를 축구장만큼 키우면 가운데 '원자핵'은</a:t>
            </a:r>
            <a:br/>
            <a:r>
              <a:rPr sz="1500" b="0">
                <a:solidFill>
                  <a:srgbClr val="C5CDE8"/>
                </a:solidFill>
                <a:latin typeface="Malgun Gothic"/>
                <a:ea typeface="Malgun Gothic"/>
              </a:rPr>
              <a:t>축구공, 주위를 도는 '전자'는 개미 크기예요.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72865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D43B"/>
                </a:solidFill>
                <a:latin typeface="Malgun Gothic"/>
                <a:ea typeface="Malgun Gothic"/>
              </a:rPr>
              <a:t>러더포드가 발견한 그 원자핵! 이 작은 심장이 변할 때 나오는 힘이 '원자력'이에요 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핵분열: 쪼개지면 엄청난 힘이! 💥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</a:rPr>
              <a:t>중성자 콩!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08760" y="2788920"/>
            <a:ext cx="457200" cy="347472"/>
          </a:xfrm>
          <a:prstGeom prst="rightArrow">
            <a:avLst/>
          </a:prstGeom>
          <a:solidFill>
            <a:srgbClr val="5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8840" y="2148840"/>
            <a:ext cx="1645920" cy="1645920"/>
          </a:xfrm>
          <a:prstGeom prst="ellipse">
            <a:avLst/>
          </a:prstGeom>
          <a:solidFill>
            <a:srgbClr val="FFD43B"/>
          </a:solidFill>
          <a:ln w="25400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41833"/>
                </a:solidFill>
                <a:latin typeface="Malgun Gothic"/>
                <a:ea typeface="Malgun Gothic"/>
              </a:rPr>
              <a:t>우라늄</a:t>
            </a:r>
            <a:br/>
            <a:r>
              <a:rPr sz="1500" b="1">
                <a:solidFill>
                  <a:srgbClr val="141833"/>
                </a:solidFill>
                <a:latin typeface="Malgun Gothic"/>
                <a:ea typeface="Malgun Gothic"/>
              </a:rPr>
              <a:t>원자핵</a:t>
            </a:r>
          </a:p>
        </p:txBody>
      </p:sp>
      <p:sp>
        <p:nvSpPr>
          <p:cNvPr id="8" name="Explosion 7"/>
          <p:cNvSpPr/>
          <p:nvPr/>
        </p:nvSpPr>
        <p:spPr>
          <a:xfrm>
            <a:off x="4114800" y="2194560"/>
            <a:ext cx="1554480" cy="1554480"/>
          </a:xfrm>
          <a:prstGeom prst="irregularSeal1">
            <a:avLst/>
          </a:prstGeom>
          <a:solidFill>
            <a:srgbClr val="FF9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쫙!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788920"/>
            <a:ext cx="457200" cy="347472"/>
          </a:xfrm>
          <a:prstGeom prst="rightArrow">
            <a:avLst/>
          </a:prstGeom>
          <a:solidFill>
            <a:srgbClr val="5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011680"/>
            <a:ext cx="1005840" cy="1005840"/>
          </a:xfrm>
          <a:prstGeom prst="ellipse">
            <a:avLst/>
          </a:prstGeom>
          <a:solidFill>
            <a:srgbClr val="FFC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3154680"/>
            <a:ext cx="1005840" cy="1005840"/>
          </a:xfrm>
          <a:prstGeom prst="ellipse">
            <a:avLst/>
          </a:prstGeom>
          <a:solidFill>
            <a:srgbClr val="FFC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148840"/>
            <a:ext cx="365760" cy="365760"/>
          </a:xfrm>
          <a:prstGeom prst="ellipse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0" y="2834640"/>
            <a:ext cx="365760" cy="365760"/>
          </a:xfrm>
          <a:prstGeom prst="ellipse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0" y="3520440"/>
            <a:ext cx="365760" cy="365760"/>
          </a:xfrm>
          <a:prstGeom prst="ellipse">
            <a:avLst/>
          </a:prstGeom>
          <a:solidFill>
            <a:srgbClr val="5FD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8595360" y="2240280"/>
            <a:ext cx="1737360" cy="17373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04A00"/>
                </a:solidFill>
                <a:latin typeface="Malgun Gothic"/>
                <a:ea typeface="Malgun Gothic"/>
              </a:rPr>
              <a:t>에너지!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97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두 조각으로 쪼개지며 열이 팡! 중성자도 톡톡!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728655" cy="1325880"/>
          </a:xfrm>
          <a:prstGeom prst="roundRect">
            <a:avLst>
              <a:gd name="adj" fmla="val 14000"/>
            </a:avLst>
          </a:prstGeom>
          <a:solidFill>
            <a:srgbClr val="141833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D43B"/>
                </a:solidFill>
                <a:latin typeface="Malgun Gothic"/>
                <a:ea typeface="Malgun Gothic"/>
              </a:rPr>
              <a:t>도미노처럼 계속돼요! 💥💥💥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한 &amp; 마이트너가 발견한 바로 그 핵분열! 아인슈타인의 E=mc²가 예언한 바로 그 에너지!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5!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세상 모든 것을 쪼개고 쪼개고 또 쪼개면,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마지막에 남는 작은 블록은 무엇일까요?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먼지      ②  원자      ③  설탕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방사선? 방사능? 전구로 알아봐요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393192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FFD43B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전구를 떠올려 보세요!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D43B"/>
                </a:solidFill>
                <a:latin typeface="Malgun Gothic"/>
                <a:ea typeface="Malgun Gothic"/>
              </a:rPr>
              <a:t>전구에서 나오는 빛 = 방사선</a:t>
            </a:r>
            <a:br/>
            <a:r>
              <a:rPr sz="1700" b="1">
                <a:solidFill>
                  <a:srgbClr val="FFD43B"/>
                </a:solidFill>
                <a:latin typeface="Malgun Gothic"/>
                <a:ea typeface="Malgun Gothic"/>
              </a:rPr>
              <a:t>빛을 낼 수 있는 능력 = 방사능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퀴리 부인이 이름 지은 그 '방사능'이에요.</a:t>
            </a:r>
            <a:br/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알고 보면 간단하죠?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08760"/>
            <a:ext cx="5212080" cy="393192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0">
                <a:solidFill>
                  <a:srgbClr val="69DB7C"/>
                </a:solidFill>
                <a:latin typeface="Malgun Gothic"/>
                <a:ea typeface="Malgun Gothic"/>
              </a:rPr>
              <a:t>☀️ 🍌 🗻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방사선은 어디에나 조금씩!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C5CDE8"/>
                </a:solidFill>
                <a:latin typeface="Malgun Gothic"/>
                <a:ea typeface="Malgun Gothic"/>
              </a:rPr>
              <a:t>햇빛에도, 바나나에도, 땅과 돌에도</a:t>
            </a:r>
            <a:br/>
            <a:r>
              <a:rPr sz="1600" b="0">
                <a:solidFill>
                  <a:srgbClr val="C5CDE8"/>
                </a:solidFill>
                <a:latin typeface="Malgun Gothic"/>
                <a:ea typeface="Malgun Gothic"/>
              </a:rPr>
              <a:t>원래부터 아주 조금씩 들어 있어요.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69DB7C"/>
                </a:solidFill>
                <a:latin typeface="Malgun Gothic"/>
                <a:ea typeface="Malgun Gothic"/>
              </a:rPr>
              <a:t>스파이더맨과 헐크는 영화 속 상상! 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728655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8D97C4"/>
                </a:solidFill>
                <a:latin typeface="Malgun Gothic"/>
                <a:ea typeface="Malgun Gothic"/>
              </a:rPr>
              <a:t>과학자들이 특별한 기계로 늘 재면서 우리를 안전하게 지켜주고 있어요. 안심! 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🎬 영상 시청실  &lt;원자 이야기&gt;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한국원자력연구원 공식 유튜브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과학하는 원연이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귀여운 캐릭터 '원연이'가 나오는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짧고 쉬운 원자력 영상 채널이에요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"원자란 무엇일까?"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클릭하면 어린이 눈높이의 짧은 영상만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골라서 보여줘요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8D97C4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44287" y="1051560"/>
            <a:ext cx="2103120" cy="2103120"/>
          </a:xfrm>
          <a:prstGeom prst="ellipse">
            <a:avLst/>
          </a:prstGeom>
          <a:solidFill>
            <a:srgbClr val="2A3268"/>
          </a:solidFill>
          <a:ln w="31750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44287" y="1234440"/>
            <a:ext cx="21031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6000" b="0">
                <a:solidFill>
                  <a:srgbClr val="FF9457"/>
                </a:solidFill>
                <a:latin typeface="Malgun Gothic"/>
                <a:ea typeface="Malgun Gothic"/>
              </a:rPr>
              <a:t>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2895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9457"/>
                </a:solidFill>
                <a:latin typeface="Malgun Gothic"/>
                <a:ea typeface="Malgun Gothic"/>
              </a:rPr>
              <a:t>견학 3구역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원자력 이용관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5CDE8"/>
                </a:solidFill>
                <a:latin typeface="Malgun Gothic"/>
                <a:ea typeface="Malgun Gothic"/>
              </a:rPr>
              <a:t>발전소부터 병원, 공항까지! 원자력의 대활약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원자력발전소 = 아주 커다란 주전자! 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867" y="164592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원자핵이 쪼개져요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핵분열로 아주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뜨거운 열이 나와요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37179" y="2816352"/>
            <a:ext cx="384048" cy="457200"/>
          </a:xfrm>
          <a:prstGeom prst="rightArrow">
            <a:avLst/>
          </a:prstGeom>
          <a:solidFill>
            <a:srgbClr val="5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1227" y="164592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💨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물을 끓여요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열로 물을 펄펄!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수증기가 칙칙~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7539" y="2816352"/>
            <a:ext cx="384048" cy="457200"/>
          </a:xfrm>
          <a:prstGeom prst="rightArrow">
            <a:avLst/>
          </a:prstGeom>
          <a:solidFill>
            <a:srgbClr val="5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1587" y="164592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바람개비가 돌아요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수증기가 커다란 바람개비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(터빈)를 빙글빙글!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7899" y="2816352"/>
            <a:ext cx="384048" cy="457200"/>
          </a:xfrm>
          <a:prstGeom prst="rightArrow">
            <a:avLst/>
          </a:prstGeom>
          <a:solidFill>
            <a:srgbClr val="5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1947" y="1645920"/>
            <a:ext cx="2468880" cy="27432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전기가 반짝!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발전기가 돌면서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전기가 만들어져요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892040"/>
            <a:ext cx="9265615" cy="1188720"/>
          </a:xfrm>
          <a:prstGeom prst="roundRect">
            <a:avLst>
              <a:gd name="adj" fmla="val 30000"/>
            </a:avLst>
          </a:prstGeom>
          <a:solidFill>
            <a:srgbClr val="333D7A"/>
          </a:solidFill>
          <a:ln w="22225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발전소는 다섯 겹 갑옷(방호벽)을 입고 있고, 과학자들이 24시간 지켜요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우리나라 전기의 약 1/3을 원자력이 만들어요. 연기 없이 깨끗하게!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🎬 영상 시청실  &lt;원자력 발전의 원리&gt;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서울특별시교육청 융합과학교육원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원자력 발전의 원리와</a:t>
            </a:r>
            <a:br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발전소의 구조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교육청 선생님들이 만든 공식 영상!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발전소 속을 차근차근 보여줘요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한국원자력연구원 공식 유튜브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과학하는 원연이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더 보고 싶다면!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짧고 쉬운 원자력 영상 채널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8D97C4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병원에서 대활약! 원자력 히어로 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587" y="155448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0">
                <a:solidFill>
                  <a:srgbClr val="FFFFFF"/>
                </a:solidFill>
                <a:latin typeface="Malgun Gothic"/>
                <a:ea typeface="Malgun Gothic"/>
              </a:rPr>
              <a:t>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몸속 사진 찰칵!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뢴트겐이 발견한 X선으로</a:t>
            </a:r>
            <a:br/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부러진 뼈를 수술 없이 찾아내요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347" y="155448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0">
                <a:solidFill>
                  <a:srgbClr val="FFFFFF"/>
                </a:solidFill>
                <a:latin typeface="Malgun Gothic"/>
                <a:ea typeface="Malgun Gothic"/>
              </a:rPr>
              <a:t>💊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아픈 곳을 찾아가는 약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원자력연구원이 만든 방사성의약품이</a:t>
            </a:r>
            <a:br/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아픈 곳만 콕 찾아가요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6107" y="155448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600" b="0">
                <a:solidFill>
                  <a:srgbClr val="FFFFFF"/>
                </a:solidFill>
                <a:latin typeface="Malgun Gothic"/>
                <a:ea typeface="Malgun Gothic"/>
              </a:rPr>
              <a:t>💚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나쁜 세포 물리치기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방사선으로 나쁜 세포(암)를</a:t>
            </a:r>
            <a:br/>
            <a:r>
              <a:rPr sz="1400" b="0">
                <a:solidFill>
                  <a:srgbClr val="C5CDE8"/>
                </a:solidFill>
                <a:latin typeface="Malgun Gothic"/>
                <a:ea typeface="Malgun Gothic"/>
              </a:rPr>
              <a:t>겨냥해서 치료해요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7492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D43B"/>
                </a:solidFill>
                <a:latin typeface="Malgun Gothic"/>
                <a:ea typeface="Malgun Gothic"/>
              </a:rPr>
              <a:t>원자력은 아픈 사람들을 살리는 병원의 슈퍼 히어로예요! 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6!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원자력발전소는 무엇을 펄펄 끓여서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전기를 만들까요?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우유      ②  물      ③  주스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공항에서, 농장에서, 공장에서도! 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160020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✈️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공항에서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가방을 열지 않고도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속을 들여다봐요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9787" y="160020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🌱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농장에서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감자 · 양파에 싹이 나지 않게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오래 보관하게 도와줘요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60020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🔧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공장에서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기계 속에 금이 갔는지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부수지 않고 검사해요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1947" y="1600200"/>
            <a:ext cx="2606040" cy="301752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📱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신기술에도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반도체와 새로운 재료를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만드는 데도 쓰여요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2920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D43B"/>
                </a:solidFill>
                <a:latin typeface="Malgun Gothic"/>
                <a:ea typeface="Malgun Gothic"/>
              </a:rPr>
              <a:t>잘 알고 조심해서 쓰면, 방사선은 생활 곳곳을 도와주는 고마운 친구예요!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알갱이 슈퍼 경주장, 가속기! 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587" y="1554480"/>
            <a:ext cx="342900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algun Gothic"/>
                <a:ea typeface="Malgun Gothic"/>
              </a:rPr>
              <a:t>🏁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출발!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'양성자' 선수를 빛처럼 빠르게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달리게 하는 경주장이에요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(길이가 75m나 돼요!)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1347" y="1554480"/>
            <a:ext cx="342900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algun Gothic"/>
                <a:ea typeface="Malgun Gothic"/>
              </a:rPr>
              <a:t>💥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꽝! 부딪히면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물질의 성질이 변신!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약한 플라스틱을 강철처럼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단단하게 만들 수 있어요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6107" y="1554480"/>
            <a:ext cx="342900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algun Gothic"/>
                <a:ea typeface="Malgun Gothic"/>
              </a:rPr>
              <a:t>💊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새로운 것 탄생!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병을 치료하는 약 재료를 만들어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외국에 수출까지 해요</a:t>
            </a:r>
            <a:br/>
            <a:r>
              <a:rPr sz="1350" b="0">
                <a:solidFill>
                  <a:srgbClr val="C5CDE8"/>
                </a:solidFill>
                <a:latin typeface="Malgun Gothic"/>
                <a:ea typeface="Malgun Gothic"/>
              </a:rPr>
              <a:t>(우리나라 최초!)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12080"/>
            <a:ext cx="11002975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C5CDE8"/>
                </a:solidFill>
                <a:latin typeface="Malgun Gothic"/>
                <a:ea typeface="Malgun Gothic"/>
              </a:rPr>
              <a:t>원자력연구원에는 이런 거대한 가속기가 진짜로 있어요! (경주·정읍)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7!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가속기라는 '알갱이 경주장'에서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엄청나게 빨리 달리는 선수는 누구일까요?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자동차      ②  양성자      ③  치타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44287" y="1051560"/>
            <a:ext cx="2103120" cy="2103120"/>
          </a:xfrm>
          <a:prstGeom prst="ellipse">
            <a:avLst/>
          </a:prstGeom>
          <a:solidFill>
            <a:srgbClr val="2A3268"/>
          </a:solidFill>
          <a:ln w="31750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44287" y="1234440"/>
            <a:ext cx="21031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6000" b="0">
                <a:solidFill>
                  <a:srgbClr val="B197FC"/>
                </a:solidFill>
                <a:latin typeface="Malgun Gothic"/>
                <a:ea typeface="Malgun Gothic"/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2895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B197FC"/>
                </a:solidFill>
                <a:latin typeface="Malgun Gothic"/>
                <a:ea typeface="Malgun Gothic"/>
              </a:rPr>
              <a:t>견학 4구역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미래 기술관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5CDE8"/>
                </a:solidFill>
                <a:latin typeface="Malgun Gothic"/>
                <a:ea typeface="Malgun Gothic"/>
              </a:rPr>
              <a:t>화성 탐사 로버부터 인공태양까지!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미래 기술관에 어서 오세요!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155448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🔋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우주 배터리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달나라, 화성에서 10년 넘게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작동하는 원자력 전지!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9787" y="155448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📦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미니 발전소 SMR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작지만 야무진 발전소!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필요한 곳에 쏙, 더 안전하게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55448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바닷물이 마실 물로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'SMART' 원자로는 전기도 만들고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바닷물을 마실 물로 바꿔요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1947" y="1554480"/>
            <a:ext cx="2606040" cy="320040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🌞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인공태양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태양처럼 원자핵을 합쳐서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힘을 얻어요. 1억 도!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74920"/>
            <a:ext cx="1100297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D43B"/>
                </a:solidFill>
                <a:latin typeface="Malgun Gothic"/>
                <a:ea typeface="Malgun Gothic"/>
              </a:rPr>
              <a:t>이 중에서 제일 신기한 두 가지를 사진과 함께 자세히 보여드릴게요! 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자세히 보기 ① 화성을 달리는 원자력! 🔋</a:t>
            </a:r>
          </a:p>
        </p:txBody>
      </p:sp>
      <p:pic>
        <p:nvPicPr>
          <p:cNvPr id="4" name="Picture 3" descr="curios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529" y="1417320"/>
            <a:ext cx="3118780" cy="429768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726679" y="5751576"/>
            <a:ext cx="384048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NASA (퍼블릭 도메인)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143000"/>
            <a:ext cx="3566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B197FC"/>
                </a:solidFill>
                <a:latin typeface="Malgun Gothic"/>
                <a:ea typeface="Malgun Gothic"/>
              </a:rPr>
              <a:t>화성 탐사 로버 '큐리오시티'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6858000" cy="1417320"/>
          </a:xfrm>
          <a:prstGeom prst="roundRect">
            <a:avLst>
              <a:gd name="adj" fmla="val 14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📸  이 사진, 진짜 화성에서 찍었어요!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탐사 로버 '큐리오시티'가 화성에서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직접 찍은 셀카랍니다.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90672"/>
            <a:ext cx="6858000" cy="1417320"/>
          </a:xfrm>
          <a:prstGeom prst="roundRect">
            <a:avLst>
              <a:gd name="adj" fmla="val 14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🔋  로버의 심장은 원자력 전지!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햇빛이 약하고 밤이 추운 화성에서도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10년 넘게 씽씽! 방사선의 열을 전기로 바꿔요.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672583"/>
            <a:ext cx="6858000" cy="1417320"/>
          </a:xfrm>
          <a:prstGeom prst="roundRect">
            <a:avLst>
              <a:gd name="adj" fmla="val 14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🚀  우리나라도 만들었어요!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세계 세 번째로 우주용 원자력 전지 개발!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언젠가 우리 달 탐사선에도 실릴 거예요.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6364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D97C4"/>
                </a:solidFill>
                <a:latin typeface="Malgun Gothic"/>
                <a:ea typeface="Malgun Gothic"/>
              </a:rPr>
              <a:t>보통 배터리는 화성의 추위에 하루도 못 버텨요. 원자력 전지라서 가능한 일!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8!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화성 탐사 로버 '큐리오시티'가 10년 넘게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쓰고 있는 전기는 어디서 나올까요?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원자력 전지      ②  AA 건전지      ③  번개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700" b="1">
                <a:solidFill>
                  <a:srgbClr val="FFD43B"/>
                </a:solidFill>
                <a:latin typeface="Malgun Gothic"/>
                <a:ea typeface="Malgun Gothic"/>
              </a:rPr>
              <a:t>자세히 보기 ② 땅 위의 태양, KSTAR! 🌞</a:t>
            </a:r>
          </a:p>
        </p:txBody>
      </p:sp>
      <p:pic>
        <p:nvPicPr>
          <p:cNvPr id="4" name="Picture 3" descr="ks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783079"/>
            <a:ext cx="3840480" cy="2880360"/>
          </a:xfrm>
          <a:prstGeom prst="rect">
            <a:avLst/>
          </a:prstGeom>
          <a:ln w="19050">
            <a:solidFill>
              <a:srgbClr val="5FD3F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498079" y="4700016"/>
            <a:ext cx="41148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8D97C4"/>
                </a:solidFill>
                <a:latin typeface="Malgun Gothic"/>
                <a:ea typeface="Malgun Gothic"/>
              </a:rPr>
              <a:t>사진: Michel Maccagnan (CC BY-SA 3.0)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23444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7B7B"/>
                </a:solidFill>
                <a:latin typeface="Malgun Gothic"/>
                <a:ea typeface="Malgun Gothic"/>
              </a:rPr>
              <a:t>진짜 KSTAR 장치의 모습!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6629400" cy="1417320"/>
          </a:xfrm>
          <a:prstGeom prst="roundRect">
            <a:avLst>
              <a:gd name="adj" fmla="val 14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🌞  태양의 비밀을 그대로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태양은 원자핵을 '합쳐서' 힘을 내요.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이건 쪼개기(핵분열)의 반대, '핵융합'!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36391"/>
            <a:ext cx="6629400" cy="1417320"/>
          </a:xfrm>
          <a:prstGeom prst="roundRect">
            <a:avLst>
              <a:gd name="adj" fmla="val 14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🔥  1억 도의 불덩이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태양 한가운데보다 몇 배나 뜨거운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1억 도를 만들어 세계 기록을 세웠어요!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18304"/>
            <a:ext cx="6629400" cy="1417320"/>
          </a:xfrm>
          <a:prstGeom prst="roundRect">
            <a:avLst>
              <a:gd name="adj" fmla="val 14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/>
          <a:lstStyle/>
          <a:p>
            <a:pPr algn="ctr"/>
            <a:r>
              <a:rPr sz="1500" b="1">
                <a:solidFill>
                  <a:srgbClr val="FFD43B"/>
                </a:solidFill>
                <a:latin typeface="Malgun Gothic"/>
                <a:ea typeface="Malgun Gothic"/>
              </a:rPr>
              <a:t>⚡  미래의 무한 에너지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연료를 바닷물에서 얻을 수 있어서 거의 무한!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꿈의 에너지를 향해 달리는 중이에요.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63640"/>
            <a:ext cx="108200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8D97C4"/>
                </a:solidFill>
                <a:latin typeface="Malgun Gothic"/>
                <a:ea typeface="Malgun Gothic"/>
              </a:rPr>
              <a:t>이 인공태양을 완성하는 날, 세계의 에너지 걱정이 사라질 거예요. 그 주인공이 여러분일 수도!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🎬 영상 시청실  &lt;한국의 인공태양&gt;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82296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YTN 뉴스 (약 2분)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한국이 만든 인공태양</a:t>
            </a:r>
            <a:br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'KSTAR' 세계 기록!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우리나라 인공태양이 세운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세계 최초 기록, 2분 뉴스 영상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6263640" y="1645920"/>
            <a:ext cx="5120640" cy="3657600"/>
          </a:xfrm>
          <a:prstGeom prst="roundRect">
            <a:avLst>
              <a:gd name="adj" fmla="val 7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0">
                <a:solidFill>
                  <a:srgbClr val="FF7B7B"/>
                </a:solidFill>
                <a:latin typeface="Malgun Gothic"/>
                <a:ea typeface="Malgun Gothic"/>
              </a:rPr>
              <a:t>▶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FFD43B"/>
                </a:solidFill>
                <a:latin typeface="Malgun Gothic"/>
                <a:ea typeface="Malgun Gothic"/>
              </a:rPr>
              <a:t>4분 이내 짧은 영상만 모았어요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"인공태양 KSTAR"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진짜 인공태양의 모습을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짧은 영상으로 골라 볼 수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4577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8D97C4"/>
                </a:solidFill>
                <a:latin typeface="Malgun Gothic"/>
                <a:ea typeface="Malgun Gothic"/>
              </a:rPr>
              <a:t>카드를 클릭하면 유튜브로 이동해요 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9!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우리나라 인공태양 'KSTAR'의 온도는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몇 도까지 올라갔을까요?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①  100도      ②  1만 도      ③  1억 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마음속으로 정했으면, 손가락으로 번호를 들어 보세요! 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44287" y="1051560"/>
            <a:ext cx="2103120" cy="2103120"/>
          </a:xfrm>
          <a:prstGeom prst="ellipse">
            <a:avLst/>
          </a:prstGeom>
          <a:solidFill>
            <a:srgbClr val="2A3268"/>
          </a:solidFill>
          <a:ln w="31750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44287" y="1234440"/>
            <a:ext cx="2103120" cy="1737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6000" b="0">
                <a:solidFill>
                  <a:srgbClr val="69DB7C"/>
                </a:solidFill>
                <a:latin typeface="Malgun Gothic"/>
                <a:ea typeface="Malgun Gothic"/>
              </a:rPr>
              <a:t>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2895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69DB7C"/>
                </a:solidFill>
                <a:latin typeface="Malgun Gothic"/>
                <a:ea typeface="Malgun Gothic"/>
              </a:rPr>
              <a:t>견학 5구역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</a:rPr>
              <a:t>여러분의 차례!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C5CDE8"/>
                </a:solidFill>
                <a:latin typeface="Malgun Gothic"/>
                <a:ea typeface="Malgun Gothic"/>
              </a:rPr>
              <a:t>미래의 원자력은 여러분 손에 달려 있어요!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어린이 연구원 여러분이 할 일! 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07" y="1554480"/>
            <a:ext cx="260604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❓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질문왕이 되자!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"왜?", "어떻게?"라고 묻는 순간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과학자의 꿈이 시작돼요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(러더포드도 그랬답니다!)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9787" y="1554480"/>
            <a:ext cx="260604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📚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과학과 친해지자!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책과 영상으로 신나는 과학 탐험!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오늘 배운 걸 가족에게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설명해 봐요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5867" y="1554480"/>
            <a:ext cx="260604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에너지를 아끼자!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안 쓰는 불 끄기, 플러그 뽑기!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지구를 지키는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첫걸음이에요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1947" y="1554480"/>
            <a:ext cx="2606040" cy="329184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algun Gothic"/>
                <a:ea typeface="Malgun Gothic"/>
              </a:rPr>
              <a:t>🌟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</a:rPr>
              <a:t>크게 꿈꾸자!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인공태양을 완성하고 우주로 나아갈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미래의 박사님이</a:t>
            </a:r>
            <a:br/>
            <a:r>
              <a:rPr sz="1300" b="0">
                <a:solidFill>
                  <a:srgbClr val="C5CDE8"/>
                </a:solidFill>
                <a:latin typeface="Malgun Gothic"/>
                <a:ea typeface="Malgun Gothic"/>
              </a:rPr>
              <a:t>바로 여러분!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166360"/>
            <a:ext cx="11002975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D43B"/>
                </a:solidFill>
                <a:latin typeface="Malgun Gothic"/>
                <a:ea typeface="Malgun Gothic"/>
              </a:rPr>
              <a:t>퀴리 부인도, 아인슈타인도 여러분만 한 어린이였어요. 다음 차례는 여러분! 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10!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OX 퀴즈! 안 쓰는 불을 끄고 전기를 아끼는 것도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지구를 지키는 일이다?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⭕  맞다!      ❌  아니다!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팔로 크게 ⭕ 나 ❌ 를 만들어 보세요! 💪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D43B"/>
                </a:solidFill>
                <a:latin typeface="Malgun Gothic"/>
                <a:ea typeface="Malgun Gothic"/>
              </a:rPr>
              <a:t>집에서 보는 견학 선물, 영상 꾸러미 🎁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495147" y="146304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🔬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과학하는 원연이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2"/>
              </a:rPr>
              <a:t>원자력연구원 공식!</a:t>
            </a:r>
            <a:br/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2"/>
              </a:rPr>
              <a:t>쉽고 재미있는 원자력 이야기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4335627" y="146304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D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🏢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한국원자력연구원 KAERI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3"/>
              </a:rPr>
              <a:t>오늘 견학한 진짜 연구소의</a:t>
            </a:r>
            <a:br/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3"/>
              </a:rPr>
              <a:t>신기한 연구 이야기</a:t>
            </a:r>
          </a:p>
        </p:txBody>
      </p:sp>
      <p:sp>
        <p:nvSpPr>
          <p:cNvPr id="6" name="Rounded Rectangle 5">
            <a:hlinkClick r:id="rId4"/>
          </p:cNvPr>
          <p:cNvSpPr/>
          <p:nvPr/>
        </p:nvSpPr>
        <p:spPr>
          <a:xfrm>
            <a:off x="8176107" y="146304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9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⚡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한수원 KHNP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4"/>
              </a:rPr>
              <a:t>원자력발전소를 운영하는</a:t>
            </a:r>
            <a:br/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4"/>
              </a:rPr>
              <a:t>회사의 이야기</a:t>
            </a:r>
          </a:p>
        </p:txBody>
      </p:sp>
      <p:sp>
        <p:nvSpPr>
          <p:cNvPr id="7" name="Rounded Rectangle 6">
            <a:hlinkClick r:id="rId5"/>
          </p:cNvPr>
          <p:cNvSpPr/>
          <p:nvPr/>
        </p:nvSpPr>
        <p:spPr>
          <a:xfrm>
            <a:off x="495147" y="370332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69DB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📺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EBS 클립뱅크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5"/>
              </a:rPr>
              <a:t>5분 이내 교육 영상 전문!</a:t>
            </a:r>
            <a:br/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5"/>
              </a:rPr>
              <a:t>'원자력'을 검색해 보세요</a:t>
            </a:r>
          </a:p>
        </p:txBody>
      </p:sp>
      <p:sp>
        <p:nvSpPr>
          <p:cNvPr id="8" name="Rounded Rectangle 7">
            <a:hlinkClick r:id="rId6"/>
          </p:cNvPr>
          <p:cNvSpPr/>
          <p:nvPr/>
        </p:nvSpPr>
        <p:spPr>
          <a:xfrm>
            <a:off x="4335627" y="370332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📚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아꿈선 초등3분과학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6"/>
              </a:rPr>
              <a:t>선생님들이 만든</a:t>
            </a:r>
            <a:br/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6"/>
              </a:rPr>
              <a:t>3분 초등 과학 영상</a:t>
            </a:r>
          </a:p>
        </p:txBody>
      </p:sp>
      <p:sp>
        <p:nvSpPr>
          <p:cNvPr id="9" name="Rounded Rectangle 8">
            <a:hlinkClick r:id="rId7"/>
          </p:cNvPr>
          <p:cNvSpPr/>
          <p:nvPr/>
        </p:nvSpPr>
        <p:spPr>
          <a:xfrm>
            <a:off x="8176107" y="3703320"/>
            <a:ext cx="3520440" cy="1965960"/>
          </a:xfrm>
          <a:prstGeom prst="roundRect">
            <a:avLst>
              <a:gd name="adj" fmla="val 9000"/>
            </a:avLst>
          </a:prstGeom>
          <a:solidFill>
            <a:srgbClr val="2A3268"/>
          </a:solidFill>
          <a:ln w="22225">
            <a:solidFill>
              <a:srgbClr val="FF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Malgun Gothic"/>
                <a:ea typeface="Malgun Gothic"/>
              </a:rPr>
              <a:t>🔍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</a:rPr>
              <a:t>생활 속 방사선 (짧은 영상)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7"/>
              </a:rPr>
              <a:t>우리 곁의 고마운 방사선 이야기,</a:t>
            </a:r>
            <a:br/>
            <a:r>
              <a:rPr sz="1200" b="0">
                <a:solidFill>
                  <a:srgbClr val="C5CDE8"/>
                </a:solidFill>
                <a:latin typeface="Malgun Gothic"/>
                <a:ea typeface="Malgun Gothic"/>
                <a:hlinkClick r:id="rId7"/>
              </a:rPr>
              <a:t>4분 이내 영상만 골라 봐요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100297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8D97C4"/>
                </a:solidFill>
                <a:latin typeface="Malgun Gothic"/>
                <a:ea typeface="Malgun Gothic"/>
              </a:rPr>
              <a:t>집에서 부모님과 함께 보세요! 카드를 클릭하면 채널로 이동해요 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FF7B7B"/>
                </a:solidFill>
                <a:latin typeface="Malgun Gothic"/>
                <a:ea typeface="Malgun Gothic"/>
              </a:rPr>
              <a:t>⭐ 깜짝 퀴즈 11!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100297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000" b="0">
                <a:solidFill>
                  <a:srgbClr val="FFFFFF"/>
                </a:solidFill>
                <a:latin typeface="Malgun Gothic"/>
                <a:ea typeface="Malgun Gothic"/>
              </a:rPr>
              <a:t>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10180015" cy="2697480"/>
          </a:xfrm>
          <a:prstGeom prst="roundRect">
            <a:avLst>
              <a:gd name="adj" fmla="val 8000"/>
            </a:avLst>
          </a:prstGeom>
          <a:solidFill>
            <a:srgbClr val="2A3268"/>
          </a:solidFill>
          <a:ln w="25400">
            <a:solidFill>
              <a:srgbClr val="B19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F7B7B"/>
                </a:solidFill>
                <a:latin typeface="Malgun Gothic"/>
                <a:ea typeface="Malgun Gothic"/>
              </a:rPr>
              <a:t>어린이 연구원 자격 시험!</a:t>
            </a:r>
          </a:p>
          <a:p>
            <a:pPr algn="ctr">
              <a:lnSpc>
                <a:spcPct val="125000"/>
              </a:lnSpc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마지막 문제! 나도 미래의 원자력 박사가</a:t>
            </a:r>
            <a:br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될 수 있다?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>
                <a:solidFill>
                  <a:srgbClr val="C5CDE8"/>
                </a:solidFill>
                <a:latin typeface="Malgun Gothic"/>
                <a:ea typeface="Malgun Gothic"/>
              </a:rPr>
              <a:t>⭕  당연하다!      ❌  아니다!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8D97C4"/>
                </a:solidFill>
                <a:latin typeface="Malgun Gothic"/>
                <a:ea typeface="Malgun Gothic"/>
              </a:rPr>
              <a:t>팔로 크게 ⭕ 나 ❌ 를 만들어 보세요! 💪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98280" y="942975"/>
            <a:ext cx="2468880" cy="857250"/>
          </a:xfrm>
          <a:prstGeom prst="ellipse">
            <a:avLst/>
          </a:prstGeom>
          <a:noFill/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3600000">
            <a:off x="9098280" y="942975"/>
            <a:ext cx="2468880" cy="857250"/>
          </a:xfrm>
          <a:prstGeom prst="ellipse">
            <a:avLst/>
          </a:prstGeom>
          <a:noFill/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7200000">
            <a:off x="9098280" y="942975"/>
            <a:ext cx="2468880" cy="857250"/>
          </a:xfrm>
          <a:prstGeom prst="ellipse">
            <a:avLst/>
          </a:prstGeom>
          <a:noFill/>
          <a:ln w="31750">
            <a:solidFill>
              <a:srgbClr val="5F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78974" y="1159002"/>
            <a:ext cx="288036" cy="288036"/>
          </a:xfrm>
          <a:prstGeom prst="ellipse">
            <a:avLst/>
          </a:prstGeom>
          <a:solidFill>
            <a:srgbClr val="FF9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98430" y="1159002"/>
            <a:ext cx="288036" cy="288036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88702" y="1323594"/>
            <a:ext cx="288036" cy="288036"/>
          </a:xfrm>
          <a:prstGeom prst="ellipse">
            <a:avLst/>
          </a:prstGeom>
          <a:solidFill>
            <a:srgbClr val="FF94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69730" y="1268730"/>
            <a:ext cx="137160" cy="137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1405890"/>
            <a:ext cx="137160" cy="137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95560" y="702945"/>
            <a:ext cx="137160" cy="137160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FD43B"/>
                </a:solidFill>
                <a:latin typeface="Malgun Gothic"/>
                <a:ea typeface="Malgun Gothic"/>
              </a:rPr>
              <a:t>1일 어린이 연구원 수료를 축하합니다! 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554480"/>
            <a:ext cx="8412480" cy="713232"/>
          </a:xfrm>
          <a:prstGeom prst="roundRect">
            <a:avLst>
              <a:gd name="adj" fmla="val 3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🏢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원자력연구원은 원자력으로 사람들을 돕는 방법을 연구하는 곳!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95728"/>
            <a:ext cx="8412480" cy="713232"/>
          </a:xfrm>
          <a:prstGeom prst="roundRect">
            <a:avLst>
              <a:gd name="adj" fmla="val 3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🔍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뢴트겐, 퀴리, 아인슈타인... 위대한 발견 릴레이가 원자력을 만들었어요!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36976"/>
            <a:ext cx="8412480" cy="713232"/>
          </a:xfrm>
          <a:prstGeom prst="roundRect">
            <a:avLst>
              <a:gd name="adj" fmla="val 3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🏭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발전소·병원·공항·농장, 곳곳에서 원자력이 대활약!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78224"/>
            <a:ext cx="8412480" cy="713232"/>
          </a:xfrm>
          <a:prstGeom prst="roundRect">
            <a:avLst>
              <a:gd name="adj" fmla="val 3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🚀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화성 로버의 원자력 전지, 1억 도 인공태양까지!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19472"/>
            <a:ext cx="8412480" cy="713232"/>
          </a:xfrm>
          <a:prstGeom prst="roundRect">
            <a:avLst>
              <a:gd name="adj" fmla="val 32000"/>
            </a:avLst>
          </a:prstGeom>
          <a:solidFill>
            <a:srgbClr val="2A3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0">
                <a:solidFill>
                  <a:srgbClr val="FFD43B"/>
                </a:solidFill>
                <a:latin typeface="Malgun Gothic"/>
                <a:ea typeface="Malgun Gothic"/>
              </a:rPr>
              <a:t>🌟  </a:t>
            </a: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그리고 미래의 주인공은... 바로 여러분!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45775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FFD43B"/>
                </a:solidFill>
                <a:latin typeface="Malgun Gothic"/>
                <a:ea typeface="Malgun Gothic"/>
              </a:rPr>
              <a:t>미래의 진짜 연구원이 되어 다시 만나요! 고마워요, 안녕!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