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(반갑게 인사하며)</a:t>
            </a:r>
          </a:p>
          <a:p>
            <a:r>
              <a:t>안녕하세요, 여러분! 저는 한국원자력연구원에서 온 연구원 ○○○입니다.</a:t>
            </a:r>
          </a:p>
          <a:p>
            <a:r>
              <a:t>오늘 여러분에게 아주 특별한 자격을 드리려고 해요. 바로... '1일 어린이 연구원'!</a:t>
            </a:r>
          </a:p>
          <a:p>
            <a:r>
              <a:t>지금부터 여러분은 하루 동안 원자력연구원의 진짜 연구원이 되어서,</a:t>
            </a:r>
          </a:p>
          <a:p>
            <a:r>
              <a:t>연구원이 무슨 일을 하는지, 원자력이 뭔지, 미래의 원자력은 어떤 모습인지 다섯 구역을 견학할 거예요.</a:t>
            </a:r>
          </a:p>
          <a:p>
            <a:r>
              <a:t>어린이 연구원 여러분, 준비됐나요? 큰 소리로 "네!" 하고 대답해 볼까요? 자, 견학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견학할 곳은 모두 다섯 구역이에요.</a:t>
            </a:r>
          </a:p>
          <a:p>
            <a:r>
              <a:t>1구역에서는 원자력연구원이 무슨 일을 하는 곳인지 알아보고,</a:t>
            </a:r>
          </a:p>
          <a:p>
            <a:r>
              <a:t>2구역 '원자력 기초실'에서는 원자력이 발견된 역사와 원자, 핵분열, 방사선의 비밀을 배워요.</a:t>
            </a:r>
          </a:p>
          <a:p>
            <a:r>
              <a:t>3구역 '원자력 이용관'에서는 발전소, 병원, 공항 곳곳에서 원자력이 어떻게 쓰이는지,</a:t>
            </a:r>
          </a:p>
          <a:p>
            <a:r>
              <a:t>4구역 '미래 기술관'에서는 우주 배터리와 인공태양 같은 신기한 미래 기술을 구경해요.</a:t>
            </a:r>
          </a:p>
          <a:p>
            <a:r>
              <a:t>그리고 마지막 5구역! 미래를 위해 어린이 연구원 여러분이 해야 할 멋진 역할을 알려드릴게요.</a:t>
            </a:r>
          </a:p>
          <a:p>
            <a:r>
              <a:t>구역을 옮길 때마다 깜짝 퀴즈가 나오니까 집중! 다 통과하면 수료증을 드립니다. 출발~!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 견학 구역에 들어왔어요!</a:t>
            </a:r>
          </a:p>
          <a:p>
            <a:r>
              <a:t>여러분, '한국원자력연구원'이라는 곳을 들어본 적 있나요?</a:t>
            </a:r>
          </a:p>
          <a:p>
            <a:r>
              <a:t>대전에 있는 우리나라에서 제일 큰 원자력 연구소인데요, 수천 명의 과학자 선생님들이 일하고 있어요.</a:t>
            </a:r>
          </a:p>
          <a:p>
            <a:r>
              <a:t>그런데 도대체 여기서 무슨 일을 하는 걸까요? 지금부터 공개합니다!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원자력연구원에서 하는 일, 대공개합니다!</a:t>
            </a:r>
          </a:p>
          <a:p>
            <a:r>
              <a:t>첫째, 새로운 원자로 만들기! 더 안전하고 더 똑똑한 원자로를 설계하고 연구해요.</a:t>
            </a:r>
          </a:p>
          <a:p>
            <a:r>
              <a:t>둘째, 아픈 사람을 돕는 특별한 약, '방사성의약품'을 만들어요. 이 약은 몸속에서 아픈 곳을 콕 찾아가서 치료를 도와줘요. 아픈 어린이들을 위한 약도 연구원이 안전하게 공급하고 있답니다.</a:t>
            </a:r>
          </a:p>
          <a:p>
            <a:r>
              <a:t>셋째, '하나로'라는 연구용 원자로를 운영해요. 우리나라 과학자들이 직접 설계하고 만든 원자로인데, 전기를 만드는 게 아니라 신기한 재료와 약을 연구하는 데 써요.</a:t>
            </a:r>
          </a:p>
          <a:p>
            <a:r>
              <a:t>넷째, 우주에서 쓰는 원자력 전지 같은 미래 기술도 연구해요!</a:t>
            </a:r>
          </a:p>
          <a:p>
            <a:r>
              <a:t>한마디로 원자력연구원은 '원자력으로 사람들을 돕는 방법'을 연구하는 곳이에요. 멋지죠?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우리나라 원자력의 역사는 정말 자랑스러운 성장 이야기예요.</a:t>
            </a:r>
          </a:p>
          <a:p>
            <a:r>
              <a:t>처음 1978년에 '고리 1호기'라는 첫 발전소를 지을 때는 외국의 도움을 받아야 했어요.</a:t>
            </a:r>
          </a:p>
          <a:p>
            <a:r>
              <a:t>그런데 우리나라 과학자들이 열심히 공부하고 연구해서, 딱 20년 만에 100% 우리 기술로 원자로를 만들게 됐죠!</a:t>
            </a:r>
          </a:p>
          <a:p>
            <a:r>
              <a:t>그리고 이제는 거꾸로 우리가 만든 발전소를 아랍에미리트 같은 다른 나라에 수출까지 해요. 연구용 원자로는 요르단에도 수출했고요.</a:t>
            </a:r>
          </a:p>
          <a:p>
            <a:r>
              <a:t>배우던 나라에서 가르쳐 주는 나라가 된 거예요! 이 모든 과정을 원자력연구원이 함께했답니다.</a:t>
            </a:r>
          </a:p>
          <a:p>
            <a:r>
              <a:t>여러분도 어깨가 으쓱하지 않나요?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첫 번째 어린이 연구원 자격 시험!</a:t>
            </a:r>
          </a:p>
          <a:p>
            <a:r>
              <a:t>원자력연구원에서 하는 일이 아닌 것은? 손가락으로 번호! 하나, 둘, 셋!</a:t>
            </a:r>
          </a:p>
          <a:p>
            <a:r>
              <a:t>정답은 ③번, 치킨 배달! 하하, 연구원에서 치킨은 배달시켜 먹기만 해요.</a:t>
            </a:r>
          </a:p>
          <a:p>
            <a:r>
              <a:t>새로운 원자로 연구와 아픈 사람을 돕는 약 만들기는 진짜로 하는 일이죠.</a:t>
            </a:r>
          </a:p>
          <a:p>
            <a:r>
              <a:t>전원 통과! 다음 구역으로 이동합니다~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구역, '원자력 기초실'에 들어왔어요!</a:t>
            </a:r>
          </a:p>
          <a:p>
            <a:r>
              <a:t>여기서는 원자력이 언제 어떻게 발견됐는지, 그리고 원자, 핵분열, 방사선이 뭔지 배워요.</a:t>
            </a:r>
          </a:p>
          <a:p>
            <a:r>
              <a:t>조금 어려운 말이 나와도 걱정 마세요. 아주 쉽고 재미있게 알려드릴게요!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원자력은 어느 날 뚝딱 나타난 게 아니라, 과학자 탐정들이 릴레이로 발견해 온 거예요.</a:t>
            </a:r>
          </a:p>
          <a:p>
            <a:r>
              <a:t>1911년, 러더포드라는 과학자가 원자 속 한가운데에 '원자핵'이 있다는 것을 알아냈어요.</a:t>
            </a:r>
          </a:p>
          <a:p>
            <a:r>
              <a:t>1932년에는 채드윅이 원자핵 속에서 '중성자'라는 알갱이를 찾아냈고요.</a:t>
            </a:r>
          </a:p>
          <a:p>
            <a:r>
              <a:t>1938년, 한과 마이트너라는 과학자들이 드디어 '핵분열'을 발견했어요! 원자핵이 쪼개지면서 큰 에너지가 나온다는 걸 알게 된 거죠.</a:t>
            </a:r>
          </a:p>
          <a:p>
            <a:r>
              <a:t>그리고 1953년부터 세계가 약속했어요. "이 힘을 사이좋게 전기 만들기에 쓰자!"</a:t>
            </a:r>
          </a:p>
          <a:p>
            <a:r>
              <a:t>그렇게 해서 지금 우리가 원자력으로 전기를 만들 수 있게 된 거랍니다. 과학자 탐정들, 고마워요!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원자력을 알려면 먼저 '원자'부터 만나야 해요.</a:t>
            </a:r>
          </a:p>
          <a:p>
            <a:r>
              <a:t>여러분, 레고 블록 좋아하죠? 작은 블록을 모으면 집도, 자동차도, 공룡도 만들 수 있잖아요.</a:t>
            </a:r>
          </a:p>
          <a:p>
            <a:r>
              <a:t>세상 모든 것도 똑같아요! 책도, 사과도, 물도, 강아지도, 우리 몸도 전부 아주아주 작은 블록으로 만들어져 있어요. 그 블록의 이름이 바로 '원자'예요.</a:t>
            </a:r>
          </a:p>
          <a:p>
            <a:r>
              <a:t>얼마나 작냐면요, 원자 1억 개를 한 줄로 쭉 세워야 겨우 1센티미터예요. 새끼손톱 너비 정도!</a:t>
            </a:r>
          </a:p>
          <a:p>
            <a:r>
              <a:t>원자를 축구장만큼 뻥 튀겨보면, 한가운데 있는 '원자핵'은 축구공만 하고, 주위를 쌩쌩 도는 '전자'는 개미만 해요. 원자 속은 거의 텅 비어 있는 거죠.</a:t>
            </a:r>
          </a:p>
          <a:p>
            <a:r>
              <a:t>그런데 이 작디작은 원자핵이 변신할 때 어마어마한 힘이 나와요. 그 힘이 바로 '원자력'이랍니다!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자격 시험!</a:t>
            </a:r>
          </a:p>
          <a:p>
            <a:r>
              <a:t>세상 모든 것을 쪼개고 쪼개면 마지막에 남는 작은 블록은? 하나, 둘, 셋!</a:t>
            </a:r>
          </a:p>
          <a:p>
            <a:r>
              <a:t>정답은 ②번, 원자! 딩동댕~</a:t>
            </a:r>
          </a:p>
          <a:p>
            <a:r>
              <a:t>책도, 사과도, 우리 몸도 전부 원자로 만들어졌다고 했죠?</a:t>
            </a:r>
          </a:p>
          <a:p>
            <a:r>
              <a:t>보너스: 원자 1억 개를 한 줄로 세우면? 맞아요, 겨우 1센티미터! 대단해요, 모두 통과!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아까 과학자 탐정들이 발견했다는 '핵분열', 직접 볼까요? (그림 순서대로 가리키며)</a:t>
            </a:r>
          </a:p>
          <a:p>
            <a:r>
              <a:t>'우라늄'이라는 아주 무거운 원자가 있어요. 여기에 작은 알갱이 '중성자'가 콩! 하고 부딪히면...</a:t>
            </a:r>
          </a:p>
          <a:p>
            <a:r>
              <a:t>우라늄 원자핵이 쫙! 하고 두 조각으로 쪼개져요. 이게 바로 '핵분열'! 핵이 나뉜다는 뜻이에요.</a:t>
            </a:r>
          </a:p>
          <a:p>
            <a:r>
              <a:t>쪼개질 때 뜨거운 열이 팡! 나오고, 중성자 친구들 세 개가 튀어나와요.</a:t>
            </a:r>
          </a:p>
          <a:p>
            <a:r>
              <a:t>그 중성자들이 옆의 다른 우라늄을 또 콩! 쪼개고, 거기서 나온 중성자가 또 쪼개고...</a:t>
            </a:r>
          </a:p>
          <a:p>
            <a:r>
              <a:t>도미노처럼 계속 이어져요! 그래서 아주아주 큰 에너지가 계속 나오는 거예요.</a:t>
            </a:r>
          </a:p>
          <a:p>
            <a:r>
              <a:t>사탕만 한 우라늄 조각 하나가 코끼리 무게만큼의 석탄과 같은 힘을 낸다는 사실!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'방사선', '방사능'... 어려운 말 같지만 전구 하나면 이해할 수 있어요!</a:t>
            </a:r>
          </a:p>
          <a:p>
            <a:r>
              <a:t>전구에서 나오는 빛이 '방사선'이에요. 그리고 전구가 빛을 낼 수 있는 능력이 '방사능'이고요.</a:t>
            </a:r>
          </a:p>
          <a:p>
            <a:r>
              <a:t>방사선은 눈에 보이지 않는 에너지 빛이에요. 영화에서처럼 스파이더맨이 되거나 헐크가 되는 건 다~ 상상이고요!</a:t>
            </a:r>
          </a:p>
          <a:p>
            <a:r>
              <a:t>놀라운 사실! 방사선은 원래부터 우리 주변 어디에나 조금씩 있어요. 하늘의 햇빛 속에도, 땅과 돌에도, 심지어 우리가 먹는 바나나에도요.</a:t>
            </a:r>
          </a:p>
          <a:p>
            <a:r>
              <a:t>이 정도 방사선은 우리 몸에 아무렇지도 않아요. 옛날 사람들도 다 이 속에서 건강하게 살아왔거든요.</a:t>
            </a:r>
          </a:p>
          <a:p>
            <a:r>
              <a:t>게다가 과학자들이 특별한 기계로 방사선을 늘 재면서 우리를 지켜주고 있으니 안심!</a:t>
            </a:r>
          </a:p>
          <a:p>
            <a:r>
              <a:t>그럼 이 방사선이 우리 생활에서 어떤 멋진 일을 하는지, 다음 구역에서 확인해 봅시다!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번째는 OX 시험!</a:t>
            </a:r>
          </a:p>
          <a:p>
            <a:r>
              <a:t>방사선은 햇빛과 바나나에도 아주 조금 들어 있다, 맞을까요? 팔로 크게! 하나, 둘, 셋!</a:t>
            </a:r>
          </a:p>
          <a:p>
            <a:r>
              <a:t>정답은... 동그라미! 방사선은 원래부터 자연 어디에나 조금씩 있어요.</a:t>
            </a:r>
          </a:p>
          <a:p>
            <a:r>
              <a:t>물론 바나나는 아무리 먹어도 괜찮으니 걱정 말고 맛있게 먹어요!</a:t>
            </a:r>
          </a:p>
          <a:p>
            <a:r>
              <a:t>그리고 과학자들이 늘 지켜보고 있으니 안심! 모두 통과~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3~4분)</a:t>
            </a:r>
          </a:p>
          <a:p>
            <a:r>
              <a:t>기초실 견학을 마치기 전에, 영상 시청실에 들렀다 갈게요!</a:t>
            </a:r>
          </a:p>
          <a:p>
            <a:r>
              <a:t>왼쪽 카드를 누르면 한국원자력연구원의 공식 유튜브 '과학하는 원연이' 채널로 가요. 귀여운 캐릭터가 원자력 이야기를 들려줘요.</a:t>
            </a:r>
          </a:p>
          <a:p>
            <a:r>
              <a:t>오른쪽 카드를 누르면 어린이 눈높이의 4분 이내 짧은 영상만 골라서 보여줘요.</a:t>
            </a:r>
          </a:p>
          <a:p>
            <a:r>
              <a:t>(수업 전에 미리 영상을 하나 골라 두세요. 3~4분짜리 영상 하나면 충분해요.)</a:t>
            </a:r>
          </a:p>
          <a:p>
            <a:r>
              <a:t>영상 다 봤나요? 그럼 다음 구역, 원자력 이용관으로 출발!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구역, '원자력 이용관'입니다!</a:t>
            </a:r>
          </a:p>
          <a:p>
            <a:r>
              <a:t>원자력과 방사선이 우리 생활 곳곳에서 얼마나 대활약하고 있는지 보여드릴게요.</a:t>
            </a:r>
          </a:p>
          <a:p>
            <a:r>
              <a:t>전기를 만드는 발전소부터, 병원, 공항, 농장까지! 자, 들어가 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 이용의 대표 선수, 발전소부터 볼게요. 발전소는 사실 아주 커다란 주전자예요!</a:t>
            </a:r>
          </a:p>
          <a:p>
            <a:r>
              <a:t>첫째, 아까 배운 핵분열! 원자핵이 쪼개지면서 아주아주 뜨거운 열이 나와요.</a:t>
            </a:r>
          </a:p>
          <a:p>
            <a:r>
              <a:t>둘째, 그 열로 물을 펄펄 끓여요. 그러면 수증기가 생기죠!</a:t>
            </a:r>
          </a:p>
          <a:p>
            <a:r>
              <a:t>셋째, 그 수증기가 커다란 바람개비(어른들은 '터빈'이라고 불러요)를 빙글빙글~ 돌려요.</a:t>
            </a:r>
          </a:p>
          <a:p>
            <a:r>
              <a:t>넷째, 바람개비에 붙은 발전기가 돌면서 전기가 반짝! 만들어져요.</a:t>
            </a:r>
          </a:p>
          <a:p>
            <a:r>
              <a:t>이 전기가 전선을 타고 우리 집까지 와요. 석탄처럼 태우는 게 아니라서 연기 없이 깨끗하고요, 지금 우리나라 전기의 약 3분의 1을 원자력이 만들고 있어요.</a:t>
            </a:r>
          </a:p>
          <a:p>
            <a:r>
              <a:t>그리고 발전소는 다섯 겹 갑옷(방호벽)을 입고 있고, 과학자들이 24시간 지키고 있어서 안심이랍니다!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3~4분)</a:t>
            </a:r>
          </a:p>
          <a:p>
            <a:r>
              <a:t>방금 배운 '커다란 주전자' 이야기를 영상으로 확인해 볼까요?</a:t>
            </a:r>
          </a:p>
          <a:p>
            <a:r>
              <a:t>카드를 클릭하면 4분 이내의 짧은 영상만 골라서 보여주도록 되어 있어요. 그중에 그림이 예쁘고 쉬운 것을 하나 고르면 됩니다.</a:t>
            </a:r>
          </a:p>
          <a:p>
            <a:r>
              <a:t>영상을 보면서 아까 배운 네 단계(쪼개지고 → 끓이고 → 돌리고 → 반짝!)를 찾아보세요.</a:t>
            </a:r>
          </a:p>
          <a:p>
            <a:r>
              <a:t>(수업 전에 영상을 미리 하나 골라 두세요. 검색 결과에는 '4분 이내' 필터가 걸려 있어요.)</a:t>
            </a:r>
          </a:p>
          <a:p>
            <a:r>
              <a:t>영상 속에서 바람개비(터빈)를 찾은 어린이 연구원, 손! 관찰력이 대단한데요?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원자력이 제일 멋지게 활약하는 곳, 바로 병원이에요!</a:t>
            </a:r>
          </a:p>
          <a:p>
            <a:r>
              <a:t>병원에서 뼈 사진 찍어본 친구 있나요? 그 '엑스레이'가 바로 방사선이에요. 팔이 부러졌는지 몸을 열어보지 않고도 찰칵 찍어서 알 수 있죠.</a:t>
            </a:r>
          </a:p>
          <a:p>
            <a:r>
              <a:t>그리고 원자력연구원이 만드는 '방사성의약품'이라는 특별한 약이 있어요. 이 약은 몸속에서 아픈 곳만 콕 찾아가는 똑똑한 약이에요. 아픈 어린이들을 위한 귀한 약도 연구원이 안전하게 만들어 공급하고 있답니다.</a:t>
            </a:r>
          </a:p>
          <a:p>
            <a:r>
              <a:t>또, 방사선으로 나쁜 세포(암)를 겨냥해서 물리치는 치료도 해요.</a:t>
            </a:r>
          </a:p>
          <a:p>
            <a:r>
              <a:t>원자력은 아픈 사람들을 살리는 병원의 슈퍼 히어로인 셈이죠!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자격 시험!</a:t>
            </a:r>
          </a:p>
          <a:p>
            <a:r>
              <a:t>원자력발전소는 무엇을 펄펄 끓여서 전기를 만들까요? 하나, 둘, 셋!</a:t>
            </a:r>
          </a:p>
          <a:p>
            <a:r>
              <a:t>정답은 ②번, 물! 핵분열의 뜨거운 열로 물을 끓이고,</a:t>
            </a:r>
          </a:p>
          <a:p>
            <a:r>
              <a:t>수증기로 바람개비(터빈)를 빙글빙글 돌려서 전기를 만든다고 했어요.</a:t>
            </a:r>
          </a:p>
          <a:p>
            <a:r>
              <a:t>커다란 주전자, 기억나죠? 참 잘했어요!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병원 말고도 방사선의 활약은 계속돼요!</a:t>
            </a:r>
          </a:p>
          <a:p>
            <a:r>
              <a:t>공항에서는 가방을 열지 않고도 속에 뭐가 들었는지 검사할 수 있어요. 비행기를 안전하게 지켜주죠.</a:t>
            </a:r>
          </a:p>
          <a:p>
            <a:r>
              <a:t>농장에서는 감자나 양파에 싹이 나지 않게 해서 오래오래 보관하게 도와줘요.</a:t>
            </a:r>
          </a:p>
          <a:p>
            <a:r>
              <a:t>공장에서는 큰 기계나 다리에 금이 갔는지 부수지 않고 검사해요. '비파괴 검사'라고 하는데, 부수지 않고 속을 본다는 뜻이에요.</a:t>
            </a:r>
          </a:p>
          <a:p>
            <a:r>
              <a:t>그리고 스마트폰에 들어가는 반도체나 새로운 재료를 만드는 데도 방사선 기술이 쓰인답니다.</a:t>
            </a:r>
          </a:p>
          <a:p>
            <a:r>
              <a:t>칼도 요리사가 조심해서 쓰면 맛있는 요리를 만들듯이, 방사선도 잘 알고 쓰면 이렇게 고마운 친구가 돼요!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이번엔 원자력연구원의 자랑, '가속기'를 소개할게요. 한마디로 알갱이 슈퍼 경주장이에요!</a:t>
            </a:r>
          </a:p>
          <a:p>
            <a:r>
              <a:t>원자핵 속에 있던 빨간 알갱이, '양성자' 기억나죠? 가속기는 이 양성자 선수를 빛의 속도 가까이까지 엄청나게 빠르게 달리게 하는 장치예요. 경주로 길이가 75미터나 된답니다!</a:t>
            </a:r>
          </a:p>
          <a:p>
            <a:r>
              <a:t>이렇게 빨라진 양성자가 다른 물질에 꽝! 부딪히면 신기한 일이 벌어져요.</a:t>
            </a:r>
          </a:p>
          <a:p>
            <a:r>
              <a:t>손톱으로도 긁히는 약한 플라스틱을 강철처럼 단단하게 만들 수도 있고요,</a:t>
            </a:r>
          </a:p>
          <a:p>
            <a:r>
              <a:t>병을 치료하는 약의 재료를 만들 수도 있어요. 우리나라에서 처음으로 이런 약 재료를 만들어 외국에 수출까지 했답니다!</a:t>
            </a:r>
          </a:p>
          <a:p>
            <a:r>
              <a:t>이 거대한 경주장이 경주와 정읍의 원자력연구원에 진짜로 있어요. 나중에 꼭 구경 와요!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번째 자격 시험!</a:t>
            </a:r>
          </a:p>
          <a:p>
            <a:r>
              <a:t>가속기 경주장에서 빛처럼 빨리 달리는 선수는? 하나, 둘, 셋!</a:t>
            </a:r>
          </a:p>
          <a:p>
            <a:r>
              <a:t>정답은 ②번, 양성자! 원자핵 속에 있던 그 빨간 알갱이 친구예요.</a:t>
            </a:r>
          </a:p>
          <a:p>
            <a:r>
              <a:t>치타도 빠르지만 양성자에 비하면 거북이 수준이죠. 하하.</a:t>
            </a:r>
          </a:p>
          <a:p>
            <a:r>
              <a:t>양성자가 꽝! 부딪히면 새로운 재료와 약이 만들어진다는 것도 기억해요! 통과~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구역, '미래 기술관'입니다!</a:t>
            </a:r>
          </a:p>
          <a:p>
            <a:r>
              <a:t>지금 과학자들은 더 안전하고 더 신기한 미래의 원자력을 만들고 있어요.</a:t>
            </a:r>
          </a:p>
          <a:p>
            <a:r>
              <a:t>우주에서 쓰는 배터리? 땅 위의 태양? 상상이 현실이 되는 곳, 들어가 볼까요!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 기술관의 첫 번째 전시물들입니다!</a:t>
            </a:r>
          </a:p>
          <a:p>
            <a:r>
              <a:t>첫째, 우주 배터리! 달이나 우주는 너무 춥고 어두워서 보통 배터리는 금방 죽어요. 그런데 원자력 전지는 10년 넘게 작동해요. 우리나라가 세계에서 세 번째로 만들었답니다!</a:t>
            </a:r>
          </a:p>
          <a:p>
            <a:r>
              <a:t>둘째, 미니 발전소 SMR! 발전소를 작게 만들어서 필요한 곳에 쏙 지을 수 있어요. 작아서 더 안전하고요.</a:t>
            </a:r>
          </a:p>
          <a:p>
            <a:r>
              <a:t>셋째, SMART라는 원자로는 전기도 만들면서 바닷물을 마실 수 있는 물로 바꿔줘요. 세계 최초로 안전 인증을 받은 우리 기술이에요!</a:t>
            </a:r>
          </a:p>
          <a:p>
            <a:r>
              <a:t>이런 기술이 있으면 전기와 물이 부족한 사막 나라들도 도와줄 수 있겠죠?</a:t>
            </a:r>
          </a:p>
          <a:p>
            <a:r>
              <a:t>전부 원자력연구원 과학자들이 지금 진짜로 연구하고 있는 기술이랍니다.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 기술관의 하이라이트! 땅 위의 태양, 인공태양이에요.</a:t>
            </a:r>
          </a:p>
          <a:p>
            <a:r>
              <a:t>하늘의 태양은 원자핵을 쪼개는 게 아니라 반대로 '합쳐서' 힘을 내요. 이걸 '핵융합'이라고 해요.</a:t>
            </a:r>
          </a:p>
          <a:p>
            <a:r>
              <a:t>과학자들은 이 태양의 비밀을 그대로 흉내 내서, 땅 위에 작은 태양을 만들고 있어요.</a:t>
            </a:r>
          </a:p>
          <a:p>
            <a:r>
              <a:t>우리나라의 인공태양 이름은 'KSTAR(케이스타)'! 무려 1억 도나 되는 뜨거운 불덩이를 만들어서 세계 최고 기록을 세웠어요. 태양 한가운데보다 몇 배나 뜨거운 온도예요!</a:t>
            </a:r>
          </a:p>
          <a:p>
            <a:r>
              <a:t>게다가 핵융합의 연료는 바닷물에서 얻을 수 있어서 거의 무한이에요. 그야말로 꿈의 에너지죠.</a:t>
            </a:r>
          </a:p>
          <a:p>
            <a:r>
              <a:t>이 인공태양이 완성되는 날, 세계의 에너지 걱정이 사라질 거예요. 그날을 만들 사람이 누구냐고요? 곧 알려드릴게요!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번째 자격 시험!</a:t>
            </a:r>
          </a:p>
          <a:p>
            <a:r>
              <a:t>우리나라 인공태양 KSTAR의 온도는? 하나, 둘, 셋!</a:t>
            </a:r>
          </a:p>
          <a:p>
            <a:r>
              <a:t>정답은 ③번, 1억 도! 태양 한가운데보다도 몇 배나 뜨거워요.</a:t>
            </a:r>
          </a:p>
          <a:p>
            <a:r>
              <a:t>그걸 우리나라 과학자들이 해냈다는 사실! 자랑스럽죠?</a:t>
            </a:r>
          </a:p>
          <a:p>
            <a:r>
              <a:t>이제 마지막 구역만 남았어요. 출발~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(영상 시청 시간, 2~4분)</a:t>
            </a:r>
          </a:p>
          <a:p>
            <a:r>
              <a:t>말로만 들으니 믿기지 않죠? 진짜 인공태양을 영상으로 보여드릴게요!</a:t>
            </a:r>
          </a:p>
          <a:p>
            <a:r>
              <a:t>왼쪽은 우리나라 인공태양 KSTAR가 세계 기록을 세웠다는 약 2분짜리 뉴스 영상이고, 오른쪽 카드는 4분 이내의 짧은 KSTAR 영상만 골라서 보여줘요.</a:t>
            </a:r>
          </a:p>
          <a:p>
            <a:r>
              <a:t>(수업 전에 영상을 미리 골라 두세요. 뉴스 영상은 2분 정도로 짧아서 보여주기 좋아요.)</a:t>
            </a:r>
          </a:p>
          <a:p>
            <a:r>
              <a:t>영상 잘 봤나요? 이제 대망의 마지막 구역으로 갑니다!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드디어 마지막 다섯 번째 구역이에요.</a:t>
            </a:r>
          </a:p>
          <a:p>
            <a:r>
              <a:t>지금까지 원자력연구원이 하는 일, 원자력의 기초, 이용, 미래 기술까지 다 견학했는데요.</a:t>
            </a:r>
          </a:p>
          <a:p>
            <a:r>
              <a:t>사실 이 견학에는 숨겨진 진짜 목적이 있었어요.</a:t>
            </a:r>
          </a:p>
          <a:p>
            <a:r>
              <a:t>바로... 미래의 원자력을 이끌어 갈 주인공을 찾는 것! 그 주인공이 누구냐고요?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미래의 원자력을 이끌어 갈 주인공은... 바로 여러분이에요!</a:t>
            </a:r>
          </a:p>
          <a:p>
            <a:r>
              <a:t>그래서 어린이 연구원 여러분에게 네 가지 임무를 드릴게요.</a:t>
            </a:r>
          </a:p>
          <a:p>
            <a:r>
              <a:t>첫째, 질문왕이 되세요! "왜 그럴까?", "어떻게 될까?" 하고 묻는 순간, 과학자의 꿈이 시작돼요. 러더포드도, 마이트너도 다 질문에서 시작했답니다.</a:t>
            </a:r>
          </a:p>
          <a:p>
            <a:r>
              <a:t>둘째, 과학과 친해지세요! 책도 읽고 영상도 보고, 오늘 배운 걸 가족들에게 설명해 주세요. 설명할 수 있으면 진짜 아는 거예요!</a:t>
            </a:r>
          </a:p>
          <a:p>
            <a:r>
              <a:t>셋째, 에너지를 아끼세요! 안 쓰는 불 끄기, 안 보는 TV 끄기. 작아 보여도 지구를 지키는 첫걸음이에요.</a:t>
            </a:r>
          </a:p>
          <a:p>
            <a:r>
              <a:t>넷째, 크게 꿈꾸세요! 인공태양을 완성하는 사람, 우주에서 원자력 전지를 쓰는 사람, 그게 바로 여러분일 수 있어요.</a:t>
            </a:r>
          </a:p>
          <a:p>
            <a:r>
              <a:t>오늘의 어린이 연구원이 내일의 진짜 연구원이 됩니다!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일곱 번째는 OX 시험!</a:t>
            </a:r>
          </a:p>
          <a:p>
            <a:r>
              <a:t>안 쓰는 불을 끄고 전기를 아끼는 것도 지구를 지키는 일이다? 팔로 크게! 하나, 둘, 셋!</a:t>
            </a:r>
          </a:p>
          <a:p>
            <a:r>
              <a:t>정답은... 동그라미! 전기를 만드는 데는 늘 소중한 에너지가 쓰여요.</a:t>
            </a:r>
          </a:p>
          <a:p>
            <a:r>
              <a:t>안 쓰는 불 끄기, 안 보는 TV 끄기! 작아 보여도 지구를 지키는 진짜 멋진 일이에요.</a:t>
            </a:r>
          </a:p>
          <a:p>
            <a:r>
              <a:t>어린이 연구원의 첫 번째 임무, 잊지 마세요!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견학을 마친 어린이 연구원들을 위한 선물, 영상 꾸러미입니다!</a:t>
            </a:r>
          </a:p>
          <a:p>
            <a:r>
              <a:t>'과학하는 원연이'는 오늘 견학한 한국원자력연구원이 직접 만드는 공식 유튜브 채널이에요. 귀여운 캐릭터가 나와요.</a:t>
            </a:r>
          </a:p>
          <a:p>
            <a:r>
              <a:t>'EBS 클립뱅크'는 5분 이내의 짧은 교육 영상만 모아둔 EBS 공식 채널이고, '아꿈선 초등3분과학'은 초등학교 선생님들이 만든 3분짜리 과학 영상 채널이라 눈높이에 딱 맞아요.</a:t>
            </a:r>
          </a:p>
          <a:p>
            <a:r>
              <a:t>검색 카드에는 모두 '4분 이내 영상만 보기' 필터가 걸려 있어서 짧고 쉬운 영상만 나와요.</a:t>
            </a:r>
          </a:p>
          <a:p>
            <a:r>
              <a:t>집에 가서 부모님과 함께 보면 더 좋아요! (이 슬라이드는 인쇄해서 나눠주거나, 학급 게시판에 공유해도 좋습니다.)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드디어 마지막 자격 시험! 아주 중요한 문제예요.</a:t>
            </a:r>
          </a:p>
          <a:p>
            <a:r>
              <a:t>나도 미래의 원자력 박사가 될 수 있다? 팔로 크게! 하나, 둘, 셋!</a:t>
            </a:r>
          </a:p>
          <a:p>
            <a:r>
              <a:t>정답은... 당연히 동그라미!!! 엑스 든 친구들, 다시 들어 볼까요? 동그라미!</a:t>
            </a:r>
          </a:p>
          <a:p>
            <a:r>
              <a:t>오늘 원자도 배우고, 핵분열도 배우고, 인공태양까지 본 여러분이라면 충분히 될 수 있어요.</a:t>
            </a:r>
          </a:p>
          <a:p>
            <a:r>
              <a:t>여덟 문제를 모두 통과한 여러분, 어린이 연구원 자격 시험 최종 합격입니다! 큰 박수~ 짝짝짝!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이제 수료식 시간입니다! 오늘 배운 것을 함께 외쳐 볼까요?</a:t>
            </a:r>
          </a:p>
          <a:p>
            <a:r>
              <a:t>원자력연구원은? (원자력으로 사람들을 돕는 방법을 연구하는 곳!)</a:t>
            </a:r>
          </a:p>
          <a:p>
            <a:r>
              <a:t>세상 모든 것은? (원자로 만들어졌다!) 원자핵이 쪼개지면? (큰 에너지가 나온다!)</a:t>
            </a:r>
          </a:p>
          <a:p>
            <a:r>
              <a:t>원자력은 발전소에서 전기를 만들고, 병원에서 아픈 사람을 돕고, 공항과 농장에서도 대활약하고 있어요.</a:t>
            </a:r>
          </a:p>
          <a:p>
            <a:r>
              <a:t>그리고 우주 배터리, 미니 발전소, 1억 도 인공태양 같은 미래 기술이 쑥쑥 자라고 있죠.</a:t>
            </a:r>
          </a:p>
          <a:p>
            <a:r>
              <a:t>그 미래를 완성할 주인공은 바로 여러분!</a:t>
            </a:r>
          </a:p>
          <a:p>
            <a:r>
              <a:t>1일 어린이 연구원 여러분, 모두 수료를 축하합니다! 나중에 진짜 연구원이 되어 원자력연구원에서 다시 만나요!</a:t>
            </a:r>
          </a:p>
          <a:p>
            <a:r>
              <a:t>끝까지 함께해 줘서 고마워요. 안녕~! (손 흔들기)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channel/UClh6ZbnWKnDAy50FOdg0SCA" TargetMode="External"/><Relationship Id="rId3" Type="http://schemas.openxmlformats.org/officeDocument/2006/relationships/hyperlink" Target="https://www.youtube.com/results?search_query=%EC%9B%90%EC%9E%90%EB%9E%80%20%EB%AC%B4%EC%97%87%EC%9D%BC%EA%B9%8C%20%EC%96%B4%EB%A6%B0%EC%9D%B4&amp;sp=EgIYAQ%3D%3D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%EC%9B%90%EC%9E%90%EB%A0%A5%20%EB%B0%9C%EC%A0%84%EC%86%8C%20%EC%9B%90%EB%A6%AC%20%EC%96%B4%EB%A6%B0%EC%9D%B4%20%EC%95%A0%EB%8B%88%EB%A9%94%EC%9D%B4%EC%85%98&amp;sp=EgIYAQ%3D%3D" TargetMode="External"/><Relationship Id="rId3" Type="http://schemas.openxmlformats.org/officeDocument/2006/relationships/hyperlink" Target="https://www.youtube.com/results?search_query=%EC%A0%84%EA%B8%B0%EB%8A%94%20%EC%96%B4%EB%96%BB%EA%B2%8C%20%EB%A7%8C%EB%93%A4%EC%96%B4%EC%A7%88%EA%B9%8C%20%EC%96%B4%EB%A6%B0%EC%9D%B4&amp;sp=EgIYAQ%3D%3D" TargetMode="Externa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watch?v=PlO5HHvMtu0" TargetMode="External"/><Relationship Id="rId3" Type="http://schemas.openxmlformats.org/officeDocument/2006/relationships/hyperlink" Target="https://www.youtube.com/results?search_query=%EC%9D%B8%EA%B3%B5%ED%83%9C%EC%96%91%20KSTAR&amp;sp=EgIYAQ%3D%3D" TargetMode="Externa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channel/UClh6ZbnWKnDAy50FOdg0SCA" TargetMode="External"/><Relationship Id="rId3" Type="http://schemas.openxmlformats.org/officeDocument/2006/relationships/hyperlink" Target="https://www.youtube.com/channel/UCs6Hup0lsGloYm6f3e7aqZw" TargetMode="External"/><Relationship Id="rId4" Type="http://schemas.openxmlformats.org/officeDocument/2006/relationships/hyperlink" Target="https://www.youtube.com/ikhnp" TargetMode="External"/><Relationship Id="rId5" Type="http://schemas.openxmlformats.org/officeDocument/2006/relationships/hyperlink" Target="https://www.youtube.com/c/EBSClipbank" TargetMode="External"/><Relationship Id="rId6" Type="http://schemas.openxmlformats.org/officeDocument/2006/relationships/hyperlink" Target="https://www.youtube.com/channel/UCWwNg2FT5WoHS5RmWageH-w" TargetMode="External"/><Relationship Id="rId7" Type="http://schemas.openxmlformats.org/officeDocument/2006/relationships/hyperlink" Target="https://www.youtube.com/results?search_query=%EC%83%9D%ED%99%9C%20%EC%86%8D%20%EB%B0%A9%EC%82%AC%EC%84%A0%20%EC%96%B4%EB%A6%B0%EC%9D%B4&amp;sp=EgIYAQ%3D%3D" TargetMode="External"/><Relationship Id="rId8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70064" y="1634490"/>
            <a:ext cx="4279392" cy="148590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3600000">
            <a:off x="7370064" y="1634490"/>
            <a:ext cx="4279392" cy="148590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7200000">
            <a:off x="7370064" y="1634490"/>
            <a:ext cx="4279392" cy="148590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69933" y="2008936"/>
            <a:ext cx="499262" cy="499262"/>
          </a:xfrm>
          <a:prstGeom prst="ellipse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50324" y="2008936"/>
            <a:ext cx="499262" cy="499262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60128" y="2294229"/>
            <a:ext cx="499262" cy="499262"/>
          </a:xfrm>
          <a:prstGeom prst="ellipse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67244" y="2199132"/>
            <a:ext cx="237744" cy="237744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173968" y="2436876"/>
            <a:ext cx="237744" cy="237744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72016" y="1218438"/>
            <a:ext cx="237744" cy="237744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37360"/>
            <a:ext cx="7680960" cy="3291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1">
                <a:solidFill>
                  <a:srgbClr val="5FD3F3"/>
                </a:solidFill>
                <a:latin typeface="Malgun Gothic"/>
                <a:ea typeface="Malgun Gothic"/>
              </a:rPr>
              <a:t>오늘 여러분을 특별히 임명합니다!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5800" b="1">
                <a:solidFill>
                  <a:srgbClr val="FFFFFF"/>
                </a:solidFill>
                <a:latin typeface="Malgun Gothic"/>
                <a:ea typeface="Malgun Gothic"/>
              </a:rPr>
              <a:t>1일 어린이 연구원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3200" b="1">
                <a:solidFill>
                  <a:srgbClr val="FFD43B"/>
                </a:solidFill>
                <a:latin typeface="Malgun Gothic"/>
                <a:ea typeface="Malgun Gothic"/>
              </a:rPr>
              <a:t>원자력연구원 탐방기 🔬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>
                <a:solidFill>
                  <a:srgbClr val="C5CDE8"/>
                </a:solidFill>
                <a:latin typeface="Malgun Gothic"/>
                <a:ea typeface="Malgun Gothic"/>
              </a:rPr>
              <a:t>연구원이 하는 일부터 미래의 원자력까지, 다섯 구역 견학 출발!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한국원자력연구원  |  초등학교 3~4학년 어린이 연구원 여러분과 함께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오늘의 견학 지도 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1431" y="16002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5FD3F3"/>
                </a:solidFill>
                <a:latin typeface="Malgun Gothic"/>
                <a:ea typeface="Malgun Gothic"/>
              </a:rPr>
              <a:t>1구역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0">
                <a:solidFill>
                  <a:srgbClr val="5FD3F3"/>
                </a:solidFill>
                <a:latin typeface="Malgun Gothic"/>
                <a:ea typeface="Malgun Gothic"/>
              </a:rPr>
              <a:t>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연구원은 무엇을 하는 곳?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67431" y="16002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FFD43B"/>
                </a:solidFill>
                <a:latin typeface="Malgun Gothic"/>
                <a:ea typeface="Malgun Gothic"/>
              </a:rPr>
              <a:t>2구역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0">
                <a:solidFill>
                  <a:srgbClr val="FFD43B"/>
                </a:solidFill>
                <a:latin typeface="Malgun Gothic"/>
                <a:ea typeface="Malgun Gothic"/>
              </a:rPr>
              <a:t>🔎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원자력 기초실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3431" y="16002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FF9457"/>
                </a:solidFill>
                <a:latin typeface="Malgun Gothic"/>
                <a:ea typeface="Malgun Gothic"/>
              </a:rPr>
              <a:t>3구역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0">
                <a:solidFill>
                  <a:srgbClr val="FF9457"/>
                </a:solidFill>
                <a:latin typeface="Malgun Gothic"/>
                <a:ea typeface="Malgun Gothic"/>
              </a:rPr>
              <a:t>🏭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원자력 이용관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39431" y="16002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B197FC"/>
                </a:solidFill>
                <a:latin typeface="Malgun Gothic"/>
                <a:ea typeface="Malgun Gothic"/>
              </a:rPr>
              <a:t>4구역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0">
                <a:solidFill>
                  <a:srgbClr val="B197FC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미래 기술관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25431" y="1600200"/>
            <a:ext cx="2084831" cy="3017520"/>
          </a:xfrm>
          <a:prstGeom prst="roundRect">
            <a:avLst>
              <a:gd name="adj" fmla="val 10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69DB7C"/>
                </a:solidFill>
                <a:latin typeface="Malgun Gothic"/>
                <a:ea typeface="Malgun Gothic"/>
              </a:rPr>
              <a:t>5구역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0">
                <a:solidFill>
                  <a:srgbClr val="69DB7C"/>
                </a:solidFill>
                <a:latin typeface="Malgun Gothic"/>
                <a:ea typeface="Malgun Gothic"/>
              </a:rPr>
              <a:t>🌟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여러분의 차례!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029200"/>
            <a:ext cx="11002975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C5CDE8"/>
                </a:solidFill>
                <a:latin typeface="Malgun Gothic"/>
                <a:ea typeface="Malgun Gothic"/>
              </a:rPr>
              <a:t>구역을 옮길 때마다 깜짝 퀴즈가 나와요! 다 통과하면 '미래 과학자 수료증'을 드려요 🏆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8D97C4"/>
                </a:solidFill>
                <a:latin typeface="Malgun Gothic"/>
                <a:ea typeface="Malgun Gothic"/>
              </a:rPr>
              <a:t>중간중간 재미있는 영상도 준비되어 있어요 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5FD3F3"/>
                </a:solidFill>
                <a:latin typeface="Malgun Gothic"/>
                <a:ea typeface="Malgun Gothic"/>
              </a:rPr>
              <a:t>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5FD3F3"/>
                </a:solidFill>
                <a:latin typeface="Malgun Gothic"/>
                <a:ea typeface="Malgun Gothic"/>
              </a:rPr>
              <a:t>견학 1구역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연구원은 무엇을 하는 곳?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3,500명의 과학자가 일하는 신기한 연구소!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원자력연구원에서 하는 일 대공개!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554480"/>
            <a:ext cx="2606040" cy="32004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🔩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새로운 원자로 만들기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더 안전하고 더 똑똑한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원자로를 설계하고 연구해요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554480"/>
            <a:ext cx="2606040" cy="32004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💊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아픈 사람 돕는 약 만들기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방사성의약품으로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아픈 곳을 찾아 치료해요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554480"/>
            <a:ext cx="2606040" cy="32004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연구용 원자로 '하나로'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우리 손으로 만든 원자로로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신기한 재료를 연구해요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554480"/>
            <a:ext cx="2606040" cy="32004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우주·미래 기술 연구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우주에서 쓰는 원자력 전지도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연구원이 만들었어요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12064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D43B"/>
                </a:solidFill>
                <a:latin typeface="Malgun Gothic"/>
                <a:ea typeface="Malgun Gothic"/>
              </a:rPr>
              <a:t>한마디로, 원자력으로 사람들을 돕는 방법을 연구하는 곳이에요! 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우리나라 원자력의 자랑스러운 기록 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567" y="1645920"/>
            <a:ext cx="256032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🌱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처음에는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외국의 도움을 받아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첫 발전소를 지었어요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(1978년 고리 1호기)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05175" y="2971800"/>
            <a:ext cx="292608" cy="41148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52647" y="1645920"/>
            <a:ext cx="256032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💪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20년 만에!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100% 우리 기술로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원자로를 만들게 됐어요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(한국 표준형 원전)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31255" y="2971800"/>
            <a:ext cx="292608" cy="41148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78727" y="1645920"/>
            <a:ext cx="256032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이제는 수출!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우리가 만든 발전소를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다른 나라에 수출해요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(아랍에미리트, 요르단)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857335" y="2971800"/>
            <a:ext cx="292608" cy="41148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204807" y="1645920"/>
            <a:ext cx="256032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🏆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지금은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세계가 인정하는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원자력 기술 최강국!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어깨가 으쓱!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16636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C5CDE8"/>
                </a:solidFill>
                <a:latin typeface="Malgun Gothic"/>
                <a:ea typeface="Malgun Gothic"/>
              </a:rPr>
              <a:t>배우던 나라에서 가르쳐 주는 나라로! 이 모든 과정을 원자력연구원이 함께했어요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7B7B"/>
                </a:solidFill>
                <a:latin typeface="Malgun Gothic"/>
                <a:ea typeface="Malgun Gothic"/>
              </a:rPr>
              <a:t>⭐ 깜짝 퀴즈 1!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원자력연구원에서 하는 일이 아닌 것은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새로운 원자로 연구      ②  아픈 사람 돕는 약 만들기      ③  치킨 배달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FFD43B"/>
                </a:solidFill>
                <a:latin typeface="Malgun Gothic"/>
                <a:ea typeface="Malgun Gothic"/>
              </a:rPr>
              <a:t>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FFD43B"/>
                </a:solidFill>
                <a:latin typeface="Malgun Gothic"/>
                <a:ea typeface="Malgun Gothic"/>
              </a:rPr>
              <a:t>견학 2구역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원자력 기초실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원자력은 언제, 어떻게 발견됐을까?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과학자 탐정들의 발견 릴레이 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567" y="1645920"/>
            <a:ext cx="2560320" cy="292608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1911년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러더포드 탐정,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원자 속 '원자핵'을 발견!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05175" y="2880360"/>
            <a:ext cx="292608" cy="41148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52647" y="1645920"/>
            <a:ext cx="2560320" cy="292608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🎯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1932년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채드윅 탐정,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'중성자'를 발견!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31255" y="2880360"/>
            <a:ext cx="292608" cy="41148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78727" y="1645920"/>
            <a:ext cx="2560320" cy="292608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1938년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한 &amp; 마이트너 탐정,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'핵분열'을 발견!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857335" y="2880360"/>
            <a:ext cx="292608" cy="41148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204807" y="1645920"/>
            <a:ext cx="2560320" cy="292608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1953년~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세계가 약속!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"사이좋게 전기 만들기에 쓰자"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983480"/>
            <a:ext cx="11002975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C5CDE8"/>
                </a:solidFill>
                <a:latin typeface="Malgun Gothic"/>
                <a:ea typeface="Malgun Gothic"/>
              </a:rPr>
              <a:t>과학자들이 릴레이로 이어온 발견 덕분에, 지금 우리가 원자력을 쓸 수 있는 거예요!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모든 것의 블록, 원자! 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5FD3F3"/>
                </a:solidFill>
                <a:latin typeface="Malgun Gothic"/>
                <a:ea typeface="Malgun Gothic"/>
              </a:rPr>
              <a:t>🎲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100" b="1">
                <a:solidFill>
                  <a:srgbClr val="FFFFFF"/>
                </a:solidFill>
                <a:latin typeface="Malgun Gothic"/>
                <a:ea typeface="Malgun Gothic"/>
              </a:rPr>
              <a:t>세상 모든 것은</a:t>
            </a:r>
            <a:br/>
            <a:r>
              <a:rPr sz="2100" b="1">
                <a:solidFill>
                  <a:srgbClr val="FFFFFF"/>
                </a:solidFill>
                <a:latin typeface="Malgun Gothic"/>
                <a:ea typeface="Malgun Gothic"/>
              </a:rPr>
              <a:t>원자 블록으로!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레고 블록으로 집도 공룡도 만들 수 있듯이,</a:t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책도 🍎사과도 💧물도 🐶강아지도</a:t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그리고 우리 몸도 전부 원자로 만들어졌어요!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0876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FFD43B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100" b="1">
                <a:solidFill>
                  <a:srgbClr val="FFFFFF"/>
                </a:solidFill>
                <a:latin typeface="Malgun Gothic"/>
                <a:ea typeface="Malgun Gothic"/>
              </a:rPr>
              <a:t>얼마나 작냐면요!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원자 1억 개를 한 줄로 세우면 겨우 1cm!</a:t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/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원자를 축구장만큼 키우면 가운데 '원자핵'은</a:t>
            </a:r>
            <a:br/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축구공, 주위를 도는 '전자'는 개미 크기예요.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1072865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이 작은 원자핵이 변할 때 나오는 어마어마한 힘이 바로 '원자력'! 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7B7B"/>
                </a:solidFill>
                <a:latin typeface="Malgun Gothic"/>
                <a:ea typeface="Malgun Gothic"/>
              </a:rPr>
              <a:t>⭐ 깜짝 퀴즈 2!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세상 모든 것을 쪼개고 쪼개고 또 쪼개면,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마지막에 남는 작은 블록은 무엇일까요?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먼지      ②  원자      ③  설탕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핵분열: 쪼개지면 엄청난 힘이! 💥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743200"/>
            <a:ext cx="411480" cy="411480"/>
          </a:xfrm>
          <a:prstGeom prst="ellipse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0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</a:rPr>
              <a:t>중성자 콩!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508760" y="2788920"/>
            <a:ext cx="457200" cy="347472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48840" y="2148840"/>
            <a:ext cx="1645920" cy="1645920"/>
          </a:xfrm>
          <a:prstGeom prst="ellipse">
            <a:avLst/>
          </a:prstGeom>
          <a:solidFill>
            <a:srgbClr val="FFD43B"/>
          </a:solidFill>
          <a:ln w="2540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41833"/>
                </a:solidFill>
                <a:latin typeface="Malgun Gothic"/>
                <a:ea typeface="Malgun Gothic"/>
              </a:rPr>
              <a:t>우라늄</a:t>
            </a:r>
            <a:br/>
            <a:r>
              <a:rPr sz="1500" b="1">
                <a:solidFill>
                  <a:srgbClr val="141833"/>
                </a:solidFill>
                <a:latin typeface="Malgun Gothic"/>
                <a:ea typeface="Malgun Gothic"/>
              </a:rPr>
              <a:t>원자핵</a:t>
            </a:r>
          </a:p>
        </p:txBody>
      </p:sp>
      <p:sp>
        <p:nvSpPr>
          <p:cNvPr id="8" name="Explosion 7"/>
          <p:cNvSpPr/>
          <p:nvPr/>
        </p:nvSpPr>
        <p:spPr>
          <a:xfrm>
            <a:off x="4114800" y="2194560"/>
            <a:ext cx="1554480" cy="1554480"/>
          </a:xfrm>
          <a:prstGeom prst="irregularSeal1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쫙!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2788920"/>
            <a:ext cx="457200" cy="347472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2011680"/>
            <a:ext cx="1005840" cy="1005840"/>
          </a:xfrm>
          <a:prstGeom prst="ellipse">
            <a:avLst/>
          </a:prstGeom>
          <a:solidFill>
            <a:srgbClr val="FFC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0" y="3154680"/>
            <a:ext cx="1005840" cy="1005840"/>
          </a:xfrm>
          <a:prstGeom prst="ellipse">
            <a:avLst/>
          </a:prstGeom>
          <a:solidFill>
            <a:srgbClr val="FFC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0" y="2148840"/>
            <a:ext cx="365760" cy="365760"/>
          </a:xfrm>
          <a:prstGeom prst="ellipse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0" y="2834640"/>
            <a:ext cx="365760" cy="365760"/>
          </a:xfrm>
          <a:prstGeom prst="ellipse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0" y="3520440"/>
            <a:ext cx="365760" cy="365760"/>
          </a:xfrm>
          <a:prstGeom prst="ellipse">
            <a:avLst/>
          </a:prstGeom>
          <a:solidFill>
            <a:srgbClr val="5FD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>
            <a:off x="8595360" y="2240280"/>
            <a:ext cx="1737360" cy="17373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B04A00"/>
                </a:solidFill>
                <a:latin typeface="Malgun Gothic"/>
                <a:ea typeface="Malgun Gothic"/>
              </a:rPr>
              <a:t>에너지!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297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두 조각으로 쪼개지며 열이 팡! 중성자도 톡톡!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92040"/>
            <a:ext cx="10728655" cy="1325880"/>
          </a:xfrm>
          <a:prstGeom prst="roundRect">
            <a:avLst>
              <a:gd name="adj" fmla="val 14000"/>
            </a:avLst>
          </a:prstGeom>
          <a:solidFill>
            <a:srgbClr val="141833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D43B"/>
                </a:solidFill>
                <a:latin typeface="Malgun Gothic"/>
                <a:ea typeface="Malgun Gothic"/>
              </a:rPr>
              <a:t>도미노처럼 계속돼요! 💥💥💥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Malgun Gothic"/>
                <a:ea typeface="Malgun Gothic"/>
              </a:rPr>
              <a:t>튀어나온 중성자가 옆의 원자핵을 또 쪼개고, 또 쪼개고... 큰 에너지가 계속 나와요!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방사선? 방사능? 전구로 알아봐요 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393192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FFD43B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전구를 떠올려 보세요!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전구에서 나오는 빛 = 방사선</a:t>
            </a:r>
            <a:br/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빛을 낼 수 있는 능력 = 방사능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방사선은 눈에 안 보이는 에너지 빛이에요.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무섭게 생긴 말이지만 알고 보면 간단하죠?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508760"/>
            <a:ext cx="5212080" cy="393192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0">
                <a:solidFill>
                  <a:srgbClr val="69DB7C"/>
                </a:solidFill>
                <a:latin typeface="Malgun Gothic"/>
                <a:ea typeface="Malgun Gothic"/>
              </a:rPr>
              <a:t>☀️ 🍌 🗻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방사선은 어디에나 조금씩!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C5CDE8"/>
                </a:solidFill>
                <a:latin typeface="Malgun Gothic"/>
                <a:ea typeface="Malgun Gothic"/>
              </a:rPr>
              <a:t>햇빛에도, 바나나에도, 땅과 돌에도</a:t>
            </a:r>
            <a:br/>
            <a:r>
              <a:rPr sz="1600" b="0">
                <a:solidFill>
                  <a:srgbClr val="C5CDE8"/>
                </a:solidFill>
                <a:latin typeface="Malgun Gothic"/>
                <a:ea typeface="Malgun Gothic"/>
              </a:rPr>
              <a:t>원래부터 아주 조금씩 들어 있어요.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69DB7C"/>
                </a:solidFill>
                <a:latin typeface="Malgun Gothic"/>
                <a:ea typeface="Malgun Gothic"/>
              </a:rPr>
              <a:t>스파이더맨과 헐크는 영화 속 상상! 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72865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8D97C4"/>
                </a:solidFill>
                <a:latin typeface="Malgun Gothic"/>
                <a:ea typeface="Malgun Gothic"/>
              </a:rPr>
              <a:t>과학자들이 특별한 기계로 늘 재면서 우리를 안전하게 지켜주고 있어요. 안심! 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7B7B"/>
                </a:solidFill>
                <a:latin typeface="Malgun Gothic"/>
                <a:ea typeface="Malgun Gothic"/>
              </a:rPr>
              <a:t>⭐ 깜짝 퀴즈 3!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OX 퀴즈! 방사선은 햇빛과 바나나에도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아주 조금 들어 있다?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⭕  맞다!      ❌  아니다!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팔로 크게 ⭕ 나 ❌ 를 만들어 보세요! 💪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🎬 영상 시청실  &lt;원자 이야기&gt;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한국원자력연구원 공식 유튜브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귀여운 캐릭터 '원연이'가 나오는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짧고 쉬운 원자력 영상 채널이에요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"원자란 무엇일까?"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클릭하면 어린이 눈높이의 짧은 영상만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골라서 보여줘요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FF9457"/>
                </a:solidFill>
                <a:latin typeface="Malgun Gothic"/>
                <a:ea typeface="Malgun Gothic"/>
              </a:rPr>
              <a:t>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FF9457"/>
                </a:solidFill>
                <a:latin typeface="Malgun Gothic"/>
                <a:ea typeface="Malgun Gothic"/>
              </a:rPr>
              <a:t>견학 3구역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원자력 이용관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발전소부터 병원, 공항까지! 원자력의 대활약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원자력발전소 = 아주 커다란 주전자! 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0867" y="164592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원자핵이 쪼개져요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핵분열로 아주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뜨거운 열이 나와요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37179" y="2816352"/>
            <a:ext cx="384048" cy="45720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1227" y="164592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물을 끓여요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열로 물을 펄펄!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수증기가 칙칙~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17539" y="2816352"/>
            <a:ext cx="384048" cy="45720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1587" y="164592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바람개비가 돌아요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수증기가 커다란 바람개비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(터빈)를 빙글빙글!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97899" y="2816352"/>
            <a:ext cx="384048" cy="457200"/>
          </a:xfrm>
          <a:prstGeom prst="rightArrow">
            <a:avLst/>
          </a:prstGeom>
          <a:solidFill>
            <a:srgbClr val="556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81947" y="1645920"/>
            <a:ext cx="2468880" cy="274320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FFFF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</a:rPr>
              <a:t>전기가 반짝!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발전기가 돌면서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전기가 만들어져요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892040"/>
            <a:ext cx="9265615" cy="1188720"/>
          </a:xfrm>
          <a:prstGeom prst="roundRect">
            <a:avLst>
              <a:gd name="adj" fmla="val 30000"/>
            </a:avLst>
          </a:prstGeom>
          <a:solidFill>
            <a:srgbClr val="333D7A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발전소는 다섯 겹 갑옷(방호벽)을 입고 있고, 과학자들이 24시간 지켜요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우리나라 전기의 약 1/3을 원자력이 만들어요. 연기 없이 깨끗하게!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🎬 영상 시청실  &lt;발전소의 비밀&gt;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원자력 발전소는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어떻게 전기를 만들까?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어린이 눈높이의 짧은 애니메이션만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골라서 보여줘요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전기는 어떻게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만들어질까?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바람개비(터빈)가 전기를 만드는 모습을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볼 수 있어요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병원에서 대활약! 원자력 히어로 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55448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FFFFFF"/>
                </a:solidFill>
                <a:latin typeface="Malgun Gothic"/>
                <a:ea typeface="Malgun Gothic"/>
              </a:rPr>
              <a:t>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몸속 사진 찰칵!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엑스레이로 부러진 뼈를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수술 없이 찾아내요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55448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FFFFFF"/>
                </a:solidFill>
                <a:latin typeface="Malgun Gothic"/>
                <a:ea typeface="Malgun Gothic"/>
              </a:rPr>
              <a:t>💊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아픈 곳을 찾아가는 약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원자력연구원이 만든 방사성의약품이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아픈 곳만 콕 찾아가요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554480"/>
            <a:ext cx="3429000" cy="3108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600" b="0">
                <a:solidFill>
                  <a:srgbClr val="FFFFFF"/>
                </a:solidFill>
                <a:latin typeface="Malgun Gothic"/>
                <a:ea typeface="Malgun Gothic"/>
              </a:rPr>
              <a:t>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나쁜 세포 물리치기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방사선으로 나쁜 세포(암)를</a:t>
            </a:r>
            <a:br/>
            <a:r>
              <a:rPr sz="1400" b="0">
                <a:solidFill>
                  <a:srgbClr val="C5CDE8"/>
                </a:solidFill>
                <a:latin typeface="Malgun Gothic"/>
                <a:ea typeface="Malgun Gothic"/>
              </a:rPr>
              <a:t>겨냥해서 치료해요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07492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D43B"/>
                </a:solidFill>
                <a:latin typeface="Malgun Gothic"/>
                <a:ea typeface="Malgun Gothic"/>
              </a:rPr>
              <a:t>원자력은 아픈 사람들을 살리는 병원의 슈퍼 히어로예요! 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7B7B"/>
                </a:solidFill>
                <a:latin typeface="Malgun Gothic"/>
                <a:ea typeface="Malgun Gothic"/>
              </a:rPr>
              <a:t>⭐ 깜짝 퀴즈 4!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원자력발전소는 무엇을 펄펄 끓여서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전기를 만들까요?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우유      ②  물      ③  주스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공항에서, 농장에서, 공장에서도! 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60020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✈️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공항에서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가방을 열지 않고도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속을 들여다봐요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60020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🌱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농장에서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감자 · 양파에 싹이 나지 않게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오래 보관하게 도와줘요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60020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공장에서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기계 속에 금이 갔는지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부수지 않고 검사해요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60020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📱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신기술에도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반도체와 새로운 재료를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만드는 데도 쓰여요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029200"/>
            <a:ext cx="11002975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D43B"/>
                </a:solidFill>
                <a:latin typeface="Malgun Gothic"/>
                <a:ea typeface="Malgun Gothic"/>
              </a:rPr>
              <a:t>잘 알고 조심해서 쓰면, 방사선은 생활 곳곳을 도와주는 고마운 친구예요!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알갱이 슈퍼 경주장, 가속기! 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1554480"/>
            <a:ext cx="342900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FFFFFF"/>
                </a:solidFill>
                <a:latin typeface="Malgun Gothic"/>
                <a:ea typeface="Malgun Gothic"/>
              </a:rPr>
              <a:t>🏁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출발!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'양성자' 선수를 빛처럼 빠르게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달리게 하는 경주장이에요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(길이가 75m나 돼요!)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347" y="1554480"/>
            <a:ext cx="342900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FFFFFF"/>
                </a:solidFill>
                <a:latin typeface="Malgun Gothic"/>
                <a:ea typeface="Malgun Gothic"/>
              </a:rPr>
              <a:t>💥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꽝! 부딪히면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물질의 성질이 변신!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약한 플라스틱을 강철처럼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단단하게 만들 수 있어요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6107" y="1554480"/>
            <a:ext cx="342900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0">
                <a:solidFill>
                  <a:srgbClr val="FFFFFF"/>
                </a:solidFill>
                <a:latin typeface="Malgun Gothic"/>
                <a:ea typeface="Malgun Gothic"/>
              </a:rPr>
              <a:t>💊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새로운 것 탄생!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병을 치료하는 약 재료를 만들어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외국에 수출까지 해요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(우리나라 최초!)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21208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C5CDE8"/>
                </a:solidFill>
                <a:latin typeface="Malgun Gothic"/>
                <a:ea typeface="Malgun Gothic"/>
              </a:rPr>
              <a:t>원자력연구원에는 이런 거대한 가속기가 진짜로 있어요! (경주·정읍)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7B7B"/>
                </a:solidFill>
                <a:latin typeface="Malgun Gothic"/>
                <a:ea typeface="Malgun Gothic"/>
              </a:rPr>
              <a:t>⭐ 깜짝 퀴즈 5!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가속기라는 '알갱이 경주장'에서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엄청나게 빨리 달리는 선수는 누구일까요?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자동차      ②  양성자      ③  치타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B197FC"/>
                </a:solidFill>
                <a:latin typeface="Malgun Gothic"/>
                <a:ea typeface="Malgun Gothic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B197FC"/>
                </a:solidFill>
                <a:latin typeface="Malgun Gothic"/>
                <a:ea typeface="Malgun Gothic"/>
              </a:rPr>
              <a:t>견학 4구역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미래 기술관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우주 배터리부터 인공태양까지!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미래 기술 ① 우주로, 어디로든! 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55448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우주 배터리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달나라, 우주에서 10년 넘게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작동하는 원자력 전지!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세계 세 번째로 만들었어요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55448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📦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미니 발전소 SMR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작지만 야무진 발전소!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필요한 곳에 쏙 지을 수 있고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더 안전해요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55448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바닷물이 마실 물로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'SMART' 원자로는 전기도 만들고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바닷물을 마실 물로 바꿔요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(세계 최초 인증!)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554480"/>
            <a:ext cx="2606040" cy="338328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🌏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세계를 도와요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전기와 물이 부족한 나라들을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우리 기술로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도와줄 수 있어요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25780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전부 원자력연구원 과학자들이 지금 연구하고 있는 진짜 기술이에요! 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미래 기술 ② 땅 위의 태양을 만들다! 🌞</a:t>
            </a:r>
          </a:p>
        </p:txBody>
      </p:sp>
      <p:sp>
        <p:nvSpPr>
          <p:cNvPr id="4" name="Sun 3"/>
          <p:cNvSpPr/>
          <p:nvPr/>
        </p:nvSpPr>
        <p:spPr>
          <a:xfrm>
            <a:off x="1097280" y="1737360"/>
            <a:ext cx="3291840" cy="3291840"/>
          </a:xfrm>
          <a:prstGeom prst="sun">
            <a:avLst/>
          </a:prstGeom>
          <a:solidFill>
            <a:srgbClr val="FFD43B"/>
          </a:solidFill>
          <a:ln w="25400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B04A00"/>
                </a:solidFill>
                <a:latin typeface="Malgun Gothic"/>
                <a:ea typeface="Malgun Gothic"/>
              </a:rPr>
              <a:t>KSTAR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1691640"/>
            <a:ext cx="6583680" cy="1371600"/>
          </a:xfrm>
          <a:prstGeom prst="roundRect">
            <a:avLst>
              <a:gd name="adj" fmla="val 1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🌞  태양의 비밀을 그대로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태양은 원자핵을 '합쳐서' 힘을 내요.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이걸 '핵융합'이라고 해요!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3227832"/>
            <a:ext cx="6583680" cy="1371600"/>
          </a:xfrm>
          <a:prstGeom prst="roundRect">
            <a:avLst>
              <a:gd name="adj" fmla="val 1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🔥  1억 도의 불덩이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태양 한가운데보다 몇 배나 뜨거운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1억 도를 만들어 세계 기록!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4764024"/>
            <a:ext cx="6583680" cy="1371600"/>
          </a:xfrm>
          <a:prstGeom prst="roundRect">
            <a:avLst>
              <a:gd name="adj" fmla="val 1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700" b="1">
                <a:solidFill>
                  <a:srgbClr val="FFD43B"/>
                </a:solidFill>
                <a:latin typeface="Malgun Gothic"/>
                <a:ea typeface="Malgun Gothic"/>
              </a:rPr>
              <a:t>⚡  미래의 무한 에너지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연료는 바닷물에서 얻을 수 있어서</a:t>
            </a:r>
            <a:br/>
            <a:r>
              <a:rPr sz="1350" b="0">
                <a:solidFill>
                  <a:srgbClr val="C5CDE8"/>
                </a:solidFill>
                <a:latin typeface="Malgun Gothic"/>
                <a:ea typeface="Malgun Gothic"/>
              </a:rPr>
              <a:t>거의 무한! 꿈의 에너지예요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17220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C5CDE8"/>
                </a:solidFill>
                <a:latin typeface="Malgun Gothic"/>
                <a:ea typeface="Malgun Gothic"/>
              </a:rPr>
              <a:t>이 인공태양을 완성하는 날, 세계의 에너지 걱정이 사라질 거예요!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7B7B"/>
                </a:solidFill>
                <a:latin typeface="Malgun Gothic"/>
                <a:ea typeface="Malgun Gothic"/>
              </a:rPr>
              <a:t>⭐ 깜짝 퀴즈 6!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우리나라 인공태양 'KSTAR'의 온도는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몇 도까지 올라갔을까요?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①  100도      ②  1만 도      ③  1억 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마음속으로 정했으면, 손가락으로 번호를 들어 보세요! 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🎬 영상 시청실  &lt;한국의 인공태양&gt;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82296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YTN 뉴스 (약 2분)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한국이 만든 인공태양</a:t>
            </a:r>
            <a:br/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'KSTAR' 세계 기록!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우리나라 인공태양이 세운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세계 최초 기록, 2분 뉴스 영상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263640" y="1645920"/>
            <a:ext cx="5120640" cy="3657600"/>
          </a:xfrm>
          <a:prstGeom prst="roundRect">
            <a:avLst>
              <a:gd name="adj" fmla="val 7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000" b="0">
                <a:solidFill>
                  <a:srgbClr val="FF7B7B"/>
                </a:solidFill>
                <a:latin typeface="Malgun Gothic"/>
                <a:ea typeface="Malgun Gothic"/>
              </a:rPr>
              <a:t>▶</a:t>
            </a:r>
          </a:p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FFD43B"/>
                </a:solidFill>
                <a:latin typeface="Malgun Gothic"/>
                <a:ea typeface="Malgun Gothic"/>
              </a:rPr>
              <a:t>4분 이내 짧은 영상만 모았어요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"인공태양 KSTAR"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진짜 인공태양의 모습을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짧은 영상으로 골라 볼 수 있어요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카드를 클릭하면 유튜브로 이동해요 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44287" y="1051560"/>
            <a:ext cx="2103120" cy="2103120"/>
          </a:xfrm>
          <a:prstGeom prst="ellipse">
            <a:avLst/>
          </a:prstGeom>
          <a:solidFill>
            <a:srgbClr val="2A3268"/>
          </a:solidFill>
          <a:ln w="31750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44287" y="1234440"/>
            <a:ext cx="2103120" cy="1737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6000" b="0">
                <a:solidFill>
                  <a:srgbClr val="69DB7C"/>
                </a:solidFill>
                <a:latin typeface="Malgun Gothic"/>
                <a:ea typeface="Malgun Gothic"/>
              </a:rPr>
              <a:t>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69DB7C"/>
                </a:solidFill>
                <a:latin typeface="Malgun Gothic"/>
                <a:ea typeface="Malgun Gothic"/>
              </a:rPr>
              <a:t>견학 5구역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여러분의 차례!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5CDE8"/>
                </a:solidFill>
                <a:latin typeface="Malgun Gothic"/>
                <a:ea typeface="Malgun Gothic"/>
              </a:rPr>
              <a:t>미래의 원자력은 여러분 손에 달려 있어요!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어린이 연구원 여러분이 할 일! 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❓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질문왕이 되자!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"왜?", "어떻게?"라고 묻는 순간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과학자의 꿈이 시작돼요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978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과학과 친해지자!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책과 영상으로 신나는 과학 탐험!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오늘 배운 걸 가족에게 설명해 봐요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5586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에너지를 아끼자!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안 쓰는 불 끄기, 플러그 뽑기!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지구를 지키는 첫걸음이에요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1947" y="1554480"/>
            <a:ext cx="2606040" cy="329184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200" b="0">
                <a:solidFill>
                  <a:srgbClr val="FFFFFF"/>
                </a:solidFill>
                <a:latin typeface="Malgun Gothic"/>
                <a:ea typeface="Malgun Gothic"/>
              </a:rPr>
              <a:t>🌟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  <a:ea typeface="Malgun Gothic"/>
              </a:rPr>
              <a:t>크게 꿈꾸자!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인공태양을 완성하고 우주로 나아갈</a:t>
            </a:r>
            <a:br/>
            <a:r>
              <a:rPr sz="1300" b="0">
                <a:solidFill>
                  <a:srgbClr val="C5CDE8"/>
                </a:solidFill>
                <a:latin typeface="Malgun Gothic"/>
                <a:ea typeface="Malgun Gothic"/>
              </a:rPr>
              <a:t>미래의 박사님이 바로 여러분!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16636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D43B"/>
                </a:solidFill>
                <a:latin typeface="Malgun Gothic"/>
                <a:ea typeface="Malgun Gothic"/>
              </a:rPr>
              <a:t>오늘의 어린이 연구원이 내일의 진짜 연구원이 됩니다! 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7B7B"/>
                </a:solidFill>
                <a:latin typeface="Malgun Gothic"/>
                <a:ea typeface="Malgun Gothic"/>
              </a:rPr>
              <a:t>⭐ 깜짝 퀴즈 7!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OX 퀴즈! 안 쓰는 불을 끄고 전기를 아끼는 것도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지구를 지키는 일이다?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⭕  맞다!      ❌  아니다!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팔로 크게 ⭕ 나 ❌ 를 만들어 보세요! 💪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D43B"/>
                </a:solidFill>
                <a:latin typeface="Malgun Gothic"/>
                <a:ea typeface="Malgun Gothic"/>
              </a:rPr>
              <a:t>집에서 보는 견학 선물, 영상 꾸러미 🎁</a:t>
            </a: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495147" y="146304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🔬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과학하는 원연이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2"/>
              </a:rPr>
              <a:t>원자력연구원 공식!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2"/>
              </a:rPr>
              <a:t>쉽고 재미있는 원자력 이야기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4335627" y="146304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🏢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한국원자력연구원 KAERI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3"/>
              </a:rPr>
              <a:t>오늘 견학한 진짜 연구소의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3"/>
              </a:rPr>
              <a:t>신기한 연구 이야기</a:t>
            </a:r>
          </a:p>
        </p:txBody>
      </p:sp>
      <p:sp>
        <p:nvSpPr>
          <p:cNvPr id="6" name="Rounded Rectangle 5">
            <a:hlinkClick r:id="rId4"/>
          </p:cNvPr>
          <p:cNvSpPr/>
          <p:nvPr/>
        </p:nvSpPr>
        <p:spPr>
          <a:xfrm>
            <a:off x="8176107" y="146304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⚡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한수원 KHNP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4"/>
              </a:rPr>
              <a:t>원자력발전소를 운영하는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4"/>
              </a:rPr>
              <a:t>회사의 이야기</a:t>
            </a:r>
          </a:p>
        </p:txBody>
      </p:sp>
      <p:sp>
        <p:nvSpPr>
          <p:cNvPr id="7" name="Rounded Rectangle 6">
            <a:hlinkClick r:id="rId5"/>
          </p:cNvPr>
          <p:cNvSpPr/>
          <p:nvPr/>
        </p:nvSpPr>
        <p:spPr>
          <a:xfrm>
            <a:off x="495147" y="370332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69DB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📺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EBS 클립뱅크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5"/>
              </a:rPr>
              <a:t>5분 이내 교육 영상 전문!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5"/>
              </a:rPr>
              <a:t>'원자력'을 검색해 보세요</a:t>
            </a:r>
          </a:p>
        </p:txBody>
      </p:sp>
      <p:sp>
        <p:nvSpPr>
          <p:cNvPr id="8" name="Rounded Rectangle 7">
            <a:hlinkClick r:id="rId6"/>
          </p:cNvPr>
          <p:cNvSpPr/>
          <p:nvPr/>
        </p:nvSpPr>
        <p:spPr>
          <a:xfrm>
            <a:off x="4335627" y="370332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B197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📚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아꿈선 초등3분과학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6"/>
              </a:rPr>
              <a:t>선생님들이 만든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6"/>
              </a:rPr>
              <a:t>3분 초등 과학 영상</a:t>
            </a:r>
          </a:p>
        </p:txBody>
      </p:sp>
      <p:sp>
        <p:nvSpPr>
          <p:cNvPr id="9" name="Rounded Rectangle 8">
            <a:hlinkClick r:id="rId7"/>
          </p:cNvPr>
          <p:cNvSpPr/>
          <p:nvPr/>
        </p:nvSpPr>
        <p:spPr>
          <a:xfrm>
            <a:off x="8176107" y="3703320"/>
            <a:ext cx="3520440" cy="1965960"/>
          </a:xfrm>
          <a:prstGeom prst="roundRect">
            <a:avLst>
              <a:gd name="adj" fmla="val 9000"/>
            </a:avLst>
          </a:prstGeom>
          <a:solidFill>
            <a:srgbClr val="2A3268"/>
          </a:solidFill>
          <a:ln w="22225">
            <a:solidFill>
              <a:srgbClr val="FF7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algun Gothic"/>
                <a:ea typeface="Malgun Gothic"/>
              </a:rPr>
              <a:t>🔍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algun Gothic"/>
                <a:ea typeface="Malgun Gothic"/>
              </a:rPr>
              <a:t>생활 속 방사선 (짧은 영상)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7"/>
              </a:rPr>
              <a:t>우리 곁의 고마운 방사선 이야기,</a:t>
            </a:r>
            <a:br/>
            <a:r>
              <a:rPr sz="1200" b="0">
                <a:solidFill>
                  <a:srgbClr val="C5CDE8"/>
                </a:solidFill>
                <a:latin typeface="Malgun Gothic"/>
                <a:ea typeface="Malgun Gothic"/>
                <a:hlinkClick r:id="rId7"/>
              </a:rPr>
              <a:t>4분 이내 영상만 골라 봐요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1002975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D97C4"/>
                </a:solidFill>
                <a:latin typeface="Malgun Gothic"/>
                <a:ea typeface="Malgun Gothic"/>
              </a:rPr>
              <a:t>집에서 부모님과 함께 보세요! 카드를 클릭하면 채널로 이동해요 👆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02975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7B7B"/>
                </a:solidFill>
                <a:latin typeface="Malgun Gothic"/>
                <a:ea typeface="Malgun Gothic"/>
              </a:rPr>
              <a:t>⭐ 깜짝 퀴즈 8!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000" b="0">
                <a:solidFill>
                  <a:srgbClr val="FFFFFF"/>
                </a:solidFill>
                <a:latin typeface="Malgun Gothic"/>
                <a:ea typeface="Malgun Gothic"/>
              </a:rPr>
              <a:t>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286000"/>
            <a:ext cx="10180015" cy="2697480"/>
          </a:xfrm>
          <a:prstGeom prst="roundRect">
            <a:avLst>
              <a:gd name="adj" fmla="val 8000"/>
            </a:avLst>
          </a:prstGeom>
          <a:solidFill>
            <a:srgbClr val="2A3268"/>
          </a:solidFill>
          <a:ln w="25400">
            <a:solidFill>
              <a:srgbClr val="FFD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FF7B7B"/>
                </a:solidFill>
                <a:latin typeface="Malgun Gothic"/>
                <a:ea typeface="Malgun Gothic"/>
              </a:rPr>
              <a:t>어린이 연구원 자격 시험!</a:t>
            </a:r>
          </a:p>
          <a:p>
            <a:pPr algn="ctr">
              <a:lnSpc>
                <a:spcPct val="125000"/>
              </a:lnSpc>
              <a:spcAft>
                <a:spcPts val="12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마지막 문제! 나도 미래의 원자력 박사가</a:t>
            </a:r>
            <a:br/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될 수 있다?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C5CDE8"/>
                </a:solidFill>
                <a:latin typeface="Malgun Gothic"/>
                <a:ea typeface="Malgun Gothic"/>
              </a:rPr>
              <a:t>⭕  당연하다!      ❌  아니다!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4924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8D97C4"/>
                </a:solidFill>
                <a:latin typeface="Malgun Gothic"/>
                <a:ea typeface="Malgun Gothic"/>
              </a:rPr>
              <a:t>팔로 크게 ⭕ 나 ❌ 를 만들어 보세요! 💪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98280" y="942975"/>
            <a:ext cx="2468880" cy="85725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3600000">
            <a:off x="9098280" y="942975"/>
            <a:ext cx="2468880" cy="85725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7200000">
            <a:off x="9098280" y="942975"/>
            <a:ext cx="2468880" cy="857250"/>
          </a:xfrm>
          <a:prstGeom prst="ellipse">
            <a:avLst/>
          </a:prstGeom>
          <a:noFill/>
          <a:ln w="31750">
            <a:solidFill>
              <a:srgbClr val="5FD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78974" y="1159002"/>
            <a:ext cx="288036" cy="288036"/>
          </a:xfrm>
          <a:prstGeom prst="ellipse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98430" y="1159002"/>
            <a:ext cx="288036" cy="288036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88702" y="1323594"/>
            <a:ext cx="288036" cy="288036"/>
          </a:xfrm>
          <a:prstGeom prst="ellipse">
            <a:avLst/>
          </a:prstGeom>
          <a:solidFill>
            <a:srgbClr val="FF9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69730" y="1268730"/>
            <a:ext cx="137160" cy="137160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92840" y="1405890"/>
            <a:ext cx="137160" cy="137160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95560" y="702945"/>
            <a:ext cx="137160" cy="137160"/>
          </a:xfrm>
          <a:prstGeom prst="ellipse">
            <a:avLst/>
          </a:prstGeom>
          <a:solidFill>
            <a:srgbClr val="FFD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"/>
            <a:ext cx="8686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FFD43B"/>
                </a:solidFill>
                <a:latin typeface="Malgun Gothic"/>
                <a:ea typeface="Malgun Gothic"/>
              </a:rPr>
              <a:t>1일 어린이 연구원 수료를 축하합니다! 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554480"/>
            <a:ext cx="8412480" cy="713232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🏢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원자력연구원은 원자력으로 사람들을 돕는 방법을 연구하는 곳!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395728"/>
            <a:ext cx="8412480" cy="713232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🔎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세상 모든 것은 원자로! 원자핵이 쪼개지면 큰 에너지가!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36976"/>
            <a:ext cx="8412480" cy="713232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🏭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발전소·병원·공항·농장, 곳곳에서 원자력이 대활약!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78224"/>
            <a:ext cx="8412480" cy="713232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🚀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우주 배터리, 미니 발전소, 1억 도 인공태양까지!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919472"/>
            <a:ext cx="8412480" cy="713232"/>
          </a:xfrm>
          <a:prstGeom prst="roundRect">
            <a:avLst>
              <a:gd name="adj" fmla="val 32000"/>
            </a:avLst>
          </a:prstGeom>
          <a:solidFill>
            <a:srgbClr val="2A3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500" b="0">
                <a:solidFill>
                  <a:srgbClr val="FFD43B"/>
                </a:solidFill>
                <a:latin typeface="Malgun Gothic"/>
                <a:ea typeface="Malgun Gothic"/>
              </a:rPr>
              <a:t>🌟  </a:t>
            </a: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그리고 미래의 주인공은... 바로 여러분!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0545775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FD43B"/>
                </a:solidFill>
                <a:latin typeface="Malgun Gothic"/>
                <a:ea typeface="Malgun Gothic"/>
              </a:rPr>
              <a:t>미래의 진짜 연구원이 되어 다시 만나요! 고마워요, 안녕!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